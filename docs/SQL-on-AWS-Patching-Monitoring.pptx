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 id="2147484280" r:id="rId2"/>
    <p:sldMasterId id="2147484296" r:id="rId3"/>
  </p:sldMasterIdLst>
  <p:notesMasterIdLst>
    <p:notesMasterId r:id="rId13"/>
  </p:notesMasterIdLst>
  <p:sldIdLst>
    <p:sldId id="296" r:id="rId4"/>
    <p:sldId id="297" r:id="rId11"/>
    <p:sldId id="298" r:id="rId12"/>
    <p:sldId id="310" r:id="rId24"/>
    <p:sldId id="299" r:id="rId10"/>
    <p:sldId id="300" r:id="rId9"/>
    <p:sldId id="301" r:id="rId8"/>
    <p:sldId id="302" r:id="rId7"/>
    <p:sldId id="303" r:id="rId6"/>
    <p:sldId id="304" r:id="rId5"/>
    <p:sldId id="305" r:id="rId19"/>
    <p:sldId id="306" r:id="rId20"/>
    <p:sldId id="307" r:id="rId21"/>
    <p:sldId id="309" r:id="rId23"/>
    <p:sldId id="30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B000F6-CDA4-4318-8F50-FF1415C55EAA}">
          <p14:sldIdLst>
            <p14:sldId id="296"/>
            <p14:sldId id="316"/>
            <p14:sldId id="317"/>
            <p14:sldId id="308"/>
            <p14:sldId id="311"/>
            <p14:sldId id="312"/>
            <p14:sldId id="313"/>
            <p14:sldId id="318"/>
            <p14:sldId id="315"/>
          </p14:sldIdLst>
        </p14:section>
        <p14:section name="Appendix" id="{D895CCA9-D1B8-49D2-BE3D-79FA0772177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01D62"/>
    <a:srgbClr val="D9D9D9"/>
    <a:srgbClr val="DB3FA7"/>
    <a:srgbClr val="F0F0F0"/>
    <a:srgbClr val="F5F3F1"/>
    <a:srgbClr val="E5EEF2"/>
    <a:srgbClr val="BB96E5"/>
    <a:srgbClr val="091F2C"/>
    <a:srgbClr val="281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92" autoAdjust="0"/>
    <p:restoredTop sz="97526" autoAdjust="0"/>
  </p:normalViewPr>
  <p:slideViewPr>
    <p:cSldViewPr snapToGrid="0">
      <p:cViewPr varScale="1">
        <p:scale>
          <a:sx n="104" d="100"/>
          <a:sy n="104" d="100"/>
        </p:scale>
        <p:origin x="48" y="320"/>
      </p:cViewPr>
      <p:guideLst/>
    </p:cSldViewPr>
  </p:slideViewPr>
  <p:notesTextViewPr>
    <p:cViewPr>
      <p:scale>
        <a:sx n="3" d="2"/>
        <a:sy n="3" d="2"/>
      </p:scale>
      <p:origin x="0" y="0"/>
    </p:cViewPr>
  </p:notesTextViewPr>
  <p:sorterViewPr>
    <p:cViewPr>
      <p:scale>
        <a:sx n="130" d="100"/>
        <a:sy n="130" d="100"/>
      </p:scale>
      <p:origin x="0" y="0"/>
    </p:cViewPr>
  </p:sorter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s>
</file>

<file path=ppt/notesMasters/_rels/notesMaster1.xml.rels><?xml version="1.0" encoding="UTF-8"?><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DFCBE-124E-49CD-BC5C-B17C1B8C3EDC}"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035521-3C52-406A-87A8-13645DF709D5}" type="slidenum">
              <a:rPr lang="en-US" smtClean="0"/>
              <a:t>‹#›</a:t>
            </a:fld>
            <a:endParaRPr lang="en-US"/>
          </a:p>
        </p:txBody>
      </p:sp>
    </p:spTree>
    <p:extLst>
      <p:ext uri="{BB962C8B-B14F-4D97-AF65-F5344CB8AC3E}">
        <p14:creationId xmlns:p14="http://schemas.microsoft.com/office/powerpoint/2010/main" val="221949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882E-16EB-632D-6C4A-6B3271CF9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43175-0763-41C8-067F-405E65EF2513}"/>
              </a:ext>
            </a:extLst>
          </p:cNvPr>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A23493B-C962-15F4-7F0D-D3BAB5E72889}"/>
              </a:ext>
            </a:extLst>
          </p:cNvPr>
          <p:cNvSpPr>
            <a:spLocks noGrp="1"/>
          </p:cNvSpPr>
          <p:nvPr>
            <p:ph type="body" idx="1"/>
          </p:nvPr>
        </p:nvSpPr>
        <p:spPr>
          <a:xfrm>
            <a:off x="1371600" y="11736388"/>
            <a:ext cx="10972800" cy="9602787"/>
          </a:xfrm>
          <a:prstGeom prst="rect">
            <a:avLst/>
          </a:prstGeom>
        </p:spPr>
        <p:txBody>
          <a:bodyPr/>
          <a:lstStyle/>
          <a:p>
            <a:r>
              <a:t>OPENING | 60 seconds</a:t>
            </a:r>
          </a:p>
          <a:p/>
          <a:p>
            <a:r>
              <a:t>The customer runs SQL Server on Amazon EC2, including Always On availability groups. This deck shows how to patch and monitor those servers from Azure without moving them: Azure Arc makes each EC2 instance and SQL Server instance an Azure resource, Azure Update Manager schedules the patching, and small runbooks keep each availability group's primary off the node being patched.</a:t>
            </a:r>
          </a:p>
          <a:p/>
          <a:p>
            <a:r>
              <a:t>Everything on the patching slides was built and tested in a lab with a 2-node SQL Server 2022 AG onboarded to Arc as non-Azure servers. The scaling slides are a design for the full estate of about 267 instances.</a:t>
            </a:r>
          </a:p>
          <a:p/>
          <a:p>
            <a:r>
              <a:t>TRANSITION: Here is what we will cover.</a:t>
            </a:r>
          </a:p>
        </p:txBody>
      </p:sp>
    </p:spTree>
    <p:extLst>
      <p:ext uri="{BB962C8B-B14F-4D97-AF65-F5344CB8AC3E}">
        <p14:creationId xmlns:p14="http://schemas.microsoft.com/office/powerpoint/2010/main" val="2323266342"/>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 45 seconds</a:t>
            </a:r>
          </a:p>
          <a:p/>
          <a:p>
            <a:r>
              <a:t>We start with the architecture and onboarding, including the license-type decision that matters on AWS. Then the core of the deck: how AG-aware patching works, the decision the pre-event runbook makes, and how failover is done through the Arc API. We then scale the design to about 267 instances and finish with monitoring and the open validation items.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 90 seconds</a:t>
            </a:r>
          </a:p>
          <a:p/>
          <a:p>
            <a:r>
              <a:t>On the left is the AWS side: EC2 instances running Windows Server and SQL Server, here shown as the two replicas of one availability group. Each instance runs two pieces of Microsoft software: the Azure Connected Machine agent, which makes the server an Azure Arc resource, and the Azure extension for SQL Server, which discovers SQL instances, databases and availability groups and executes Arc requests locally.</a:t>
            </a:r>
          </a:p>
          <a:p/>
          <a:p>
            <a:r>
              <a:t>All traffic is outbound HTTPS on port 443 from the EC2 instance to Azure, directly, through a proxy, through the Arc gateway, or over Private Link. There are no inbound ports and no VPN is required for management.</a:t>
            </a:r>
          </a:p>
          <a:p/>
          <a:p>
            <a:r>
              <a:t>On the right are the Azure services we use: Arc for inventory and the AG API, Update Manager for assessment and scheduling, Event Grid to deliver the pre- and post-maintenance events, Automation to run the runbooks with a managed identity, Azure Monitor for dashboards and alerts, and Resource Graph for estate-wide queries.</a:t>
            </a:r>
          </a:p>
          <a:p/>
          <a:p>
            <a:r>
              <a:t>The key point: the runbooks only call Azure APIs. They never open a SQL connection to the EC2 instances.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ONBOARDING | 2 minutes</a:t>
            </a:r>
          </a:p>
          <a:p/>
          <a:p>
            <a:r>
              <a:t>Step 1: connect the EC2 instance to Arc. The multicloud connector can discover EC2 instances and install the Connected Machine agent through AWS Systems Manager; alternatively use the standard at-scale onboarding script with a service principal.</a:t>
            </a:r>
          </a:p>
          <a:p>
            <a:r>
              <a:t>Step 2: the Azure extension for SQL Server is installed automatically and registers each SQL instance, its databases and availability groups as Azure resources.</a:t>
            </a:r>
          </a:p>
          <a:p>
            <a:r>
              <a:t>Step 3: set the license type. This is the AWS-specific decision. For SQL Server licensed from a cloud provider, which is the case for AWS license-included SQL Server, Learn says to use License only. License only gives you inventory, availability group management, Defender and Entra authentication, but not the Arc performance dashboard, best-practices assessment, automated backups or point-in-time restore. Those need Paid (license with Software Assurance or subscription) or pay-as-you-go. Bring-your-own-license with SA is subject to the outsourcing rules for the cloud provider. Don't set PAYG on license-included instances; you would pay for SQL twice.</a:t>
            </a:r>
          </a:p>
          <a:p>
            <a:r>
              <a:t>Step 4: prepare Windows Update. Opt in to Microsoft Update so SQL Server CUs are offered, and set Windows Update to notify only so nothing installs or reboots outside the maintenance window.</a:t>
            </a:r>
          </a:p>
          <a:p/>
          <a:p>
            <a:r>
              <a:t>Patching with Update Manager is a machine-level service and works with every license type.</a:t>
            </a:r>
          </a:p>
          <a:p/>
          <a:p>
            <a:r>
              <a:t>SOURCE: https://learn.microsoft.com/en-us/sql/sql-server/azure-arc/manage-license-billing ; https://learn.microsoft.com/en-us/azure/azure-arc/multicloud-connector/onboard-multicloud-vms-arc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BLOCKS | 90 seconds</a:t>
            </a:r>
          </a:p>
          <a:p/>
          <a:p>
            <a:r>
              <a:t>Four Azure components, no custom infrastructure.</a:t>
            </a:r>
          </a:p>
          <a:p/>
          <a:p>
            <a:r>
              <a:t>A maintenance configuration is the schedule: a recurring window between 1 hour 30 minutes and 3 hours 55 minutes, and the set of machines it patches, either assigned directly or selected by a dynamic scope on tags.</a:t>
            </a:r>
          </a:p>
          <a:p/>
          <a:p>
            <a:r>
              <a:t>Each configuration raises a pre-maintenance event 30 to 40 minutes before the window and a post-maintenance event when patching ends. Event Grid delivers those events to Automation webhooks.</a:t>
            </a:r>
          </a:p>
          <a:p/>
          <a:p>
            <a:r>
              <a:t>Two runbooks do the work. The pre runbook fails the availability group over to a healthy partner, or cancels the run if that isn't safe. The post runbook waits for SQL Server and the AG to be healthy again and fails back to the preferred primary. They run under the Automation account's managed identity, so there are no stored secrets.</a:t>
            </a:r>
          </a:p>
          <a:p/>
          <a:p>
            <a:r>
              <a:t>The runbooks read and change AG state through the Arc availability group API, which we cover in detail in a moment.</a:t>
            </a:r>
          </a:p>
          <a:p/>
          <a:p>
            <a:r>
              <a:t>The one rule everything enforces: the node being patched is never the primary.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WAVE | 2 minutes</a:t>
            </a:r>
          </a:p>
          <a:p/>
          <a:p>
            <a:r>
              <a:t>Walk the timeline left to right.</a:t>
            </a:r>
          </a:p>
          <a:p/>
          <a:p>
            <a:r>
              <a:t>Between T minus 40 and T minus 30 minutes, Update Manager raises the pre-maintenance event and Event Grid calls the webhook.</a:t>
            </a:r>
          </a:p>
          <a:p/>
          <a:p>
            <a:r>
              <a:t>The pre runbook then has about 20 minutes, until the cancellation cut-off, to read live AG state and either fail over to a synchronized partner or cancel the run.</a:t>
            </a:r>
          </a:p>
          <a:p/>
          <a:p>
            <a:r>
              <a:t>At T, Update Manager installs Windows updates and SQL Server CUs, and reboots the node if needed.</a:t>
            </a:r>
          </a:p>
          <a:p/>
          <a:p>
            <a:r>
              <a:t>When patching ends, the post-event fires. The post runbook waits up to 45 minutes for SQL Server and the availability group to report healthy and synchronized, and logs the new SQL build.</a:t>
            </a:r>
          </a:p>
          <a:p/>
          <a:p>
            <a:r>
              <a:t>Finally, if this node is the preferred primary, the runbook fails the AG back. The next wave's pre-event starts at least 60 minutes later, so replicas can resynchronize.</a:t>
            </a:r>
          </a:p>
          <a:p/>
          <a:p>
            <a:r>
              <a:t>The table shows a normal week for one 2-node AG: wave A patches the secondary with no failover; wave B fails over, patches the usual primary and fails back. Two planned failovers of about 10 seconds each, and the primary is never rebooted.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PRE-EVENT DECISION | 90 seconds</a:t>
            </a:r>
          </a:p>
          <a:p/>
          <a:p>
            <a:r>
              <a:t>The pre runbook reads the partner replica's live state through getDetailView. It checks the role, that the partner is a synchronous-commit replica that is connected and healthy, that every database is synchronized, and that the data is fresh, collected within the last 60 seconds. If the partner is still catching up, it waits up to 10 minutes.</a:t>
            </a:r>
          </a:p>
          <a:p/>
          <a:p>
            <a:r>
              <a:t>Three outcomes:</a:t>
            </a:r>
          </a:p>
          <a:p>
            <a:r>
              <a:t>Green: the partner is already the primary. The node about to be patched is a secondary, so there's nothing to do.</a:t>
            </a:r>
          </a:p>
          <a:p>
            <a:r>
              <a:t>Blue: the partner is a failover-ready secondary. The runbook calls the Arc failover API, which takes about 10 seconds, then confirms the new primary.</a:t>
            </a:r>
          </a:p>
          <a:p>
            <a:r>
              <a:t>Red: anything else. The partner is offline or not synchronized, the failover failed, or there isn't enough time left before the cancellation cut-off. The runbook cancels the maintenance run.</a:t>
            </a:r>
          </a:p>
          <a:p/>
          <a:p>
            <a:r>
              <a:t>Important for operations: a cancel skips only that occurrence. Pending updates stay pending and nothing retries automatically. The next regular occurrence runs as normal, or you can patch sooner with a one-time schedule.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 AG API | 2 minutes</a:t>
            </a:r>
          </a:p>
          <a:p/>
          <a:p>
            <a:r>
              <a:t>This is what makes the design work on AWS: there's no T-SQL, no RDP and no Run Command. The runbook calls Azure Resource Manager, and the Azure extension for SQL Server on the EC2 host executes the request with its own SQL permissions. The Automation managed identity needs only Azure RBAC on each Arc SQL instance, for the getDetailView and failover actions, and on each maintenance configuration, to cancel a run. Use a custom role with just those actions in production.</a:t>
            </a:r>
          </a:p>
          <a:p/>
          <a:p>
            <a:r>
              <a:t>getDetailView returns live state in about 3 seconds: replica role, availability mode, connected state and synchronization health, plus database synchronization state. collectionTimestamp shows when it was collected, and the runbooks reject anything older than 60 seconds.</a:t>
            </a:r>
          </a:p>
          <a:p/>
          <a:p>
            <a:r>
              <a:t>failover is called on the target secondary and does a planned, no-data-loss failover to it in about 10 seconds.</a:t>
            </a:r>
          </a:p>
          <a:p/>
          <a:p>
            <a:r>
              <a:t>Two things we learned in testing. First, failover currently returns HTTP 400 "Failover retrieve null resource" even when it succeeds, on both API versions. The runbooks treat that response as expected and confirm the new primary with getDetailView. We're confirming this with the product group. Second, a secondary reports only its own replica and databases, mirroring the SQL DMVs; only the primary sees the whole AG. The health logic accounts for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SCALE | 2 minutes</a:t>
            </a:r>
          </a:p>
          <a:p/>
          <a:p>
            <a:r>
              <a:t>The lab uses one maintenance configuration per node, which is fine for a few AGs but not for 267 instances.</a:t>
            </a:r>
          </a:p>
          <a:p/>
          <a:p>
            <a:r>
              <a:t>Four limits drive the design. There are at most 250 maintenance configurations per subscription per region, so one per node doesn't fit. All pre-event work for a run must finish in about 20 minutes. A dynamic scope can select up to 1,000 machines, and a schedule up to 3,000. And a cancellation applies to the whole run, so one unhealthy AG must not be allowed to cancel a wave of hundreds of machines.</a:t>
            </a:r>
          </a:p>
          <a:p/>
          <a:p>
            <a:r>
              <a:t>So we group machines into waves with one rule: two replicas of the same AG are never in the same wave. Machines in one wave patch in parallel, so a wave takes about the same time with 5 machines or 500.</a:t>
            </a:r>
          </a:p>
          <a:p/>
          <a:p>
            <a:r>
              <a:t>A typical layout: a pilot wave of dev/test servers on the Thursday after Patch Tuesday, standalone instances in parallel with wave AG-A, which has one replica of every AG, then AG-B with the second replica, where the usual primaries go so each AG fails over once and back once. AG-C for third replicas and AG-DR for asynchronous replicas, which are never failover targets. That's 5 to 8 schedules, far below the limit, even when split by region.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WAVES IN PRACTICE | 2 minutes</a:t>
            </a:r>
          </a:p>
          <a:p/>
          <a:p>
            <a:r>
              <a:t>Left: wave assignment is automated, not a spreadsheet. Arc publishes every availability group to Resource Graph, with its replica machines, current primary and health. A script builds a graph where machines that share an AG are linked, and colors it so linked machines get different waves. It pins preferences, such as putting the usual primary in the last wave and async replicas in AG-DR, honors manual overrides, and writes a PatchWave tag on each Arc machine. Run it daily so new or changed AGs are picked up before patch day.</a:t>
            </a:r>
          </a:p>
          <a:p/>
          <a:p>
            <a:r>
              <a:t>Right: the runbooks become wave-aware. The pre runbook finds the machines in this run from the maintenance run's correlation ID, plans a failover for every AG whose primary is in the run to a synchronized partner outside the run, and executes those failovers in parallel. At about 10 seconds each with a throttle of 25, 100 or more AGs take about a minute. An unsafe machine is moved out of the wave, which we still need to validate, or as a fallback the run is cancelled. The post runbook validates in parallel, fails back, and writes one summary per wave.</a:t>
            </a:r>
          </a:p>
          <a:p/>
          <a:p>
            <a:r>
              <a:t>This part is a design. It is not yet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MONITORING | 2 minutes</a:t>
            </a:r>
          </a:p>
          <a:p/>
          <a:p>
            <a:r>
              <a:t>Six things to monitor, all from Azure.</a:t>
            </a:r>
          </a:p>
          <a:p/>
          <a:p>
            <a:r>
              <a:t>Patch compliance: Update Manager's periodic assessment checks every machine for missing updates every 24 hours, and History shows every maintenance run per machine.</a:t>
            </a:r>
          </a:p>
          <a:p/>
          <a:p>
            <a:r>
              <a:t>AG health: the Arc Availability Groups view and Resource Graph show the current primary and synchronization health for every AG.</a:t>
            </a:r>
          </a:p>
          <a:p/>
          <a:p>
            <a:r>
              <a:t>Runbook jobs: Automation keeps the output of every pre and post runbook job. Alert on failed jobs.</a:t>
            </a:r>
          </a:p>
          <a:p/>
          <a:p>
            <a:r>
              <a:t>SQL performance: the Arc performance dashboard collects CPU, memory, storage I/O, wait statistics, active sessions and performance counters from DMVs. It's in preview, free during preview, needs license type Paid or PAYG, and doesn't support failover cluster instances.</a:t>
            </a:r>
          </a:p>
          <a:p/>
          <a:p>
            <a:r>
              <a:t>Host and logs: Azure Monitor Agent sends Windows events and performance counters to Log Analytics. This works for every license type, so it's the performance option for License-only instances, which is likely for AWS license-included SQL Server.</a:t>
            </a:r>
          </a:p>
          <a:p/>
          <a:p>
            <a:r>
              <a:t>Security: Microsoft Defender for SQL on Arc provides vulnerability assessment and threat alerts.</a:t>
            </a:r>
          </a:p>
          <a:p/>
          <a:p>
            <a:r>
              <a:t>SOURCE: https://learn.microsoft.com/en-us/sql/sql-server/azure-arc/sql-monitoring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WATCHING A PATCH CYCLE | 90 seconds</a:t>
            </a:r>
          </a:p>
          <a:p/>
          <a:p>
            <a:r>
              <a:t>The table lists the signals we alert on after each wave and where each comes from. Most come from Resource Graph, which means one query covers all 267 instances.</a:t>
            </a:r>
          </a:p>
          <a:p/>
          <a:p>
            <a:r>
              <a:t>A failed pre or post runbook job is the most important alert, because a failed pre-event means the run may have been cancelled, and a failed post-event means a node didn't come back healthy. The next wave's pre-event then sees the unhealthy partner and cancels that AG's failover, so the problem doesn't spread, but someone must act.</a:t>
            </a:r>
          </a:p>
          <a:p/>
          <a:p>
            <a:r>
              <a:t>The query on the right lists patch results for every Arc machine: status, installed and failed update counts, and when the run started. Put this, the AG health query and the failed jobs into one Azure Monitor workbook for the patch-day 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AND NEXT STEPS | 90 seconds</a:t>
            </a:r>
          </a:p>
          <a:p/>
          <a:p>
            <a:r>
              <a:t>Left: what we have built and tested in the lab, a 2-node SQL Server 2022 availability group onboarded to Arc as non-Azure servers. Update Manager schedules with pre- and post-events, Event Grid delivering to Automation webhooks, the runbooks reading live AG state through Arc, and a planned failover and failback through the Arc API, end to end in about 20 seconds.</a:t>
            </a:r>
          </a:p>
          <a:p/>
          <a:p>
            <a:r>
              <a:t>Right: what still needs validation before production. The first real patch and reboot cycle. Network connectivity from the customer's VPCs to Azure. The license type of each instance, since AWS license-included SQL Server should be License only, which affects monitoring. And for the wave design: when Update Manager evaluates a dynamic scope relative to the pre-event, Arc API throttling with 100+ parallel failovers, and the HTTP 400 that the failover API returns on success. We're confirming those last items with the product group.</a:t>
            </a:r>
          </a:p>
          <a:p/>
          <a:p>
            <a:r>
              <a:t>Next step: a pilot wave on dev/test EC2 instances, then AG-A and AG-B in 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9703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96846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116984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pic>
        <p:nvPicPr>
          <p:cNvPr id="6" name="Image 1" descr=" ">
            <a:extLst>
              <a:ext uri="{FF2B5EF4-FFF2-40B4-BE49-F238E27FC236}">
                <a16:creationId xmlns:a16="http://schemas.microsoft.com/office/drawing/2014/main" id="{3CC3688D-0783-4BEA-BBC0-5B29791F38B1}"/>
              </a:ext>
            </a:extLst>
          </p:cNvPr>
          <p:cNvPicPr>
            <a:picLocks noChangeAspect="1"/>
          </p:cNvPicPr>
          <p:nvPr userDrawn="1"/>
        </p:nvPicPr>
        <p:blipFill>
          <a:blip r:embed="rId2">
            <a:biLevel thresh="50000"/>
            <a:alphaModFix/>
            <a:extLst>
              <a:ext uri="{BEBA8EAE-BF5A-486C-A8C5-ECC9F3942E4B}">
                <a14:imgProps xmlns:a14="http://schemas.microsoft.com/office/drawing/2010/main">
                  <a14:imgLayer r:embed="rId3">
                    <a14:imgEffect>
                      <a14:colorTemperature colorTemp="1500"/>
                    </a14:imgEffect>
                    <a14:imgEffect>
                      <a14:saturation sat="0"/>
                    </a14:imgEffect>
                  </a14:imgLayer>
                </a14:imgProps>
              </a:ext>
            </a:extLst>
          </a:blip>
          <a:stretch>
            <a:fillRect/>
          </a:stretch>
        </p:blipFill>
        <p:spPr>
          <a:xfrm>
            <a:off x="11315641" y="571500"/>
            <a:ext cx="304798" cy="304800"/>
          </a:xfrm>
          <a:prstGeom prst="rect">
            <a:avLst/>
          </a:prstGeom>
          <a:solidFill>
            <a:schemeClr val="tx1"/>
          </a:solidFill>
        </p:spPr>
      </p:pic>
      <p:sp>
        <p:nvSpPr>
          <p:cNvPr id="2" name="Text Placeholder 11">
            <a:extLst>
              <a:ext uri="{FF2B5EF4-FFF2-40B4-BE49-F238E27FC236}">
                <a16:creationId xmlns:a16="http://schemas.microsoft.com/office/drawing/2014/main" id="{6ABDA7E5-358C-C4E3-B97C-80CD517C59F0}"/>
              </a:ext>
            </a:extLst>
          </p:cNvPr>
          <p:cNvSpPr>
            <a:spLocks noGrp="1"/>
          </p:cNvSpPr>
          <p:nvPr>
            <p:ph type="body" sz="quarter" idx="10" hasCustomPrompt="1"/>
          </p:nvPr>
        </p:nvSpPr>
        <p:spPr>
          <a:xfrm>
            <a:off x="571497" y="520700"/>
            <a:ext cx="5828541" cy="914400"/>
          </a:xfrm>
          <a:prstGeom prst="rect">
            <a:avLst/>
          </a:prstGeom>
        </p:spPr>
        <p:txBody>
          <a:bodyPr>
            <a:noAutofit/>
          </a:bodyPr>
          <a:lstStyle>
            <a:lvl1pPr marL="0" indent="0" algn="l" defTabSz="457109" rtl="0" eaLnBrk="1" latinLnBrk="0" hangingPunct="1">
              <a:lnSpc>
                <a:spcPts val="7499"/>
              </a:lnSpc>
              <a:buNone/>
              <a:defRPr lang="en-US" sz="7499" b="1" i="0" kern="0" spc="-375" dirty="0" smtClean="0">
                <a:solidFill>
                  <a:schemeClr val="bg1"/>
                </a:solidFill>
                <a:latin typeface="Segoe Sans Display Semibold" pitchFamily="2" charset="0"/>
                <a:ea typeface="Segoe Sans Display Semibold" pitchFamily="2" charset="0"/>
                <a:cs typeface="Segoe Sans Display Semibold" pitchFamily="2" charset="0"/>
              </a:defRPr>
            </a:lvl1pPr>
          </a:lstStyle>
          <a:p>
            <a:pPr lvl="0"/>
            <a:r>
              <a:rPr lang="en-US"/>
              <a:t>Title</a:t>
            </a:r>
          </a:p>
        </p:txBody>
      </p:sp>
      <p:sp>
        <p:nvSpPr>
          <p:cNvPr id="3" name="Text Placeholder 11">
            <a:extLst>
              <a:ext uri="{FF2B5EF4-FFF2-40B4-BE49-F238E27FC236}">
                <a16:creationId xmlns:a16="http://schemas.microsoft.com/office/drawing/2014/main" id="{FC4F10AD-4484-FDFE-2BF0-76076344780B}"/>
              </a:ext>
            </a:extLst>
          </p:cNvPr>
          <p:cNvSpPr>
            <a:spLocks noGrp="1"/>
          </p:cNvSpPr>
          <p:nvPr>
            <p:ph type="body" sz="quarter" idx="11" hasCustomPrompt="1"/>
          </p:nvPr>
        </p:nvSpPr>
        <p:spPr>
          <a:xfrm>
            <a:off x="571497" y="1460500"/>
            <a:ext cx="5828541" cy="914400"/>
          </a:xfrm>
          <a:prstGeom prst="rect">
            <a:avLst/>
          </a:prstGeom>
        </p:spPr>
        <p:txBody>
          <a:bodyPr>
            <a:noAutofit/>
          </a:bodyPr>
          <a:lstStyle>
            <a:lvl1pPr marL="0" indent="0" algn="l" defTabSz="457109" rtl="0" eaLnBrk="1" latinLnBrk="0" hangingPunct="1">
              <a:lnSpc>
                <a:spcPts val="7499"/>
              </a:lnSpc>
              <a:buNone/>
              <a:defRPr lang="en-US" sz="7499" b="1" i="0" kern="0" spc="-375" dirty="0" smtClean="0">
                <a:solidFill>
                  <a:schemeClr val="bg2"/>
                </a:solidFill>
                <a:latin typeface="Segoe Sans Display Semibold" pitchFamily="2" charset="0"/>
                <a:ea typeface="Segoe Sans Display Semibold" pitchFamily="2" charset="0"/>
                <a:cs typeface="Segoe Sans Display Semibold" pitchFamily="2" charset="0"/>
              </a:defRPr>
            </a:lvl1pPr>
          </a:lstStyle>
          <a:p>
            <a:pPr lvl="0"/>
            <a:r>
              <a:rPr lang="en-US"/>
              <a:t>Subtitle</a:t>
            </a:r>
          </a:p>
        </p:txBody>
      </p:sp>
    </p:spTree>
    <p:extLst>
      <p:ext uri="{BB962C8B-B14F-4D97-AF65-F5344CB8AC3E}">
        <p14:creationId xmlns:p14="http://schemas.microsoft.com/office/powerpoint/2010/main" val="1954754026"/>
      </p:ext>
    </p:extLst>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svg"/></Relationships>
</file>

<file path=ppt/slideMasters/_rels/slideMaster2.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xml"/><Relationship Id="rId3" Type="http://schemas.openxmlformats.org/officeDocument/2006/relationships/image" Target="../media/image1.svg"/></Relationships>
</file>

<file path=ppt/slideMasters/_rels/slideMaster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5F3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Text"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324325367"/>
      </p:ext>
    </p:extLst>
  </p:cSld>
  <p:clrMap bg1="lt1" tx1="dk1" bg2="lt2" tx2="dk2" accent1="accent1" accent2="accent2" accent3="accent3" accent4="accent4" accent5="accent5" accent6="accent6" hlink="hlink" folHlink="folHlink"/>
  <p:sldLayoutIdLst>
    <p:sldLayoutId id="2147483719" r:id="rId1"/>
    <p:sldLayoutId id="2147484298" r:id="rId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Sans Text"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Text"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4F3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336136381"/>
      </p:ext>
    </p:extLst>
  </p:cSld>
  <p:clrMap bg1="lt1" tx1="dk1" bg2="lt2" tx2="dk2" accent1="accent1" accent2="accent2" accent3="accent3" accent4="accent4" accent5="accent5" accent6="accent6" hlink="hlink" folHlink="folHlink"/>
  <p:sldLayoutIdLst>
    <p:sldLayoutId id="2147484293"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Placeholder 6">
            <a:extLst>
              <a:ext uri="{FF2B5EF4-FFF2-40B4-BE49-F238E27FC236}">
                <a16:creationId xmlns:a16="http://schemas.microsoft.com/office/drawing/2014/main" id="{07364A6F-B735-C0A5-F4C2-529BF2E4D667}"/>
              </a:ext>
            </a:extLst>
          </p:cNvPr>
          <p:cNvSpPr>
            <a:spLocks noGrp="1"/>
          </p:cNvSpPr>
          <p:nvPr>
            <p:ph type="title"/>
          </p:nvPr>
        </p:nvSpPr>
        <p:spPr>
          <a:xfrm>
            <a:off x="525897" y="623849"/>
            <a:ext cx="10515818" cy="560426"/>
          </a:xfrm>
          <a:prstGeom prst="rect">
            <a:avLst/>
          </a:prstGeom>
        </p:spPr>
        <p:txBody>
          <a:bodyPr vert="horz" lIns="91440" tIns="45720" rIns="91440" bIns="45720" rtlCol="0" anchor="ctr">
            <a:noAutofit/>
          </a:bodyPr>
          <a:lstStyle/>
          <a:p>
            <a:r>
              <a:rPr lang="en-US"/>
              <a:t>Click to edit Master title style</a:t>
            </a:r>
          </a:p>
        </p:txBody>
      </p:sp>
      <p:sp>
        <p:nvSpPr>
          <p:cNvPr id="9" name="Text Placeholder 6">
            <a:extLst>
              <a:ext uri="{FF2B5EF4-FFF2-40B4-BE49-F238E27FC236}">
                <a16:creationId xmlns:a16="http://schemas.microsoft.com/office/drawing/2014/main" id="{48227E51-5187-8E8F-9867-60BE59439E76}"/>
              </a:ext>
            </a:extLst>
          </p:cNvPr>
          <p:cNvSpPr>
            <a:spLocks noGrp="1"/>
          </p:cNvSpPr>
          <p:nvPr>
            <p:ph type="body" idx="1"/>
          </p:nvPr>
        </p:nvSpPr>
        <p:spPr>
          <a:xfrm>
            <a:off x="525897" y="2009620"/>
            <a:ext cx="10515818" cy="18431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714189624"/>
      </p:ext>
    </p:extLst>
  </p:cSld>
  <p:clrMap bg1="lt1" tx1="dk1" bg2="lt2" tx2="dk2" accent1="accent1" accent2="accent2" accent3="accent3" accent4="accent4" accent5="accent5" accent6="accent6" hlink="hlink" folHlink="folHlink"/>
  <p:sldLayoutIdLst>
    <p:sldLayoutId id="2147484297" r:id="rId1"/>
  </p:sldLayoutIdLst>
  <p:hf sldNum="0" hdr="0" ftr="0" dt="0"/>
  <p:txStyles>
    <p:titleStyle>
      <a:lvl1pPr algn="l" defTabSz="457109" rtl="0" eaLnBrk="1" latinLnBrk="0" hangingPunct="1">
        <a:spcBef>
          <a:spcPct val="0"/>
        </a:spcBef>
        <a:buNone/>
        <a:defRPr sz="4999" b="1" i="0" kern="0" spc="-200" baseline="0">
          <a:solidFill>
            <a:schemeClr val="bg1"/>
          </a:solidFill>
          <a:latin typeface="Segoe Sans Display Semibold" pitchFamily="2" charset="0"/>
          <a:ea typeface="+mj-ea"/>
          <a:cs typeface="Segoe Sans Display Semibold" pitchFamily="2" charset="0"/>
        </a:defRPr>
      </a:lvl1pPr>
    </p:titleStyle>
    <p:bodyStyle>
      <a:lvl1pPr marL="0" indent="0" algn="l" defTabSz="457109" rtl="0" eaLnBrk="1" latinLnBrk="0" hangingPunct="1">
        <a:lnSpc>
          <a:spcPct val="100000"/>
        </a:lnSpc>
        <a:spcBef>
          <a:spcPts val="336"/>
        </a:spcBef>
        <a:buFont typeface="Arial" panose="020B0604020202020204" pitchFamily="34" charset="0"/>
        <a:buNone/>
        <a:defRPr sz="2999" b="1" i="0" kern="0" spc="-50" baseline="0">
          <a:solidFill>
            <a:schemeClr val="bg1"/>
          </a:solidFill>
          <a:latin typeface="Segoe Sans Display Semibold" pitchFamily="2" charset="0"/>
          <a:ea typeface="+mn-ea"/>
          <a:cs typeface="Segoe Sans Display Semibold" pitchFamily="2" charset="0"/>
        </a:defRPr>
      </a:lvl1pPr>
      <a:lvl2pPr marL="228554" indent="0" algn="l" defTabSz="457109" rtl="0" eaLnBrk="1" latinLnBrk="0" hangingPunct="1">
        <a:lnSpc>
          <a:spcPct val="100000"/>
        </a:lnSpc>
        <a:spcBef>
          <a:spcPts val="336"/>
        </a:spcBef>
        <a:buFont typeface="Arial" panose="020B0604020202020204" pitchFamily="34" charset="0"/>
        <a:buNone/>
        <a:defRPr sz="2400" b="1" i="0" kern="0" spc="-50" baseline="0">
          <a:solidFill>
            <a:schemeClr val="bg1"/>
          </a:solidFill>
          <a:latin typeface="Segoe Sans Display Semibold" pitchFamily="2" charset="0"/>
          <a:ea typeface="+mn-ea"/>
          <a:cs typeface="Segoe Sans Display Semibold" pitchFamily="2" charset="0"/>
        </a:defRPr>
      </a:lvl2pPr>
      <a:lvl3pPr marL="457109" indent="0" algn="l" defTabSz="457109" rtl="0" eaLnBrk="1" latinLnBrk="0" hangingPunct="1">
        <a:lnSpc>
          <a:spcPct val="100000"/>
        </a:lnSpc>
        <a:spcBef>
          <a:spcPts val="336"/>
        </a:spcBef>
        <a:buFont typeface="Arial" panose="020B0604020202020204" pitchFamily="34" charset="0"/>
        <a:buNone/>
        <a:defRPr sz="1800" b="1" i="0" kern="0" spc="0" baseline="0">
          <a:solidFill>
            <a:schemeClr val="bg1"/>
          </a:solidFill>
          <a:latin typeface="Segoe Sans Display Semibold" pitchFamily="2" charset="0"/>
          <a:ea typeface="+mn-ea"/>
          <a:cs typeface="Segoe Sans Display Semibold" pitchFamily="2" charset="0"/>
        </a:defRPr>
      </a:lvl3pPr>
      <a:lvl4pPr marL="685663" indent="0" algn="l" defTabSz="457109" rtl="0" eaLnBrk="1" latinLnBrk="0" hangingPunct="1">
        <a:lnSpc>
          <a:spcPct val="100000"/>
        </a:lnSpc>
        <a:spcBef>
          <a:spcPts val="336"/>
        </a:spcBef>
        <a:buFont typeface="Arial" panose="020B0604020202020204" pitchFamily="34" charset="0"/>
        <a:buNone/>
        <a:defRPr sz="1200" b="1" i="0" kern="0" spc="0" baseline="0">
          <a:solidFill>
            <a:schemeClr val="bg1"/>
          </a:solidFill>
          <a:latin typeface="Segoe Sans Display Semibold" pitchFamily="2" charset="0"/>
          <a:ea typeface="+mn-ea"/>
          <a:cs typeface="Segoe Sans Display Semibold" pitchFamily="2" charset="0"/>
        </a:defRPr>
      </a:lvl4pPr>
      <a:lvl5pPr marL="914217" indent="0" algn="l" defTabSz="457109" rtl="0" eaLnBrk="1" latinLnBrk="0" hangingPunct="1">
        <a:lnSpc>
          <a:spcPct val="100000"/>
        </a:lnSpc>
        <a:spcBef>
          <a:spcPts val="336"/>
        </a:spcBef>
        <a:buFont typeface="Arial" panose="020B0604020202020204" pitchFamily="34" charset="0"/>
        <a:buNone/>
        <a:defRPr sz="1100" b="1" i="0" kern="0" spc="0" baseline="0">
          <a:solidFill>
            <a:schemeClr val="bg1"/>
          </a:solidFill>
          <a:latin typeface="Segoe Sans Display Semibold" pitchFamily="2" charset="0"/>
          <a:ea typeface="+mn-ea"/>
          <a:cs typeface="Segoe Sans Display Semibold" pitchFamily="2" charset="0"/>
        </a:defRPr>
      </a:lvl5pPr>
      <a:lvl6pPr marL="1142771" indent="0" algn="l" defTabSz="457109" rtl="0" eaLnBrk="1" latinLnBrk="0" hangingPunct="1">
        <a:spcBef>
          <a:spcPct val="20000"/>
        </a:spcBef>
        <a:buFont typeface="Arial" panose="020B0604020202020204" pitchFamily="34" charset="0"/>
        <a:buNone/>
        <a:defRPr sz="1000" b="1" i="0" kern="0" spc="0" baseline="0">
          <a:solidFill>
            <a:schemeClr val="bg1"/>
          </a:solidFill>
          <a:latin typeface="Segoe Sans Display Semibold" pitchFamily="2" charset="0"/>
          <a:ea typeface="+mn-ea"/>
          <a:cs typeface="Segoe Sans Display Semibold" pitchFamily="2" charset="0"/>
        </a:defRPr>
      </a:lvl6pPr>
      <a:lvl7pPr marL="1371326" indent="0" algn="l" defTabSz="457109" rtl="0" eaLnBrk="1" latinLnBrk="0" hangingPunct="1">
        <a:spcBef>
          <a:spcPct val="20000"/>
        </a:spcBef>
        <a:buFont typeface="Arial" panose="020B0604020202020204" pitchFamily="34" charset="0"/>
        <a:buNone/>
        <a:defRPr sz="1100" kern="0" spc="-50" baseline="0">
          <a:solidFill>
            <a:schemeClr val="bg1"/>
          </a:solidFill>
          <a:latin typeface="+mn-lt"/>
          <a:ea typeface="+mn-ea"/>
          <a:cs typeface="+mn-cs"/>
        </a:defRPr>
      </a:lvl7pPr>
      <a:lvl8pPr marL="1599880" indent="0" algn="l" defTabSz="457109" rtl="0" eaLnBrk="1" latinLnBrk="0" hangingPunct="1">
        <a:spcBef>
          <a:spcPct val="20000"/>
        </a:spcBef>
        <a:buFont typeface="Arial" pitchFamily="34" charset="0"/>
        <a:buNone/>
        <a:defRPr sz="1000" kern="1200">
          <a:solidFill>
            <a:schemeClr val="bg1"/>
          </a:solidFill>
          <a:latin typeface="+mn-lt"/>
          <a:ea typeface="+mn-ea"/>
          <a:cs typeface="+mn-cs"/>
        </a:defRPr>
      </a:lvl8pPr>
      <a:lvl9pPr marL="1942711" indent="-114277" algn="l" defTabSz="457109"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pricing/details/azure-update-management-center/" TargetMode="External"/><Relationship Id="rId3" Type="http://schemas.openxmlformats.org/officeDocument/2006/relationships/hyperlink" Target="https://azure.microsoft.com/pricing/details/automation/" TargetMode="External"/><Relationship Id="rId4" Type="http://schemas.openxmlformats.org/officeDocument/2006/relationships/hyperlink" Target="https://azure.microsoft.com/pricing/details/event-grid/" TargetMode="External"/><Relationship Id="rId5" Type="http://schemas.openxmlformats.org/officeDocument/2006/relationships/hyperlink" Target="https://learn.microsoft.com/sql/sql-server/azure-arc/overview#feature-availability-depending-on-license-type" TargetMode="External"/><Relationship Id="rId6" Type="http://schemas.openxmlformats.org/officeDocument/2006/relationships/hyperlink" Target="https://azure.microsoft.com/pricing/details/defender-for-cloud/" TargetMode="External"/><Relationship Id="rId7" Type="http://schemas.openxmlformats.org/officeDocument/2006/relationships/hyperlink" Target="https://azure.microsoft.com/pricing/details/monitor/" TargetMode="External"/><Relationship Id="rId8" Type="http://schemas.openxmlformats.org/officeDocument/2006/relationships/hyperlink" Target="https://learn.microsoft.com/azure/update-manager/update-manager-faq#pricing" TargetMode="External"/><Relationship Id="rId9" Type="http://schemas.openxmlformats.org/officeDocument/2006/relationships/hyperlink" Target="https://learn.microsoft.com/rest/api/cost-management/retail-prices/azure-retail-prices" TargetMode="External"/><Relationship Id="rId10" Type="http://schemas.openxmlformats.org/officeDocument/2006/relationships/hyperlink" Target="https://azure.microsoft.com/pricing/calculator/" TargetMode="External"/></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earn.microsoft.com/sql/sql-server/azure-arc/prerequisites" TargetMode="External"/><Relationship Id="rId3" Type="http://schemas.openxmlformats.org/officeDocument/2006/relationships/hyperlink" Target="https://learn.microsoft.com/azure/azure-arc/servers/prerequisites" TargetMode="External"/><Relationship Id="rId4" Type="http://schemas.openxmlformats.org/officeDocument/2006/relationships/hyperlink" Target="https://learn.microsoft.com/azure/azure-arc/servers/network-requirements" TargetMode="External"/><Relationship Id="rId5" Type="http://schemas.openxmlformats.org/officeDocument/2006/relationships/hyperlink" Target="https://learn.microsoft.com/azure/azure-arc/multicloud-connector/onboard-multicloud-vms-arc" TargetMode="External"/><Relationship Id="rId6" Type="http://schemas.openxmlformats.org/officeDocument/2006/relationships/hyperlink" Target="https://learn.microsoft.com/sql/sql-server/azure-arc/manage-license-billing#license-typ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152038E-AF1F-921C-2E4B-D6B5FAA5AA1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022812A-D4E7-E161-5A74-D60491CA85BB}"/>
              </a:ext>
            </a:extLst>
          </p:cNvPr>
          <p:cNvSpPr txBox="1"/>
          <p:nvPr/>
        </p:nvSpPr>
        <p:spPr>
          <a:xfrm>
            <a:off x="9676141" y="8381802"/>
            <a:ext cx="184731" cy="230832"/>
          </a:xfrm>
          <a:prstGeom prst="rect">
            <a:avLst/>
          </a:prstGeom>
          <a:noFill/>
        </p:spPr>
        <p:txBody>
          <a:bodyPr wrap="none" rtlCol="0">
            <a:spAutoFit/>
          </a:bodyPr>
          <a:lstStyle/>
          <a:p>
            <a:pPr marL="0" marR="0" lvl="0" indent="0" algn="l" defTabSz="457109"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ptos" panose="02110004020202020204"/>
              <a:ea typeface="+mn-ea"/>
              <a:cs typeface="+mn-cs"/>
            </a:endParaRPr>
          </a:p>
        </p:txBody>
      </p:sp>
      <p:sp>
        <p:nvSpPr>
          <p:cNvPr id="4" name="Title 7">
            <a:extLst>
              <a:ext uri="{FF2B5EF4-FFF2-40B4-BE49-F238E27FC236}">
                <a16:creationId xmlns:a16="http://schemas.microsoft.com/office/drawing/2014/main" id="{68D289B0-331E-84AD-868D-72818C5F5442}"/>
              </a:ext>
            </a:extLst>
          </p:cNvPr>
          <p:cNvSpPr txBox="1">
            <a:spLocks/>
          </p:cNvSpPr>
          <p:nvPr/>
        </p:nvSpPr>
        <p:spPr>
          <a:xfrm>
            <a:off x="584200" y="2311400"/>
            <a:ext cx="10414000" cy="1841500"/>
          </a:xfrm>
          <a:prstGeom prst="rect">
            <a:avLst/>
          </a:prstGeom>
        </p:spPr>
        <p:txBody>
          <a:bodyPr lIns="91440" tIns="45720" rIns="91440" bIns="45720" anchor="t"/>
          <a:lstStyle>
            <a:lvl1pPr algn="l" defTabSz="457109" rtl="0" eaLnBrk="1" latinLnBrk="0" hangingPunct="1">
              <a:spcBef>
                <a:spcPct val="0"/>
              </a:spcBef>
              <a:buNone/>
              <a:defRPr sz="4999" b="1" i="0" kern="0" spc="-200" baseline="0">
                <a:solidFill>
                  <a:schemeClr val="bg1"/>
                </a:solidFill>
                <a:latin typeface="Segoe Sans Display Semibold" pitchFamily="2" charset="0"/>
                <a:ea typeface="+mj-ea"/>
                <a:cs typeface="Segoe Sans Display Semibold" pitchFamily="2" charset="0"/>
              </a:defRPr>
            </a:lvl1pPr>
          </a:lstStyle>
          <a:p>
            <a:pPr marL="0" marR="0" lvl="0" indent="0" algn="l" defTabSz="457109" rtl="0" eaLnBrk="1" fontAlgn="auto" latinLnBrk="0" hangingPunct="1">
              <a:lnSpc>
                <a:spcPct val="100000"/>
              </a:lnSpc>
              <a:spcBef>
                <a:spcPct val="0"/>
              </a:spcBef>
              <a:spcAft>
                <a:spcPts val="0"/>
              </a:spcAft>
              <a:buClrTx/>
              <a:buSzTx/>
              <a:buFontTx/>
              <a:buNone/>
              <a:tabLst/>
              <a:defRPr/>
            </a:pPr>
            <a:r>
              <a:rPr kumimoji="0" lang="en-US" sz="4600" b="1" i="0" u="none" strike="noStrike" kern="0" cap="none" spc="-200" normalizeH="0" baseline="0" noProof="0" dirty="0">
                <a:ln>
                  <a:noFill/>
                </a:ln>
                <a:solidFill>
                  <a:srgbClr val="FFFFFF"/>
                </a:solidFill>
                <a:effectLst/>
                <a:uLnTx/>
                <a:uFillTx/>
                <a:latin typeface="Segoe Sans Display Semibold"/>
                <a:ea typeface="+mj-ea"/>
                <a:cs typeface="Segoe Sans Text"/>
              </a:rPr>
              <a:t>SQL Server on AWS</a:t>
            </a:r>
          </a:p>
          <a:p>
            <a:pPr marL="0" marR="0" lvl="0" indent="0" algn="l" defTabSz="457109" rtl="0" eaLnBrk="1" fontAlgn="auto" latinLnBrk="0" hangingPunct="1">
              <a:lnSpc>
                <a:spcPct val="100000"/>
              </a:lnSpc>
              <a:spcBef>
                <a:spcPct val="0"/>
              </a:spcBef>
              <a:spcAft>
                <a:spcPts val="0"/>
              </a:spcAft>
              <a:buClrTx/>
              <a:buSzTx/>
              <a:buFontTx/>
              <a:buNone/>
              <a:tabLst/>
              <a:defRPr/>
            </a:pPr>
            <a:r>
              <a:rPr kumimoji="0" lang="en-US" sz="4600" b="1" i="0" u="none" strike="noStrike" kern="0" cap="none" spc="-200" normalizeH="0" baseline="0" noProof="0" dirty="0">
                <a:ln>
                  <a:noFill/>
                </a:ln>
                <a:solidFill>
                  <a:srgbClr val="FFFFFF"/>
                </a:solidFill>
                <a:effectLst/>
                <a:uLnTx/>
                <a:uFillTx/>
                <a:latin typeface="Segoe Sans Display Semibold"/>
                <a:ea typeface="+mj-ea"/>
                <a:cs typeface="Segoe Sans Text"/>
              </a:rPr>
              <a:t>Patching &amp; Monitoring</a:t>
            </a:r>
            <a:endParaRPr kumimoji="0" lang="en-US" sz="4600" b="1" i="0" u="none" strike="noStrike" kern="0" cap="none" spc="-200" normalizeH="0" baseline="0" noProof="0" dirty="0">
              <a:ln>
                <a:noFill/>
              </a:ln>
              <a:solidFill>
                <a:srgbClr val="FFFFFF"/>
              </a:solidFill>
              <a:effectLst/>
              <a:uLnTx/>
              <a:uFillTx/>
              <a:latin typeface="Segoe Sans Display Semibold" pitchFamily="2" charset="0"/>
              <a:ea typeface="+mj-ea"/>
              <a:cs typeface="Segoe Sans Text"/>
            </a:endParaRPr>
          </a:p>
        </p:txBody>
      </p:sp>
      <p:pic>
        <p:nvPicPr>
          <p:cNvPr id="10" name="Seismic-Barcode" descr="3000109KM" title="Seismic-Barcode"/>
          <p:cNvPicPr>
            <a:picLocks noChangeAspect="1"/>
          </p:cNvPicPr>
          <p:nvPr/>
        </p:nvPicPr>
        <p:blipFill>
          <a:blip r:embed="rId4"/>
          <a:stretch>
            <a:fillRect/>
          </a:stretch>
        </p:blipFill>
        <p:spPr>
          <a:xfrm>
            <a:off x="0" y="6800850"/>
            <a:ext cx="12192000" cy="57150"/>
          </a:xfrm>
          <a:prstGeom prst="rect">
            <a:avLst/>
          </a:prstGeom>
        </p:spPr>
      </p:pic>
      <p:sp>
        <p:nvSpPr>
          <p:cNvPr id="2" name="Rectangle 1">
            <a:extLst>
              <a:ext uri="{FF2B5EF4-FFF2-40B4-BE49-F238E27FC236}">
                <a16:creationId xmlns:a16="http://schemas.microsoft.com/office/drawing/2014/main" id="{9721E40D-31A2-F455-5999-45018E28154C}"/>
              </a:ext>
            </a:extLst>
          </p:cNvPr>
          <p:cNvSpPr/>
          <p:nvPr/>
        </p:nvSpPr>
        <p:spPr>
          <a:xfrm>
            <a:off x="508000" y="4191000"/>
            <a:ext cx="10769600" cy="774700"/>
          </a:xfrm>
          <a:prstGeom prst="rect">
            <a:avLst/>
          </a:prstGeom>
          <a:solidFill>
            <a:srgbClr val="000000">
              <a:alpha val="7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EC4E5C8-5FEC-7EEF-C628-6B49EC64B94D}"/>
              </a:ext>
            </a:extLst>
          </p:cNvPr>
          <p:cNvSpPr/>
          <p:nvPr/>
        </p:nvSpPr>
        <p:spPr>
          <a:xfrm>
            <a:off x="0" y="6794500"/>
            <a:ext cx="12192000" cy="63500"/>
          </a:xfrm>
          <a:prstGeom prst="rect">
            <a:avLst/>
          </a:prstGeom>
          <a:solidFill>
            <a:srgbClr val="0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2947AEE-713E-26B9-D1B2-B038497BC671}"/>
              </a:ext>
            </a:extLst>
          </p:cNvPr>
          <p:cNvSpPr txBox="1"/>
          <p:nvPr/>
        </p:nvSpPr>
        <p:spPr>
          <a:xfrm>
            <a:off x="609600" y="4292599"/>
            <a:ext cx="10287000" cy="571500"/>
          </a:xfrm>
          <a:prstGeom prst="rect">
            <a:avLst/>
          </a:prstGeom>
          <a:noFill/>
        </p:spPr>
        <p:txBody>
          <a:bodyPr vert="horz" wrap="square" lIns="0" tIns="0" rIns="0" bIns="0" rtlCol="0">
            <a:noAutofit/>
          </a:bodyPr>
          <a:lstStyle/>
          <a:p>
            <a:pPr>
              <a:spcAft>
                <a:spcPts val="300"/>
              </a:spcAft>
            </a:pPr>
            <a:r>
              <a:rPr lang="en-US" b="1" dirty="0">
                <a:solidFill>
                  <a:schemeClr val="bg1"/>
                </a:solidFill>
              </a:rPr>
              <a:t>AG-aware patching and monitoring with SQL Server enabled by Azure Arc and Azure Update Manager</a:t>
            </a:r>
            <a:endParaRPr lang="en-US" sz="2600" dirty="0">
              <a:solidFill>
                <a:schemeClr val="bg1"/>
              </a:solidFill>
              <a:latin typeface="Segoe UI" panose="020B0502040204020203" pitchFamily="34" charset="0"/>
            </a:endParaRPr>
          </a:p>
        </p:txBody>
      </p:sp>
      <p:sp>
        <p:nvSpPr>
          <p:cNvPr id="8" name="TextBox 7">
            <a:extLst>
              <a:ext uri="{FF2B5EF4-FFF2-40B4-BE49-F238E27FC236}">
                <a16:creationId xmlns:a16="http://schemas.microsoft.com/office/drawing/2014/main" id="{E0EAADBC-588F-AB3D-F1DE-3110A8DAE6E1}"/>
              </a:ext>
            </a:extLst>
          </p:cNvPr>
          <p:cNvSpPr txBox="1"/>
          <p:nvPr/>
        </p:nvSpPr>
        <p:spPr>
          <a:xfrm>
            <a:off x="609600" y="6362700"/>
            <a:ext cx="10160000" cy="254000"/>
          </a:xfrm>
          <a:prstGeom prst="rect">
            <a:avLst/>
          </a:prstGeom>
          <a:noFill/>
        </p:spPr>
        <p:txBody>
          <a:bodyPr vert="horz" wrap="square" lIns="0" tIns="0" rIns="0" bIns="0" rtlCol="0">
            <a:noAutofit/>
          </a:bodyPr>
          <a:lstStyle/>
          <a:p>
            <a:pPr>
              <a:spcAft>
                <a:spcPts val="300"/>
              </a:spcAft>
            </a:pPr>
            <a:r>
              <a:rPr lang="en-US" sz="1100" dirty="0">
                <a:solidFill>
                  <a:srgbClr val="DDDDDD"/>
                </a:solidFill>
                <a:latin typeface="Segoe UI" panose="020B0502040204020203" pitchFamily="34" charset="0"/>
              </a:rPr>
              <a:t>OCTOBER 2026  |  Anil Dwarakanath | Enterprise Solutions Architect – Cloud &amp; AI | Microsoft</a:t>
            </a:r>
          </a:p>
        </p:txBody>
      </p:sp>
    </p:spTree>
    <p:extLst>
      <p:ext uri="{BB962C8B-B14F-4D97-AF65-F5344CB8AC3E}">
        <p14:creationId xmlns:p14="http://schemas.microsoft.com/office/powerpoint/2010/main" val="1957786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Agenda | What we will cover</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Managing SQL Server on EC2 from Azure: architecture, patching, scale and monitoring</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02</a:t>
            </a:r>
          </a:p>
        </p:txBody>
      </p:sp>
      <p:sp>
        <p:nvSpPr>
          <p:cNvPr id="6" name="Rounded Rectangle 5"/>
          <p:cNvSpPr/>
          <p:nvPr/>
        </p:nvSpPr>
        <p:spPr>
          <a:xfrm>
            <a:off x="585216" y="2011680"/>
            <a:ext cx="5376672" cy="10058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304288"/>
            <a:ext cx="548640" cy="411480"/>
          </a:xfrm>
          <a:prstGeom prst="rect">
            <a:avLst/>
          </a:prstGeom>
          <a:noFill/>
        </p:spPr>
        <p:txBody>
          <a:bodyPr wrap="square" anchor="t" lIns="0" rIns="0" tIns="0" bIns="0">
            <a:spAutoFit/>
          </a:bodyPr>
          <a:lstStyle/>
          <a:p>
            <a:pPr algn="l"/>
            <a:r>
              <a:rPr sz="2100" b="1" i="0">
                <a:solidFill>
                  <a:srgbClr val="8055C8"/>
                </a:solidFill>
                <a:latin typeface="Segoe UI"/>
              </a:rPr>
              <a:t>01</a:t>
            </a:r>
          </a:p>
        </p:txBody>
      </p:sp>
      <p:sp>
        <p:nvSpPr>
          <p:cNvPr id="8" name="TextBox 7"/>
          <p:cNvSpPr txBox="1"/>
          <p:nvPr/>
        </p:nvSpPr>
        <p:spPr>
          <a:xfrm>
            <a:off x="1307592" y="2194560"/>
            <a:ext cx="4480560" cy="384048"/>
          </a:xfrm>
          <a:prstGeom prst="rect">
            <a:avLst/>
          </a:prstGeom>
          <a:noFill/>
        </p:spPr>
        <p:txBody>
          <a:bodyPr wrap="square" anchor="t" lIns="0" rIns="0" tIns="0" bIns="0">
            <a:spAutoFit/>
          </a:bodyPr>
          <a:lstStyle/>
          <a:p>
            <a:pPr algn="l"/>
            <a:r>
              <a:rPr sz="2000" b="1" i="0">
                <a:solidFill>
                  <a:srgbClr val="0078D4"/>
                </a:solidFill>
                <a:latin typeface="Segoe UI"/>
              </a:rPr>
              <a:t>Architecture</a:t>
            </a:r>
          </a:p>
        </p:txBody>
      </p:sp>
      <p:sp>
        <p:nvSpPr>
          <p:cNvPr id="9" name="TextBox 8"/>
          <p:cNvSpPr txBox="1"/>
          <p:nvPr/>
        </p:nvSpPr>
        <p:spPr>
          <a:xfrm>
            <a:off x="1307592" y="2578608"/>
            <a:ext cx="4480560" cy="274320"/>
          </a:xfrm>
          <a:prstGeom prst="rect">
            <a:avLst/>
          </a:prstGeom>
          <a:noFill/>
        </p:spPr>
        <p:txBody>
          <a:bodyPr wrap="square" anchor="t" lIns="0" rIns="0" tIns="0" bIns="0">
            <a:spAutoFit/>
          </a:bodyPr>
          <a:lstStyle/>
          <a:p>
            <a:pPr algn="l"/>
            <a:r>
              <a:rPr sz="1250" b="0" i="0">
                <a:solidFill>
                  <a:srgbClr val="545460"/>
                </a:solidFill>
                <a:latin typeface="Segoe UI"/>
              </a:rPr>
              <a:t>SQL Server on EC2, managed from Azure through Arc</a:t>
            </a:r>
          </a:p>
        </p:txBody>
      </p:sp>
      <p:sp>
        <p:nvSpPr>
          <p:cNvPr id="10" name="Rounded Rectangle 9"/>
          <p:cNvSpPr/>
          <p:nvPr/>
        </p:nvSpPr>
        <p:spPr>
          <a:xfrm>
            <a:off x="585216" y="3291840"/>
            <a:ext cx="5376672" cy="10058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584448"/>
            <a:ext cx="548640" cy="411480"/>
          </a:xfrm>
          <a:prstGeom prst="rect">
            <a:avLst/>
          </a:prstGeom>
          <a:noFill/>
        </p:spPr>
        <p:txBody>
          <a:bodyPr wrap="square" anchor="t" lIns="0" rIns="0" tIns="0" bIns="0">
            <a:spAutoFit/>
          </a:bodyPr>
          <a:lstStyle/>
          <a:p>
            <a:pPr algn="l"/>
            <a:r>
              <a:rPr sz="2100" b="1" i="0">
                <a:solidFill>
                  <a:srgbClr val="8055C8"/>
                </a:solidFill>
                <a:latin typeface="Segoe UI"/>
              </a:rPr>
              <a:t>02</a:t>
            </a:r>
          </a:p>
        </p:txBody>
      </p:sp>
      <p:sp>
        <p:nvSpPr>
          <p:cNvPr id="12" name="TextBox 11"/>
          <p:cNvSpPr txBox="1"/>
          <p:nvPr/>
        </p:nvSpPr>
        <p:spPr>
          <a:xfrm>
            <a:off x="1307592" y="3474720"/>
            <a:ext cx="4480560" cy="384048"/>
          </a:xfrm>
          <a:prstGeom prst="rect">
            <a:avLst/>
          </a:prstGeom>
          <a:noFill/>
        </p:spPr>
        <p:txBody>
          <a:bodyPr wrap="square" anchor="t" lIns="0" rIns="0" tIns="0" bIns="0">
            <a:spAutoFit/>
          </a:bodyPr>
          <a:lstStyle/>
          <a:p>
            <a:pPr algn="l"/>
            <a:r>
              <a:rPr sz="2000" b="1" i="0">
                <a:solidFill>
                  <a:srgbClr val="0078D4"/>
                </a:solidFill>
                <a:latin typeface="Segoe UI"/>
              </a:rPr>
              <a:t>Onboarding &amp; license type</a:t>
            </a:r>
          </a:p>
        </p:txBody>
      </p:sp>
      <p:sp>
        <p:nvSpPr>
          <p:cNvPr id="13" name="TextBox 12"/>
          <p:cNvSpPr txBox="1"/>
          <p:nvPr/>
        </p:nvSpPr>
        <p:spPr>
          <a:xfrm>
            <a:off x="1307592" y="3858768"/>
            <a:ext cx="4480560" cy="274320"/>
          </a:xfrm>
          <a:prstGeom prst="rect">
            <a:avLst/>
          </a:prstGeom>
          <a:noFill/>
        </p:spPr>
        <p:txBody>
          <a:bodyPr wrap="square" anchor="t" lIns="0" rIns="0" tIns="0" bIns="0">
            <a:spAutoFit/>
          </a:bodyPr>
          <a:lstStyle/>
          <a:p>
            <a:pPr algn="l"/>
            <a:r>
              <a:rPr sz="1250" b="0" i="0">
                <a:solidFill>
                  <a:srgbClr val="545460"/>
                </a:solidFill>
                <a:latin typeface="Segoe UI"/>
              </a:rPr>
              <a:t>Prerequisites, Arc agent, SQL extension, Windows Update</a:t>
            </a:r>
          </a:p>
        </p:txBody>
      </p:sp>
      <p:sp>
        <p:nvSpPr>
          <p:cNvPr id="14" name="Rounded Rectangle 13"/>
          <p:cNvSpPr/>
          <p:nvPr/>
        </p:nvSpPr>
        <p:spPr>
          <a:xfrm>
            <a:off x="585216" y="4572000"/>
            <a:ext cx="5376672" cy="10058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4864608"/>
            <a:ext cx="548640" cy="411480"/>
          </a:xfrm>
          <a:prstGeom prst="rect">
            <a:avLst/>
          </a:prstGeom>
          <a:noFill/>
        </p:spPr>
        <p:txBody>
          <a:bodyPr wrap="square" anchor="t" lIns="0" rIns="0" tIns="0" bIns="0">
            <a:spAutoFit/>
          </a:bodyPr>
          <a:lstStyle/>
          <a:p>
            <a:pPr algn="l"/>
            <a:r>
              <a:rPr sz="2100" b="1" i="0">
                <a:solidFill>
                  <a:srgbClr val="8055C8"/>
                </a:solidFill>
                <a:latin typeface="Segoe UI"/>
              </a:rPr>
              <a:t>03</a:t>
            </a:r>
          </a:p>
        </p:txBody>
      </p:sp>
      <p:sp>
        <p:nvSpPr>
          <p:cNvPr id="16" name="TextBox 15"/>
          <p:cNvSpPr txBox="1"/>
          <p:nvPr/>
        </p:nvSpPr>
        <p:spPr>
          <a:xfrm>
            <a:off x="1307592" y="4754880"/>
            <a:ext cx="4480560" cy="384048"/>
          </a:xfrm>
          <a:prstGeom prst="rect">
            <a:avLst/>
          </a:prstGeom>
          <a:noFill/>
        </p:spPr>
        <p:txBody>
          <a:bodyPr wrap="square" anchor="t" lIns="0" rIns="0" tIns="0" bIns="0">
            <a:spAutoFit/>
          </a:bodyPr>
          <a:lstStyle/>
          <a:p>
            <a:pPr algn="l"/>
            <a:r>
              <a:rPr sz="2000" b="1" i="0">
                <a:solidFill>
                  <a:srgbClr val="0078D4"/>
                </a:solidFill>
                <a:latin typeface="Segoe UI"/>
              </a:rPr>
              <a:t>AG-aware patching</a:t>
            </a:r>
          </a:p>
        </p:txBody>
      </p:sp>
      <p:sp>
        <p:nvSpPr>
          <p:cNvPr id="17" name="TextBox 16"/>
          <p:cNvSpPr txBox="1"/>
          <p:nvPr/>
        </p:nvSpPr>
        <p:spPr>
          <a:xfrm>
            <a:off x="1307592" y="5138928"/>
            <a:ext cx="4480560" cy="274320"/>
          </a:xfrm>
          <a:prstGeom prst="rect">
            <a:avLst/>
          </a:prstGeom>
          <a:noFill/>
        </p:spPr>
        <p:txBody>
          <a:bodyPr wrap="square" anchor="t" lIns="0" rIns="0" tIns="0" bIns="0">
            <a:spAutoFit/>
          </a:bodyPr>
          <a:lstStyle/>
          <a:p>
            <a:pPr algn="l"/>
            <a:r>
              <a:rPr sz="1250" b="0" i="0">
                <a:solidFill>
                  <a:srgbClr val="545460"/>
                </a:solidFill>
                <a:latin typeface="Segoe UI"/>
              </a:rPr>
              <a:t>Update Manager schedules with pre- and post-events</a:t>
            </a:r>
          </a:p>
        </p:txBody>
      </p:sp>
      <p:sp>
        <p:nvSpPr>
          <p:cNvPr id="18" name="Rounded Rectangle 17"/>
          <p:cNvSpPr/>
          <p:nvPr/>
        </p:nvSpPr>
        <p:spPr>
          <a:xfrm>
            <a:off x="6236208" y="2011680"/>
            <a:ext cx="5376672" cy="10058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304288"/>
            <a:ext cx="548640" cy="411480"/>
          </a:xfrm>
          <a:prstGeom prst="rect">
            <a:avLst/>
          </a:prstGeom>
          <a:noFill/>
        </p:spPr>
        <p:txBody>
          <a:bodyPr wrap="square" anchor="t" lIns="0" rIns="0" tIns="0" bIns="0">
            <a:spAutoFit/>
          </a:bodyPr>
          <a:lstStyle/>
          <a:p>
            <a:pPr algn="l"/>
            <a:r>
              <a:rPr sz="2100" b="1" i="0">
                <a:solidFill>
                  <a:srgbClr val="8055C8"/>
                </a:solidFill>
                <a:latin typeface="Segoe UI"/>
              </a:rPr>
              <a:t>04</a:t>
            </a:r>
          </a:p>
        </p:txBody>
      </p:sp>
      <p:sp>
        <p:nvSpPr>
          <p:cNvPr id="20" name="TextBox 19"/>
          <p:cNvSpPr txBox="1"/>
          <p:nvPr/>
        </p:nvSpPr>
        <p:spPr>
          <a:xfrm>
            <a:off x="6958584" y="2194560"/>
            <a:ext cx="4480560" cy="384048"/>
          </a:xfrm>
          <a:prstGeom prst="rect">
            <a:avLst/>
          </a:prstGeom>
          <a:noFill/>
        </p:spPr>
        <p:txBody>
          <a:bodyPr wrap="square" anchor="t" lIns="0" rIns="0" tIns="0" bIns="0">
            <a:spAutoFit/>
          </a:bodyPr>
          <a:lstStyle/>
          <a:p>
            <a:pPr algn="l"/>
            <a:r>
              <a:rPr sz="2000" b="1" i="0">
                <a:solidFill>
                  <a:srgbClr val="0078D4"/>
                </a:solidFill>
                <a:latin typeface="Segoe UI"/>
              </a:rPr>
              <a:t>Failover through Azure Arc</a:t>
            </a:r>
          </a:p>
        </p:txBody>
      </p:sp>
      <p:sp>
        <p:nvSpPr>
          <p:cNvPr id="21" name="TextBox 20"/>
          <p:cNvSpPr txBox="1"/>
          <p:nvPr/>
        </p:nvSpPr>
        <p:spPr>
          <a:xfrm>
            <a:off x="6958584" y="2578608"/>
            <a:ext cx="4480560" cy="274320"/>
          </a:xfrm>
          <a:prstGeom prst="rect">
            <a:avLst/>
          </a:prstGeom>
          <a:noFill/>
        </p:spPr>
        <p:txBody>
          <a:bodyPr wrap="square" anchor="t" lIns="0" rIns="0" tIns="0" bIns="0">
            <a:spAutoFit/>
          </a:bodyPr>
          <a:lstStyle/>
          <a:p>
            <a:pPr algn="l"/>
            <a:r>
              <a:rPr sz="1250" b="0" i="0">
                <a:solidFill>
                  <a:srgbClr val="545460"/>
                </a:solidFill>
                <a:latin typeface="Segoe UI"/>
              </a:rPr>
              <a:t>Availability group API: no T-SQL, no RDP</a:t>
            </a:r>
          </a:p>
        </p:txBody>
      </p:sp>
      <p:sp>
        <p:nvSpPr>
          <p:cNvPr id="22" name="Rounded Rectangle 21"/>
          <p:cNvSpPr/>
          <p:nvPr/>
        </p:nvSpPr>
        <p:spPr>
          <a:xfrm>
            <a:off x="6236208" y="3291840"/>
            <a:ext cx="5376672" cy="10058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584448"/>
            <a:ext cx="548640" cy="411480"/>
          </a:xfrm>
          <a:prstGeom prst="rect">
            <a:avLst/>
          </a:prstGeom>
          <a:noFill/>
        </p:spPr>
        <p:txBody>
          <a:bodyPr wrap="square" anchor="t" lIns="0" rIns="0" tIns="0" bIns="0">
            <a:spAutoFit/>
          </a:bodyPr>
          <a:lstStyle/>
          <a:p>
            <a:pPr algn="l"/>
            <a:r>
              <a:rPr sz="2100" b="1" i="0">
                <a:solidFill>
                  <a:srgbClr val="8055C8"/>
                </a:solidFill>
                <a:latin typeface="Segoe UI"/>
              </a:rPr>
              <a:t>05</a:t>
            </a:r>
          </a:p>
        </p:txBody>
      </p:sp>
      <p:sp>
        <p:nvSpPr>
          <p:cNvPr id="24" name="TextBox 23"/>
          <p:cNvSpPr txBox="1"/>
          <p:nvPr/>
        </p:nvSpPr>
        <p:spPr>
          <a:xfrm>
            <a:off x="6958584" y="3474720"/>
            <a:ext cx="4480560" cy="384048"/>
          </a:xfrm>
          <a:prstGeom prst="rect">
            <a:avLst/>
          </a:prstGeom>
          <a:noFill/>
        </p:spPr>
        <p:txBody>
          <a:bodyPr wrap="square" anchor="t" lIns="0" rIns="0" tIns="0" bIns="0">
            <a:spAutoFit/>
          </a:bodyPr>
          <a:lstStyle/>
          <a:p>
            <a:pPr algn="l"/>
            <a:r>
              <a:rPr sz="2000" b="1" i="0">
                <a:solidFill>
                  <a:srgbClr val="0078D4"/>
                </a:solidFill>
                <a:latin typeface="Segoe UI"/>
              </a:rPr>
              <a:t>Scaling to 267 instances</a:t>
            </a:r>
          </a:p>
        </p:txBody>
      </p:sp>
      <p:sp>
        <p:nvSpPr>
          <p:cNvPr id="25" name="TextBox 24"/>
          <p:cNvSpPr txBox="1"/>
          <p:nvPr/>
        </p:nvSpPr>
        <p:spPr>
          <a:xfrm>
            <a:off x="6958584" y="3858768"/>
            <a:ext cx="4480560" cy="274320"/>
          </a:xfrm>
          <a:prstGeom prst="rect">
            <a:avLst/>
          </a:prstGeom>
          <a:noFill/>
        </p:spPr>
        <p:txBody>
          <a:bodyPr wrap="square" anchor="t" lIns="0" rIns="0" tIns="0" bIns="0">
            <a:spAutoFit/>
          </a:bodyPr>
          <a:lstStyle/>
          <a:p>
            <a:pPr algn="l"/>
            <a:r>
              <a:rPr sz="1250" b="0" i="0">
                <a:solidFill>
                  <a:srgbClr val="545460"/>
                </a:solidFill>
                <a:latin typeface="Segoe UI"/>
              </a:rPr>
              <a:t>Waves, dynamic scopes and parallel failovers</a:t>
            </a:r>
          </a:p>
        </p:txBody>
      </p:sp>
      <p:sp>
        <p:nvSpPr>
          <p:cNvPr id="26" name="Rounded Rectangle 25"/>
          <p:cNvSpPr/>
          <p:nvPr/>
        </p:nvSpPr>
        <p:spPr>
          <a:xfrm>
            <a:off x="6236208" y="4572000"/>
            <a:ext cx="5376672" cy="10058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864608"/>
            <a:ext cx="548640" cy="411480"/>
          </a:xfrm>
          <a:prstGeom prst="rect">
            <a:avLst/>
          </a:prstGeom>
          <a:noFill/>
        </p:spPr>
        <p:txBody>
          <a:bodyPr wrap="square" anchor="t" lIns="0" rIns="0" tIns="0" bIns="0">
            <a:spAutoFit/>
          </a:bodyPr>
          <a:lstStyle/>
          <a:p>
            <a:pPr algn="l"/>
            <a:r>
              <a:rPr sz="2100" b="1" i="0">
                <a:solidFill>
                  <a:srgbClr val="8055C8"/>
                </a:solidFill>
                <a:latin typeface="Segoe UI"/>
              </a:rPr>
              <a:t>06</a:t>
            </a:r>
          </a:p>
        </p:txBody>
      </p:sp>
      <p:sp>
        <p:nvSpPr>
          <p:cNvPr id="28" name="TextBox 27"/>
          <p:cNvSpPr txBox="1"/>
          <p:nvPr/>
        </p:nvSpPr>
        <p:spPr>
          <a:xfrm>
            <a:off x="6958584" y="4754880"/>
            <a:ext cx="4480560" cy="384048"/>
          </a:xfrm>
          <a:prstGeom prst="rect">
            <a:avLst/>
          </a:prstGeom>
          <a:noFill/>
        </p:spPr>
        <p:txBody>
          <a:bodyPr wrap="square" anchor="t" lIns="0" rIns="0" tIns="0" bIns="0">
            <a:spAutoFit/>
          </a:bodyPr>
          <a:lstStyle/>
          <a:p>
            <a:pPr algn="l"/>
            <a:r>
              <a:rPr sz="2000" b="1" i="0">
                <a:solidFill>
                  <a:srgbClr val="0078D4"/>
                </a:solidFill>
                <a:latin typeface="Segoe UI"/>
              </a:rPr>
              <a:t>Monitoring, cost &amp; next steps</a:t>
            </a:r>
          </a:p>
        </p:txBody>
      </p:sp>
      <p:sp>
        <p:nvSpPr>
          <p:cNvPr id="29" name="TextBox 28"/>
          <p:cNvSpPr txBox="1"/>
          <p:nvPr/>
        </p:nvSpPr>
        <p:spPr>
          <a:xfrm>
            <a:off x="6958584" y="5138928"/>
            <a:ext cx="4480560" cy="274320"/>
          </a:xfrm>
          <a:prstGeom prst="rect">
            <a:avLst/>
          </a:prstGeom>
          <a:noFill/>
        </p:spPr>
        <p:txBody>
          <a:bodyPr wrap="square" anchor="t" lIns="0" rIns="0" tIns="0" bIns="0">
            <a:spAutoFit/>
          </a:bodyPr>
          <a:lstStyle/>
          <a:p>
            <a:pPr algn="l"/>
            <a:r>
              <a:rPr sz="1250" b="0" i="0">
                <a:solidFill>
                  <a:srgbClr val="545460"/>
                </a:solidFill>
                <a:latin typeface="Segoe UI"/>
              </a:rPr>
              <a:t>Compliance, AG health, alerts and Azure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01  |  Architecture</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SQL Server stays on EC2. Azure is the management plane, and every connection starts from the server.</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03</a:t>
            </a:r>
          </a:p>
        </p:txBody>
      </p:sp>
      <p:sp>
        <p:nvSpPr>
          <p:cNvPr id="6" name="Rounded Rectangle 5"/>
          <p:cNvSpPr/>
          <p:nvPr/>
        </p:nvSpPr>
        <p:spPr>
          <a:xfrm>
            <a:off x="585216" y="1828800"/>
            <a:ext cx="4572000" cy="3794760"/>
          </a:xfrm>
          <a:prstGeom prst="roundRect">
            <a:avLst>
              <a:gd name="adj" fmla="val 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68096" y="1984248"/>
            <a:ext cx="4206240" cy="420624"/>
          </a:xfrm>
          <a:prstGeom prst="roundRect">
            <a:avLst>
              <a:gd name="adj" fmla="val 2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84248"/>
            <a:ext cx="3931920" cy="420624"/>
          </a:xfrm>
          <a:prstGeom prst="rect">
            <a:avLst/>
          </a:prstGeom>
          <a:noFill/>
        </p:spPr>
        <p:txBody>
          <a:bodyPr wrap="square" anchor="ctr" lIns="0" rIns="0" tIns="0" bIns="0">
            <a:spAutoFit/>
          </a:bodyPr>
          <a:lstStyle/>
          <a:p>
            <a:pPr algn="l"/>
            <a:r>
              <a:rPr sz="1400" b="1" i="0">
                <a:solidFill>
                  <a:srgbClr val="FF9900"/>
                </a:solidFill>
                <a:latin typeface="Segoe UI"/>
              </a:rPr>
              <a:t>AWS</a:t>
            </a:r>
            <a:r>
              <a:rPr sz="1400" b="1" i="0">
                <a:solidFill>
                  <a:srgbClr val="FFFFFF"/>
                </a:solidFill>
                <a:latin typeface="Segoe UI"/>
              </a:rPr>
              <a:t xml:space="preserve">   VPC  ·  Amazon EC2</a:t>
            </a:r>
          </a:p>
        </p:txBody>
      </p:sp>
      <p:sp>
        <p:nvSpPr>
          <p:cNvPr id="9" name="Rounded Rectangle 8"/>
          <p:cNvSpPr/>
          <p:nvPr/>
        </p:nvSpPr>
        <p:spPr>
          <a:xfrm>
            <a:off x="768096" y="2560320"/>
            <a:ext cx="2011680" cy="1783080"/>
          </a:xfrm>
          <a:prstGeom prst="roundRect">
            <a:avLst>
              <a:gd name="adj" fmla="val 7000"/>
            </a:avLst>
          </a:prstGeom>
          <a:solidFill>
            <a:srgbClr val="F7F8FA"/>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1737360" cy="292608"/>
          </a:xfrm>
          <a:prstGeom prst="rect">
            <a:avLst/>
          </a:prstGeom>
          <a:noFill/>
        </p:spPr>
        <p:txBody>
          <a:bodyPr wrap="square" anchor="t" lIns="0" rIns="0" tIns="0" bIns="0">
            <a:spAutoFit/>
          </a:bodyPr>
          <a:lstStyle/>
          <a:p>
            <a:pPr algn="l"/>
            <a:r>
              <a:rPr sz="1400" b="1" i="0">
                <a:solidFill>
                  <a:srgbClr val="0078D4"/>
                </a:solidFill>
                <a:latin typeface="Segoe UI"/>
              </a:rPr>
              <a:t>SQL node A</a:t>
            </a:r>
          </a:p>
        </p:txBody>
      </p:sp>
      <p:sp>
        <p:nvSpPr>
          <p:cNvPr id="11" name="TextBox 10"/>
          <p:cNvSpPr txBox="1"/>
          <p:nvPr/>
        </p:nvSpPr>
        <p:spPr>
          <a:xfrm>
            <a:off x="905256" y="2926080"/>
            <a:ext cx="1737360" cy="228600"/>
          </a:xfrm>
          <a:prstGeom prst="rect">
            <a:avLst/>
          </a:prstGeom>
          <a:noFill/>
        </p:spPr>
        <p:txBody>
          <a:bodyPr wrap="square" anchor="t" lIns="0" rIns="0" tIns="0" bIns="0">
            <a:spAutoFit/>
          </a:bodyPr>
          <a:lstStyle/>
          <a:p>
            <a:pPr algn="l"/>
            <a:r>
              <a:rPr sz="1000" b="1" i="0">
                <a:solidFill>
                  <a:srgbClr val="0078D4"/>
                </a:solidFill>
                <a:latin typeface="Segoe UI"/>
              </a:rPr>
              <a:t>PRIMARY</a:t>
            </a:r>
          </a:p>
        </p:txBody>
      </p:sp>
      <p:sp>
        <p:nvSpPr>
          <p:cNvPr id="12" name="TextBox 11"/>
          <p:cNvSpPr txBox="1"/>
          <p:nvPr/>
        </p:nvSpPr>
        <p:spPr>
          <a:xfrm>
            <a:off x="905256" y="3200400"/>
            <a:ext cx="1783080" cy="1097280"/>
          </a:xfrm>
          <a:prstGeom prst="rect">
            <a:avLst/>
          </a:prstGeom>
          <a:noFill/>
        </p:spPr>
        <p:txBody>
          <a:bodyPr wrap="square" anchor="t" lIns="0" rIns="0" tIns="0" bIns="0">
            <a:spAutoFit/>
          </a:bodyPr>
          <a:lstStyle/>
          <a:p>
            <a:pPr algn="l">
              <a:spcAft>
                <a:spcPts val="300"/>
              </a:spcAft>
            </a:pPr>
            <a:r>
              <a:rPr sz="1100" b="0" i="0">
                <a:solidFill>
                  <a:srgbClr val="202020"/>
                </a:solidFill>
                <a:latin typeface="Segoe UI"/>
              </a:rPr>
              <a:t>Windows Server + SQL Server</a:t>
            </a:r>
          </a:p>
          <a:p>
            <a:pPr algn="l">
              <a:spcAft>
                <a:spcPts val="300"/>
              </a:spcAft>
            </a:pPr>
            <a:r>
              <a:rPr sz="1100" b="0" i="0">
                <a:solidFill>
                  <a:srgbClr val="202020"/>
                </a:solidFill>
                <a:latin typeface="Segoe UI"/>
              </a:rPr>
              <a:t>Connected Machine agent</a:t>
            </a:r>
          </a:p>
          <a:p>
            <a:pPr algn="l">
              <a:spcAft>
                <a:spcPts val="300"/>
              </a:spcAft>
            </a:pPr>
            <a:r>
              <a:rPr sz="1100" b="0" i="0">
                <a:solidFill>
                  <a:srgbClr val="202020"/>
                </a:solidFill>
                <a:latin typeface="Segoe UI"/>
              </a:rPr>
              <a:t>Azure extension for SQL Server</a:t>
            </a:r>
          </a:p>
        </p:txBody>
      </p:sp>
      <p:sp>
        <p:nvSpPr>
          <p:cNvPr id="13" name="Rounded Rectangle 12"/>
          <p:cNvSpPr/>
          <p:nvPr/>
        </p:nvSpPr>
        <p:spPr>
          <a:xfrm>
            <a:off x="2962656" y="2560320"/>
            <a:ext cx="2011680" cy="1783080"/>
          </a:xfrm>
          <a:prstGeom prst="roundRect">
            <a:avLst>
              <a:gd name="adj" fmla="val 7000"/>
            </a:avLst>
          </a:prstGeom>
          <a:solidFill>
            <a:srgbClr val="F7F8FA"/>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9815" y="2651760"/>
            <a:ext cx="1737360" cy="292608"/>
          </a:xfrm>
          <a:prstGeom prst="rect">
            <a:avLst/>
          </a:prstGeom>
          <a:noFill/>
        </p:spPr>
        <p:txBody>
          <a:bodyPr wrap="square" anchor="t" lIns="0" rIns="0" tIns="0" bIns="0">
            <a:spAutoFit/>
          </a:bodyPr>
          <a:lstStyle/>
          <a:p>
            <a:pPr algn="l"/>
            <a:r>
              <a:rPr sz="1400" b="1" i="0">
                <a:solidFill>
                  <a:srgbClr val="0078D4"/>
                </a:solidFill>
                <a:latin typeface="Segoe UI"/>
              </a:rPr>
              <a:t>SQL node B</a:t>
            </a:r>
          </a:p>
        </p:txBody>
      </p:sp>
      <p:sp>
        <p:nvSpPr>
          <p:cNvPr id="15" name="TextBox 14"/>
          <p:cNvSpPr txBox="1"/>
          <p:nvPr/>
        </p:nvSpPr>
        <p:spPr>
          <a:xfrm>
            <a:off x="3099815" y="2926080"/>
            <a:ext cx="1737360" cy="228600"/>
          </a:xfrm>
          <a:prstGeom prst="rect">
            <a:avLst/>
          </a:prstGeom>
          <a:noFill/>
        </p:spPr>
        <p:txBody>
          <a:bodyPr wrap="square" anchor="t" lIns="0" rIns="0" tIns="0" bIns="0">
            <a:spAutoFit/>
          </a:bodyPr>
          <a:lstStyle/>
          <a:p>
            <a:pPr algn="l"/>
            <a:r>
              <a:rPr sz="1000" b="1" i="0">
                <a:solidFill>
                  <a:srgbClr val="8055C8"/>
                </a:solidFill>
                <a:latin typeface="Segoe UI"/>
              </a:rPr>
              <a:t>SECONDARY</a:t>
            </a:r>
          </a:p>
        </p:txBody>
      </p:sp>
      <p:sp>
        <p:nvSpPr>
          <p:cNvPr id="16" name="TextBox 15"/>
          <p:cNvSpPr txBox="1"/>
          <p:nvPr/>
        </p:nvSpPr>
        <p:spPr>
          <a:xfrm>
            <a:off x="3099815" y="3200400"/>
            <a:ext cx="1783080" cy="1097280"/>
          </a:xfrm>
          <a:prstGeom prst="rect">
            <a:avLst/>
          </a:prstGeom>
          <a:noFill/>
        </p:spPr>
        <p:txBody>
          <a:bodyPr wrap="square" anchor="t" lIns="0" rIns="0" tIns="0" bIns="0">
            <a:spAutoFit/>
          </a:bodyPr>
          <a:lstStyle/>
          <a:p>
            <a:pPr algn="l">
              <a:spcAft>
                <a:spcPts val="300"/>
              </a:spcAft>
            </a:pPr>
            <a:r>
              <a:rPr sz="1100" b="0" i="0">
                <a:solidFill>
                  <a:srgbClr val="202020"/>
                </a:solidFill>
                <a:latin typeface="Segoe UI"/>
              </a:rPr>
              <a:t>Windows Server + SQL Server</a:t>
            </a:r>
          </a:p>
          <a:p>
            <a:pPr algn="l">
              <a:spcAft>
                <a:spcPts val="300"/>
              </a:spcAft>
            </a:pPr>
            <a:r>
              <a:rPr sz="1100" b="0" i="0">
                <a:solidFill>
                  <a:srgbClr val="202020"/>
                </a:solidFill>
                <a:latin typeface="Segoe UI"/>
              </a:rPr>
              <a:t>Connected Machine agent</a:t>
            </a:r>
          </a:p>
          <a:p>
            <a:pPr algn="l">
              <a:spcAft>
                <a:spcPts val="300"/>
              </a:spcAft>
            </a:pPr>
            <a:r>
              <a:rPr sz="1100" b="0" i="0">
                <a:solidFill>
                  <a:srgbClr val="202020"/>
                </a:solidFill>
                <a:latin typeface="Segoe UI"/>
              </a:rPr>
              <a:t>Azure extension for SQL Server</a:t>
            </a:r>
          </a:p>
        </p:txBody>
      </p:sp>
      <p:sp>
        <p:nvSpPr>
          <p:cNvPr id="17" name="Rounded Rectangle 16"/>
          <p:cNvSpPr/>
          <p:nvPr/>
        </p:nvSpPr>
        <p:spPr>
          <a:xfrm>
            <a:off x="768096" y="4480560"/>
            <a:ext cx="4206240" cy="384048"/>
          </a:xfrm>
          <a:prstGeom prst="roundRect">
            <a:avLst>
              <a:gd name="adj" fmla="val 20000"/>
            </a:avLst>
          </a:prstGeom>
          <a:solidFill>
            <a:srgbClr val="EE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480560"/>
            <a:ext cx="4206240" cy="384048"/>
          </a:xfrm>
          <a:prstGeom prst="rect">
            <a:avLst/>
          </a:prstGeom>
          <a:noFill/>
        </p:spPr>
        <p:txBody>
          <a:bodyPr wrap="square" anchor="ctr" lIns="0" rIns="0" tIns="0" bIns="0">
            <a:spAutoFit/>
          </a:bodyPr>
          <a:lstStyle/>
          <a:p>
            <a:pPr algn="ctr"/>
            <a:r>
              <a:rPr sz="1250" b="1" i="0">
                <a:solidFill>
                  <a:srgbClr val="8055C8"/>
                </a:solidFill>
                <a:latin typeface="Segoe UI"/>
              </a:rPr>
              <a:t>Always On AG  ·  synchronous commit</a:t>
            </a:r>
          </a:p>
        </p:txBody>
      </p:sp>
      <p:sp>
        <p:nvSpPr>
          <p:cNvPr id="19" name="TextBox 18"/>
          <p:cNvSpPr txBox="1"/>
          <p:nvPr/>
        </p:nvSpPr>
        <p:spPr>
          <a:xfrm>
            <a:off x="786384" y="4983480"/>
            <a:ext cx="4206240" cy="548640"/>
          </a:xfrm>
          <a:prstGeom prst="rect">
            <a:avLst/>
          </a:prstGeom>
          <a:noFill/>
        </p:spPr>
        <p:txBody>
          <a:bodyPr wrap="square" anchor="t" lIns="0" rIns="0" tIns="0" bIns="0">
            <a:spAutoFit/>
          </a:bodyPr>
          <a:lstStyle/>
          <a:p>
            <a:pPr algn="l"/>
            <a:r>
              <a:rPr sz="1100" b="0" i="0">
                <a:solidFill>
                  <a:srgbClr val="545460"/>
                </a:solidFill>
                <a:latin typeface="Segoe UI"/>
              </a:rPr>
              <a:t>Windows Update opted in to Microsoft Update</a:t>
            </a:r>
          </a:p>
          <a:p>
            <a:pPr algn="l"/>
            <a:r>
              <a:rPr sz="1100" b="0" i="0">
                <a:solidFill>
                  <a:srgbClr val="545460"/>
                </a:solidFill>
                <a:latin typeface="Segoe UI"/>
              </a:rPr>
              <a:t>(Windows updates + SQL Server CUs)</a:t>
            </a:r>
          </a:p>
        </p:txBody>
      </p:sp>
      <p:sp>
        <p:nvSpPr>
          <p:cNvPr id="20" name="TextBox 19"/>
          <p:cNvSpPr txBox="1"/>
          <p:nvPr/>
        </p:nvSpPr>
        <p:spPr>
          <a:xfrm>
            <a:off x="5175504" y="3154680"/>
            <a:ext cx="1298448" cy="457200"/>
          </a:xfrm>
          <a:prstGeom prst="rect">
            <a:avLst/>
          </a:prstGeom>
          <a:noFill/>
        </p:spPr>
        <p:txBody>
          <a:bodyPr wrap="square" anchor="t" lIns="0" rIns="0" tIns="0" bIns="0">
            <a:spAutoFit/>
          </a:bodyPr>
          <a:lstStyle/>
          <a:p>
            <a:pPr algn="ctr"/>
            <a:r>
              <a:rPr sz="1100" b="1" i="0">
                <a:solidFill>
                  <a:srgbClr val="202020"/>
                </a:solidFill>
                <a:latin typeface="Segoe UI"/>
              </a:rPr>
              <a:t>HTTPS 443</a:t>
            </a:r>
          </a:p>
          <a:p>
            <a:pPr algn="ctr"/>
            <a:r>
              <a:rPr sz="1100" b="1" i="0">
                <a:solidFill>
                  <a:srgbClr val="202020"/>
                </a:solidFill>
                <a:latin typeface="Segoe UI"/>
              </a:rPr>
              <a:t>outbound only</a:t>
            </a:r>
          </a:p>
        </p:txBody>
      </p:sp>
      <p:cxnSp>
        <p:nvCxnSpPr>
          <p:cNvPr id="21" name="Connector 20"/>
          <p:cNvCxnSpPr/>
          <p:nvPr/>
        </p:nvCxnSpPr>
        <p:spPr>
          <a:xfrm>
            <a:off x="5257800" y="3730752"/>
            <a:ext cx="1143000" cy="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175504" y="3858768"/>
            <a:ext cx="1298448" cy="731520"/>
          </a:xfrm>
          <a:prstGeom prst="rect">
            <a:avLst/>
          </a:prstGeom>
          <a:noFill/>
        </p:spPr>
        <p:txBody>
          <a:bodyPr wrap="square" anchor="t" lIns="0" rIns="0" tIns="0" bIns="0">
            <a:spAutoFit/>
          </a:bodyPr>
          <a:lstStyle/>
          <a:p>
            <a:pPr algn="ctr"/>
            <a:r>
              <a:rPr sz="1000" b="0" i="0">
                <a:solidFill>
                  <a:srgbClr val="545460"/>
                </a:solidFill>
                <a:latin typeface="Segoe UI"/>
              </a:rPr>
              <a:t>Direct, proxy,</a:t>
            </a:r>
          </a:p>
          <a:p>
            <a:pPr algn="ctr"/>
            <a:r>
              <a:rPr sz="1000" b="0" i="0">
                <a:solidFill>
                  <a:srgbClr val="545460"/>
                </a:solidFill>
                <a:latin typeface="Segoe UI"/>
              </a:rPr>
              <a:t>Arc gateway or</a:t>
            </a:r>
          </a:p>
          <a:p>
            <a:pPr algn="ctr"/>
            <a:r>
              <a:rPr sz="1000" b="0" i="0">
                <a:solidFill>
                  <a:srgbClr val="545460"/>
                </a:solidFill>
                <a:latin typeface="Segoe UI"/>
              </a:rPr>
              <a:t>Private Link</a:t>
            </a:r>
          </a:p>
        </p:txBody>
      </p:sp>
      <p:sp>
        <p:nvSpPr>
          <p:cNvPr id="23" name="Rounded Rectangle 22"/>
          <p:cNvSpPr/>
          <p:nvPr/>
        </p:nvSpPr>
        <p:spPr>
          <a:xfrm>
            <a:off x="6492240" y="1828800"/>
            <a:ext cx="5120640" cy="3794760"/>
          </a:xfrm>
          <a:prstGeom prst="roundRect">
            <a:avLst>
              <a:gd name="adj" fmla="val 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675120" y="1984248"/>
            <a:ext cx="4754880" cy="420624"/>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9712" y="1984248"/>
            <a:ext cx="4480560" cy="420624"/>
          </a:xfrm>
          <a:prstGeom prst="rect">
            <a:avLst/>
          </a:prstGeom>
          <a:noFill/>
        </p:spPr>
        <p:txBody>
          <a:bodyPr wrap="square" anchor="ctr" lIns="0" rIns="0" tIns="0" bIns="0">
            <a:spAutoFit/>
          </a:bodyPr>
          <a:lstStyle/>
          <a:p>
            <a:pPr algn="l"/>
            <a:r>
              <a:rPr sz="1400" b="1" i="0">
                <a:solidFill>
                  <a:srgbClr val="FFFFFF"/>
                </a:solidFill>
                <a:latin typeface="Segoe UI"/>
              </a:rPr>
              <a:t>Microsoft Azure</a:t>
            </a:r>
            <a:r>
              <a:rPr sz="1400" b="0" i="0">
                <a:solidFill>
                  <a:srgbClr val="FFFFFF"/>
                </a:solidFill>
                <a:latin typeface="Segoe UI"/>
              </a:rPr>
              <a:t xml:space="preserve">   management plane</a:t>
            </a:r>
          </a:p>
        </p:txBody>
      </p:sp>
      <p:sp>
        <p:nvSpPr>
          <p:cNvPr id="26" name="Rounded Rectangle 25"/>
          <p:cNvSpPr/>
          <p:nvPr/>
        </p:nvSpPr>
        <p:spPr>
          <a:xfrm>
            <a:off x="6675120" y="2560320"/>
            <a:ext cx="2331720" cy="896112"/>
          </a:xfrm>
          <a:prstGeom prst="roundRect">
            <a:avLst>
              <a:gd name="adj" fmla="val 10000"/>
            </a:avLst>
          </a:prstGeom>
          <a:solidFill>
            <a:srgbClr val="E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12280" y="2651760"/>
            <a:ext cx="2103120" cy="274320"/>
          </a:xfrm>
          <a:prstGeom prst="rect">
            <a:avLst/>
          </a:prstGeom>
          <a:noFill/>
        </p:spPr>
        <p:txBody>
          <a:bodyPr wrap="square" anchor="t" lIns="0" rIns="0" tIns="0" bIns="0">
            <a:spAutoFit/>
          </a:bodyPr>
          <a:lstStyle/>
          <a:p>
            <a:pPr algn="l"/>
            <a:r>
              <a:rPr sz="1300" b="1" i="0">
                <a:solidFill>
                  <a:srgbClr val="0078D4"/>
                </a:solidFill>
                <a:latin typeface="Segoe UI"/>
              </a:rPr>
              <a:t>Azure Arc</a:t>
            </a:r>
          </a:p>
        </p:txBody>
      </p:sp>
      <p:sp>
        <p:nvSpPr>
          <p:cNvPr id="28" name="TextBox 27"/>
          <p:cNvSpPr txBox="1"/>
          <p:nvPr/>
        </p:nvSpPr>
        <p:spPr>
          <a:xfrm>
            <a:off x="6812280" y="2944368"/>
            <a:ext cx="2103120" cy="475488"/>
          </a:xfrm>
          <a:prstGeom prst="rect">
            <a:avLst/>
          </a:prstGeom>
          <a:noFill/>
        </p:spPr>
        <p:txBody>
          <a:bodyPr wrap="square" anchor="t" lIns="0" rIns="0" tIns="0" bIns="0">
            <a:spAutoFit/>
          </a:bodyPr>
          <a:lstStyle/>
          <a:p>
            <a:pPr algn="l"/>
            <a:r>
              <a:rPr sz="1050" b="0" i="0">
                <a:solidFill>
                  <a:srgbClr val="202020"/>
                </a:solidFill>
                <a:latin typeface="Segoe UI"/>
              </a:rPr>
              <a:t>Machines, SQL instances, AG inventory and API</a:t>
            </a:r>
          </a:p>
        </p:txBody>
      </p:sp>
      <p:sp>
        <p:nvSpPr>
          <p:cNvPr id="29" name="Rounded Rectangle 28"/>
          <p:cNvSpPr/>
          <p:nvPr/>
        </p:nvSpPr>
        <p:spPr>
          <a:xfrm>
            <a:off x="9098280" y="2560320"/>
            <a:ext cx="2331720" cy="896112"/>
          </a:xfrm>
          <a:prstGeom prst="roundRect">
            <a:avLst>
              <a:gd name="adj" fmla="val 10000"/>
            </a:avLst>
          </a:prstGeom>
          <a:solidFill>
            <a:srgbClr val="EE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2651760"/>
            <a:ext cx="2103120" cy="274320"/>
          </a:xfrm>
          <a:prstGeom prst="rect">
            <a:avLst/>
          </a:prstGeom>
          <a:noFill/>
        </p:spPr>
        <p:txBody>
          <a:bodyPr wrap="square" anchor="t" lIns="0" rIns="0" tIns="0" bIns="0">
            <a:spAutoFit/>
          </a:bodyPr>
          <a:lstStyle/>
          <a:p>
            <a:pPr algn="l"/>
            <a:r>
              <a:rPr sz="1300" b="1" i="0">
                <a:solidFill>
                  <a:srgbClr val="8055C8"/>
                </a:solidFill>
                <a:latin typeface="Segoe UI"/>
              </a:rPr>
              <a:t>Update Manager</a:t>
            </a:r>
          </a:p>
        </p:txBody>
      </p:sp>
      <p:sp>
        <p:nvSpPr>
          <p:cNvPr id="31" name="TextBox 30"/>
          <p:cNvSpPr txBox="1"/>
          <p:nvPr/>
        </p:nvSpPr>
        <p:spPr>
          <a:xfrm>
            <a:off x="9235440" y="2944368"/>
            <a:ext cx="2103120" cy="475488"/>
          </a:xfrm>
          <a:prstGeom prst="rect">
            <a:avLst/>
          </a:prstGeom>
          <a:noFill/>
        </p:spPr>
        <p:txBody>
          <a:bodyPr wrap="square" anchor="t" lIns="0" rIns="0" tIns="0" bIns="0">
            <a:spAutoFit/>
          </a:bodyPr>
          <a:lstStyle/>
          <a:p>
            <a:pPr algn="l"/>
            <a:r>
              <a:rPr sz="1050" b="0" i="0">
                <a:solidFill>
                  <a:srgbClr val="202020"/>
                </a:solidFill>
                <a:latin typeface="Segoe UI"/>
              </a:rPr>
              <a:t>Assessment, schedules, pre/post events</a:t>
            </a:r>
          </a:p>
        </p:txBody>
      </p:sp>
      <p:sp>
        <p:nvSpPr>
          <p:cNvPr id="32" name="Rounded Rectangle 31"/>
          <p:cNvSpPr/>
          <p:nvPr/>
        </p:nvSpPr>
        <p:spPr>
          <a:xfrm>
            <a:off x="6675120" y="3566160"/>
            <a:ext cx="2331720" cy="896112"/>
          </a:xfrm>
          <a:prstGeom prst="roundRect">
            <a:avLst>
              <a:gd name="adj" fmla="val 10000"/>
            </a:avLst>
          </a:prstGeom>
          <a:solidFill>
            <a:srgbClr val="E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12280" y="3657600"/>
            <a:ext cx="2103120" cy="274320"/>
          </a:xfrm>
          <a:prstGeom prst="rect">
            <a:avLst/>
          </a:prstGeom>
          <a:noFill/>
        </p:spPr>
        <p:txBody>
          <a:bodyPr wrap="square" anchor="t" lIns="0" rIns="0" tIns="0" bIns="0">
            <a:spAutoFit/>
          </a:bodyPr>
          <a:lstStyle/>
          <a:p>
            <a:pPr algn="l"/>
            <a:r>
              <a:rPr sz="1300" b="1" i="0">
                <a:solidFill>
                  <a:srgbClr val="008F99"/>
                </a:solidFill>
                <a:latin typeface="Segoe UI"/>
              </a:rPr>
              <a:t>Event Grid</a:t>
            </a:r>
          </a:p>
        </p:txBody>
      </p:sp>
      <p:sp>
        <p:nvSpPr>
          <p:cNvPr id="34" name="TextBox 33"/>
          <p:cNvSpPr txBox="1"/>
          <p:nvPr/>
        </p:nvSpPr>
        <p:spPr>
          <a:xfrm>
            <a:off x="6812280" y="3950208"/>
            <a:ext cx="2103120" cy="475488"/>
          </a:xfrm>
          <a:prstGeom prst="rect">
            <a:avLst/>
          </a:prstGeom>
          <a:noFill/>
        </p:spPr>
        <p:txBody>
          <a:bodyPr wrap="square" anchor="t" lIns="0" rIns="0" tIns="0" bIns="0">
            <a:spAutoFit/>
          </a:bodyPr>
          <a:lstStyle/>
          <a:p>
            <a:pPr algn="l"/>
            <a:r>
              <a:rPr sz="1050" b="0" i="0">
                <a:solidFill>
                  <a:srgbClr val="202020"/>
                </a:solidFill>
                <a:latin typeface="Segoe UI"/>
              </a:rPr>
              <a:t>Delivers maintenance events to webhooks</a:t>
            </a:r>
          </a:p>
        </p:txBody>
      </p:sp>
      <p:sp>
        <p:nvSpPr>
          <p:cNvPr id="35" name="Rounded Rectangle 34"/>
          <p:cNvSpPr/>
          <p:nvPr/>
        </p:nvSpPr>
        <p:spPr>
          <a:xfrm>
            <a:off x="9098280" y="3566160"/>
            <a:ext cx="2331720" cy="896112"/>
          </a:xfrm>
          <a:prstGeom prst="roundRect">
            <a:avLst>
              <a:gd name="adj" fmla="val 1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5440" y="3657600"/>
            <a:ext cx="2103120" cy="274320"/>
          </a:xfrm>
          <a:prstGeom prst="rect">
            <a:avLst/>
          </a:prstGeom>
          <a:noFill/>
        </p:spPr>
        <p:txBody>
          <a:bodyPr wrap="square" anchor="t" lIns="0" rIns="0" tIns="0" bIns="0">
            <a:spAutoFit/>
          </a:bodyPr>
          <a:lstStyle/>
          <a:p>
            <a:pPr algn="l"/>
            <a:r>
              <a:rPr sz="1300" b="1" i="0">
                <a:solidFill>
                  <a:srgbClr val="167447"/>
                </a:solidFill>
                <a:latin typeface="Segoe UI"/>
              </a:rPr>
              <a:t>Automation</a:t>
            </a:r>
          </a:p>
        </p:txBody>
      </p:sp>
      <p:sp>
        <p:nvSpPr>
          <p:cNvPr id="37" name="TextBox 36"/>
          <p:cNvSpPr txBox="1"/>
          <p:nvPr/>
        </p:nvSpPr>
        <p:spPr>
          <a:xfrm>
            <a:off x="9235440" y="3950208"/>
            <a:ext cx="2103120" cy="475488"/>
          </a:xfrm>
          <a:prstGeom prst="rect">
            <a:avLst/>
          </a:prstGeom>
          <a:noFill/>
        </p:spPr>
        <p:txBody>
          <a:bodyPr wrap="square" anchor="t" lIns="0" rIns="0" tIns="0" bIns="0">
            <a:spAutoFit/>
          </a:bodyPr>
          <a:lstStyle/>
          <a:p>
            <a:pPr algn="l"/>
            <a:r>
              <a:rPr sz="1050" b="0" i="0">
                <a:solidFill>
                  <a:srgbClr val="202020"/>
                </a:solidFill>
                <a:latin typeface="Segoe UI"/>
              </a:rPr>
              <a:t>Runbooks with a managed identity</a:t>
            </a:r>
          </a:p>
        </p:txBody>
      </p:sp>
      <p:sp>
        <p:nvSpPr>
          <p:cNvPr id="38" name="Rounded Rectangle 37"/>
          <p:cNvSpPr/>
          <p:nvPr/>
        </p:nvSpPr>
        <p:spPr>
          <a:xfrm>
            <a:off x="6675120" y="4572000"/>
            <a:ext cx="2331720" cy="896112"/>
          </a:xfrm>
          <a:prstGeom prst="roundRect">
            <a:avLst>
              <a:gd name="adj" fmla="val 10000"/>
            </a:avLst>
          </a:prstGeom>
          <a:solidFill>
            <a:srgbClr val="E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12280" y="4663440"/>
            <a:ext cx="2103120" cy="274320"/>
          </a:xfrm>
          <a:prstGeom prst="rect">
            <a:avLst/>
          </a:prstGeom>
          <a:noFill/>
        </p:spPr>
        <p:txBody>
          <a:bodyPr wrap="square" anchor="t" lIns="0" rIns="0" tIns="0" bIns="0">
            <a:spAutoFit/>
          </a:bodyPr>
          <a:lstStyle/>
          <a:p>
            <a:pPr algn="l"/>
            <a:r>
              <a:rPr sz="1300" b="1" i="0">
                <a:solidFill>
                  <a:srgbClr val="0078D4"/>
                </a:solidFill>
                <a:latin typeface="Segoe UI"/>
              </a:rPr>
              <a:t>Azure Monitor</a:t>
            </a:r>
          </a:p>
        </p:txBody>
      </p:sp>
      <p:sp>
        <p:nvSpPr>
          <p:cNvPr id="40" name="TextBox 39"/>
          <p:cNvSpPr txBox="1"/>
          <p:nvPr/>
        </p:nvSpPr>
        <p:spPr>
          <a:xfrm>
            <a:off x="6812280" y="4956048"/>
            <a:ext cx="2103120" cy="475488"/>
          </a:xfrm>
          <a:prstGeom prst="rect">
            <a:avLst/>
          </a:prstGeom>
          <a:noFill/>
        </p:spPr>
        <p:txBody>
          <a:bodyPr wrap="square" anchor="t" lIns="0" rIns="0" tIns="0" bIns="0">
            <a:spAutoFit/>
          </a:bodyPr>
          <a:lstStyle/>
          <a:p>
            <a:pPr algn="l"/>
            <a:r>
              <a:rPr sz="1050" b="0" i="0">
                <a:solidFill>
                  <a:srgbClr val="202020"/>
                </a:solidFill>
                <a:latin typeface="Segoe UI"/>
              </a:rPr>
              <a:t>Dashboards, Log Analytics, alerts</a:t>
            </a:r>
          </a:p>
        </p:txBody>
      </p:sp>
      <p:sp>
        <p:nvSpPr>
          <p:cNvPr id="41" name="Rounded Rectangle 40"/>
          <p:cNvSpPr/>
          <p:nvPr/>
        </p:nvSpPr>
        <p:spPr>
          <a:xfrm>
            <a:off x="9098280" y="4572000"/>
            <a:ext cx="2331720" cy="896112"/>
          </a:xfrm>
          <a:prstGeom prst="roundRect">
            <a:avLst>
              <a:gd name="adj" fmla="val 10000"/>
            </a:avLst>
          </a:prstGeom>
          <a:solidFill>
            <a:srgbClr val="EE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35440" y="4663440"/>
            <a:ext cx="2103120" cy="274320"/>
          </a:xfrm>
          <a:prstGeom prst="rect">
            <a:avLst/>
          </a:prstGeom>
          <a:noFill/>
        </p:spPr>
        <p:txBody>
          <a:bodyPr wrap="square" anchor="t" lIns="0" rIns="0" tIns="0" bIns="0">
            <a:spAutoFit/>
          </a:bodyPr>
          <a:lstStyle/>
          <a:p>
            <a:pPr algn="l"/>
            <a:r>
              <a:rPr sz="1300" b="1" i="0">
                <a:solidFill>
                  <a:srgbClr val="8055C8"/>
                </a:solidFill>
                <a:latin typeface="Segoe UI"/>
              </a:rPr>
              <a:t>Resource Graph</a:t>
            </a:r>
          </a:p>
        </p:txBody>
      </p:sp>
      <p:sp>
        <p:nvSpPr>
          <p:cNvPr id="43" name="TextBox 42"/>
          <p:cNvSpPr txBox="1"/>
          <p:nvPr/>
        </p:nvSpPr>
        <p:spPr>
          <a:xfrm>
            <a:off x="9235440" y="4956048"/>
            <a:ext cx="2103120" cy="475488"/>
          </a:xfrm>
          <a:prstGeom prst="rect">
            <a:avLst/>
          </a:prstGeom>
          <a:noFill/>
        </p:spPr>
        <p:txBody>
          <a:bodyPr wrap="square" anchor="t" lIns="0" rIns="0" tIns="0" bIns="0">
            <a:spAutoFit/>
          </a:bodyPr>
          <a:lstStyle/>
          <a:p>
            <a:pPr algn="l"/>
            <a:r>
              <a:rPr sz="1050" b="0" i="0">
                <a:solidFill>
                  <a:srgbClr val="202020"/>
                </a:solidFill>
                <a:latin typeface="Segoe UI"/>
              </a:rPr>
              <a:t>Estate-wide queries and reporting</a:t>
            </a:r>
          </a:p>
        </p:txBody>
      </p:sp>
      <p:sp>
        <p:nvSpPr>
          <p:cNvPr id="44" name="Rounded Rectangle 43"/>
          <p:cNvSpPr/>
          <p:nvPr/>
        </p:nvSpPr>
        <p:spPr>
          <a:xfrm>
            <a:off x="585216" y="5760720"/>
            <a:ext cx="11027664" cy="502920"/>
          </a:xfrm>
          <a:prstGeom prst="roundRect">
            <a:avLst>
              <a:gd name="adj" fmla="val 15000"/>
            </a:avLst>
          </a:prstGeom>
          <a:solidFill>
            <a:srgbClr val="E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6384" y="5760720"/>
            <a:ext cx="10607040" cy="502920"/>
          </a:xfrm>
          <a:prstGeom prst="rect">
            <a:avLst/>
          </a:prstGeom>
          <a:noFill/>
        </p:spPr>
        <p:txBody>
          <a:bodyPr wrap="square" anchor="ctr" lIns="0" rIns="0" tIns="0" bIns="0">
            <a:spAutoFit/>
          </a:bodyPr>
          <a:lstStyle/>
          <a:p>
            <a:pPr algn="l"/>
            <a:r>
              <a:rPr sz="1450" b="1" i="0">
                <a:solidFill>
                  <a:srgbClr val="0078D4"/>
                </a:solidFill>
                <a:latin typeface="Segoe UI"/>
              </a:rPr>
              <a:t>No inbound ports or VPN for management. Runbooks call Azure APIs only; they never connect to SQL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02  |  Onboarding EC2 SQL Servers</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Four steps per server, all repeatable at scale. The license type decides which SQL features you get.</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3813048" y="6492240"/>
            <a:ext cx="4572000" cy="265176"/>
          </a:xfrm>
          <a:prstGeom prst="rect">
            <a:avLst/>
          </a:prstGeom>
          <a:noFill/>
        </p:spPr>
        <p:txBody>
          <a:bodyPr wrap="square" anchor="t" lIns="0" rIns="0" tIns="0" bIns="0">
            <a:spAutoFit/>
          </a:bodyPr>
          <a:lstStyle/>
          <a:p>
            <a:pPr algn="ctr"/>
            <a:r>
              <a:rPr sz="1000" b="0" i="0">
                <a:solidFill>
                  <a:srgbClr val="0078D4"/>
                </a:solidFill>
                <a:latin typeface="Segoe UI"/>
              </a:rPr>
              <a:t>Source: SQL Server enabled by Azure Arc licensing (Learn)</a:t>
            </a:r>
          </a:p>
        </p:txBody>
      </p:sp>
      <p:sp>
        <p:nvSpPr>
          <p:cNvPr id="6" name="TextBox 5"/>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05</a:t>
            </a:r>
          </a:p>
        </p:txBody>
      </p:sp>
      <p:sp>
        <p:nvSpPr>
          <p:cNvPr id="7" name="Rounded Rectangle 6"/>
          <p:cNvSpPr/>
          <p:nvPr/>
        </p:nvSpPr>
        <p:spPr>
          <a:xfrm>
            <a:off x="585216" y="1783080"/>
            <a:ext cx="2395728" cy="16916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892807"/>
            <a:ext cx="2011680" cy="228600"/>
          </a:xfrm>
          <a:prstGeom prst="rect">
            <a:avLst/>
          </a:prstGeom>
          <a:noFill/>
        </p:spPr>
        <p:txBody>
          <a:bodyPr wrap="square" anchor="t" lIns="0" rIns="0" tIns="0" bIns="0">
            <a:spAutoFit/>
          </a:bodyPr>
          <a:lstStyle/>
          <a:p>
            <a:pPr algn="l"/>
            <a:r>
              <a:rPr sz="1000" b="1" i="0">
                <a:solidFill>
                  <a:srgbClr val="545460"/>
                </a:solidFill>
                <a:latin typeface="Segoe UI"/>
              </a:rPr>
              <a:t>STEP 1</a:t>
            </a:r>
          </a:p>
        </p:txBody>
      </p:sp>
      <p:sp>
        <p:nvSpPr>
          <p:cNvPr id="9" name="TextBox 8"/>
          <p:cNvSpPr txBox="1"/>
          <p:nvPr/>
        </p:nvSpPr>
        <p:spPr>
          <a:xfrm>
            <a:off x="768096" y="2103120"/>
            <a:ext cx="2057400" cy="365760"/>
          </a:xfrm>
          <a:prstGeom prst="rect">
            <a:avLst/>
          </a:prstGeom>
          <a:noFill/>
        </p:spPr>
        <p:txBody>
          <a:bodyPr wrap="square" anchor="t" lIns="0" rIns="0" tIns="0" bIns="0">
            <a:spAutoFit/>
          </a:bodyPr>
          <a:lstStyle/>
          <a:p>
            <a:pPr algn="l"/>
            <a:r>
              <a:rPr sz="1700" b="1" i="0">
                <a:solidFill>
                  <a:srgbClr val="0078D4"/>
                </a:solidFill>
                <a:latin typeface="Segoe UI"/>
              </a:rPr>
              <a:t>Connect to Arc</a:t>
            </a:r>
          </a:p>
        </p:txBody>
      </p:sp>
      <p:sp>
        <p:nvSpPr>
          <p:cNvPr id="10" name="TextBox 9"/>
          <p:cNvSpPr txBox="1"/>
          <p:nvPr/>
        </p:nvSpPr>
        <p:spPr>
          <a:xfrm>
            <a:off x="768096" y="2514600"/>
            <a:ext cx="2057400" cy="914400"/>
          </a:xfrm>
          <a:prstGeom prst="rect">
            <a:avLst/>
          </a:prstGeom>
          <a:noFill/>
        </p:spPr>
        <p:txBody>
          <a:bodyPr wrap="square" anchor="t" lIns="0" rIns="0" tIns="0" bIns="0">
            <a:spAutoFit/>
          </a:bodyPr>
          <a:lstStyle/>
          <a:p>
            <a:pPr algn="l"/>
            <a:r>
              <a:rPr sz="1150" b="0" i="0">
                <a:solidFill>
                  <a:srgbClr val="202020"/>
                </a:solidFill>
                <a:latin typeface="Segoe UI"/>
              </a:rPr>
              <a:t>Multicloud connector discovers EC2 and installs the agent via AWS Systems Manager, or use the at-scale script.</a:t>
            </a:r>
          </a:p>
        </p:txBody>
      </p:sp>
      <p:cxnSp>
        <p:nvCxnSpPr>
          <p:cNvPr id="11" name="Connector 10"/>
          <p:cNvCxnSpPr/>
          <p:nvPr/>
        </p:nvCxnSpPr>
        <p:spPr>
          <a:xfrm>
            <a:off x="3035808" y="2624328"/>
            <a:ext cx="374904" cy="0"/>
          </a:xfrm>
          <a:prstGeom prst="line">
            <a:avLst/>
          </a:prstGeom>
          <a:ln w="22225">
            <a:solidFill>
              <a:srgbClr val="8055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65576" y="1783080"/>
            <a:ext cx="2395728" cy="16916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8456" y="1892807"/>
            <a:ext cx="2011680" cy="228600"/>
          </a:xfrm>
          <a:prstGeom prst="rect">
            <a:avLst/>
          </a:prstGeom>
          <a:noFill/>
        </p:spPr>
        <p:txBody>
          <a:bodyPr wrap="square" anchor="t" lIns="0" rIns="0" tIns="0" bIns="0">
            <a:spAutoFit/>
          </a:bodyPr>
          <a:lstStyle/>
          <a:p>
            <a:pPr algn="l"/>
            <a:r>
              <a:rPr sz="1000" b="1" i="0">
                <a:solidFill>
                  <a:srgbClr val="545460"/>
                </a:solidFill>
                <a:latin typeface="Segoe UI"/>
              </a:rPr>
              <a:t>STEP 2</a:t>
            </a:r>
          </a:p>
        </p:txBody>
      </p:sp>
      <p:sp>
        <p:nvSpPr>
          <p:cNvPr id="14" name="TextBox 13"/>
          <p:cNvSpPr txBox="1"/>
          <p:nvPr/>
        </p:nvSpPr>
        <p:spPr>
          <a:xfrm>
            <a:off x="3648456" y="2103120"/>
            <a:ext cx="2057400" cy="365760"/>
          </a:xfrm>
          <a:prstGeom prst="rect">
            <a:avLst/>
          </a:prstGeom>
          <a:noFill/>
        </p:spPr>
        <p:txBody>
          <a:bodyPr wrap="square" anchor="t" lIns="0" rIns="0" tIns="0" bIns="0">
            <a:spAutoFit/>
          </a:bodyPr>
          <a:lstStyle/>
          <a:p>
            <a:pPr algn="l"/>
            <a:r>
              <a:rPr sz="1700" b="1" i="0">
                <a:solidFill>
                  <a:srgbClr val="8055C8"/>
                </a:solidFill>
                <a:latin typeface="Segoe UI"/>
              </a:rPr>
              <a:t>Discover SQL</a:t>
            </a:r>
          </a:p>
        </p:txBody>
      </p:sp>
      <p:sp>
        <p:nvSpPr>
          <p:cNvPr id="15" name="TextBox 14"/>
          <p:cNvSpPr txBox="1"/>
          <p:nvPr/>
        </p:nvSpPr>
        <p:spPr>
          <a:xfrm>
            <a:off x="3648456" y="2514600"/>
            <a:ext cx="2057400" cy="914400"/>
          </a:xfrm>
          <a:prstGeom prst="rect">
            <a:avLst/>
          </a:prstGeom>
          <a:noFill/>
        </p:spPr>
        <p:txBody>
          <a:bodyPr wrap="square" anchor="t" lIns="0" rIns="0" tIns="0" bIns="0">
            <a:spAutoFit/>
          </a:bodyPr>
          <a:lstStyle/>
          <a:p>
            <a:pPr algn="l"/>
            <a:r>
              <a:rPr sz="1150" b="0" i="0">
                <a:solidFill>
                  <a:srgbClr val="202020"/>
                </a:solidFill>
                <a:latin typeface="Segoe UI"/>
              </a:rPr>
              <a:t>The SQL extension registers instances, databases and availability groups.</a:t>
            </a:r>
          </a:p>
        </p:txBody>
      </p:sp>
      <p:cxnSp>
        <p:nvCxnSpPr>
          <p:cNvPr id="16" name="Connector 15"/>
          <p:cNvCxnSpPr/>
          <p:nvPr/>
        </p:nvCxnSpPr>
        <p:spPr>
          <a:xfrm>
            <a:off x="5916168" y="2624328"/>
            <a:ext cx="374904" cy="0"/>
          </a:xfrm>
          <a:prstGeom prst="line">
            <a:avLst/>
          </a:prstGeom>
          <a:ln w="22225">
            <a:solidFill>
              <a:srgbClr val="8055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336792" y="1783080"/>
            <a:ext cx="2395728" cy="16916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1892807"/>
            <a:ext cx="2011680" cy="228600"/>
          </a:xfrm>
          <a:prstGeom prst="rect">
            <a:avLst/>
          </a:prstGeom>
          <a:noFill/>
        </p:spPr>
        <p:txBody>
          <a:bodyPr wrap="square" anchor="t" lIns="0" rIns="0" tIns="0" bIns="0">
            <a:spAutoFit/>
          </a:bodyPr>
          <a:lstStyle/>
          <a:p>
            <a:pPr algn="l"/>
            <a:r>
              <a:rPr sz="1000" b="1" i="0">
                <a:solidFill>
                  <a:srgbClr val="545460"/>
                </a:solidFill>
                <a:latin typeface="Segoe UI"/>
              </a:rPr>
              <a:t>STEP 3</a:t>
            </a:r>
          </a:p>
        </p:txBody>
      </p:sp>
      <p:sp>
        <p:nvSpPr>
          <p:cNvPr id="19" name="TextBox 18"/>
          <p:cNvSpPr txBox="1"/>
          <p:nvPr/>
        </p:nvSpPr>
        <p:spPr>
          <a:xfrm>
            <a:off x="6519672" y="2103120"/>
            <a:ext cx="2057400" cy="365760"/>
          </a:xfrm>
          <a:prstGeom prst="rect">
            <a:avLst/>
          </a:prstGeom>
          <a:noFill/>
        </p:spPr>
        <p:txBody>
          <a:bodyPr wrap="square" anchor="t" lIns="0" rIns="0" tIns="0" bIns="0">
            <a:spAutoFit/>
          </a:bodyPr>
          <a:lstStyle/>
          <a:p>
            <a:pPr algn="l"/>
            <a:r>
              <a:rPr sz="1700" b="1" i="0">
                <a:solidFill>
                  <a:srgbClr val="008F99"/>
                </a:solidFill>
                <a:latin typeface="Segoe UI"/>
              </a:rPr>
              <a:t>Set license type</a:t>
            </a:r>
          </a:p>
        </p:txBody>
      </p:sp>
      <p:sp>
        <p:nvSpPr>
          <p:cNvPr id="20" name="TextBox 19"/>
          <p:cNvSpPr txBox="1"/>
          <p:nvPr/>
        </p:nvSpPr>
        <p:spPr>
          <a:xfrm>
            <a:off x="6519672" y="2514600"/>
            <a:ext cx="2057400" cy="914400"/>
          </a:xfrm>
          <a:prstGeom prst="rect">
            <a:avLst/>
          </a:prstGeom>
          <a:noFill/>
        </p:spPr>
        <p:txBody>
          <a:bodyPr wrap="square" anchor="t" lIns="0" rIns="0" tIns="0" bIns="0">
            <a:spAutoFit/>
          </a:bodyPr>
          <a:lstStyle/>
          <a:p>
            <a:pPr algn="l"/>
            <a:r>
              <a:rPr sz="1150" b="0" i="0">
                <a:solidFill>
                  <a:srgbClr val="202020"/>
                </a:solidFill>
                <a:latin typeface="Segoe UI"/>
              </a:rPr>
              <a:t>License only, Paid (SA) or PAYG. Required when the extension installs.</a:t>
            </a:r>
          </a:p>
        </p:txBody>
      </p:sp>
      <p:cxnSp>
        <p:nvCxnSpPr>
          <p:cNvPr id="21" name="Connector 20"/>
          <p:cNvCxnSpPr/>
          <p:nvPr/>
        </p:nvCxnSpPr>
        <p:spPr>
          <a:xfrm>
            <a:off x="8787384" y="2624328"/>
            <a:ext cx="374904" cy="0"/>
          </a:xfrm>
          <a:prstGeom prst="line">
            <a:avLst/>
          </a:prstGeom>
          <a:ln w="22225">
            <a:solidFill>
              <a:srgbClr val="8055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17152" y="1783080"/>
            <a:ext cx="2395728" cy="1691640"/>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1892807"/>
            <a:ext cx="2011680" cy="228600"/>
          </a:xfrm>
          <a:prstGeom prst="rect">
            <a:avLst/>
          </a:prstGeom>
          <a:noFill/>
        </p:spPr>
        <p:txBody>
          <a:bodyPr wrap="square" anchor="t" lIns="0" rIns="0" tIns="0" bIns="0">
            <a:spAutoFit/>
          </a:bodyPr>
          <a:lstStyle/>
          <a:p>
            <a:pPr algn="l"/>
            <a:r>
              <a:rPr sz="1000" b="1" i="0">
                <a:solidFill>
                  <a:srgbClr val="545460"/>
                </a:solidFill>
                <a:latin typeface="Segoe UI"/>
              </a:rPr>
              <a:t>STEP 4</a:t>
            </a:r>
          </a:p>
        </p:txBody>
      </p:sp>
      <p:sp>
        <p:nvSpPr>
          <p:cNvPr id="24" name="TextBox 23"/>
          <p:cNvSpPr txBox="1"/>
          <p:nvPr/>
        </p:nvSpPr>
        <p:spPr>
          <a:xfrm>
            <a:off x="9400032" y="2103120"/>
            <a:ext cx="2057400" cy="365760"/>
          </a:xfrm>
          <a:prstGeom prst="rect">
            <a:avLst/>
          </a:prstGeom>
          <a:noFill/>
        </p:spPr>
        <p:txBody>
          <a:bodyPr wrap="square" anchor="t" lIns="0" rIns="0" tIns="0" bIns="0">
            <a:spAutoFit/>
          </a:bodyPr>
          <a:lstStyle/>
          <a:p>
            <a:pPr algn="l"/>
            <a:r>
              <a:rPr sz="1700" b="1" i="0">
                <a:solidFill>
                  <a:srgbClr val="167447"/>
                </a:solidFill>
                <a:latin typeface="Segoe UI"/>
              </a:rPr>
              <a:t>Prepare updates</a:t>
            </a:r>
          </a:p>
        </p:txBody>
      </p:sp>
      <p:sp>
        <p:nvSpPr>
          <p:cNvPr id="25" name="TextBox 24"/>
          <p:cNvSpPr txBox="1"/>
          <p:nvPr/>
        </p:nvSpPr>
        <p:spPr>
          <a:xfrm>
            <a:off x="9400032" y="2514600"/>
            <a:ext cx="2057400" cy="914400"/>
          </a:xfrm>
          <a:prstGeom prst="rect">
            <a:avLst/>
          </a:prstGeom>
          <a:noFill/>
        </p:spPr>
        <p:txBody>
          <a:bodyPr wrap="square" anchor="t" lIns="0" rIns="0" tIns="0" bIns="0">
            <a:spAutoFit/>
          </a:bodyPr>
          <a:lstStyle/>
          <a:p>
            <a:pPr algn="l"/>
            <a:r>
              <a:rPr sz="1150" b="0" i="0">
                <a:solidFill>
                  <a:srgbClr val="202020"/>
                </a:solidFill>
                <a:latin typeface="Segoe UI"/>
              </a:rPr>
              <a:t>Opt in to Microsoft Update for SQL CUs. Windows Update set to notify only.</a:t>
            </a:r>
          </a:p>
        </p:txBody>
      </p:sp>
      <p:sp>
        <p:nvSpPr>
          <p:cNvPr id="26" name="TextBox 25"/>
          <p:cNvSpPr txBox="1"/>
          <p:nvPr/>
        </p:nvSpPr>
        <p:spPr>
          <a:xfrm>
            <a:off x="612648" y="3657600"/>
            <a:ext cx="6858000" cy="274320"/>
          </a:xfrm>
          <a:prstGeom prst="rect">
            <a:avLst/>
          </a:prstGeom>
          <a:noFill/>
        </p:spPr>
        <p:txBody>
          <a:bodyPr wrap="square" anchor="t" lIns="0" rIns="0" tIns="0" bIns="0">
            <a:spAutoFit/>
          </a:bodyPr>
          <a:lstStyle/>
          <a:p>
            <a:pPr algn="l"/>
            <a:r>
              <a:rPr sz="1300" b="1" i="0">
                <a:solidFill>
                  <a:srgbClr val="545460"/>
                </a:solidFill>
                <a:latin typeface="Segoe UI"/>
              </a:rPr>
              <a:t>WHAT EACH LICENSE TYPE INCLUDES</a:t>
            </a:r>
          </a:p>
        </p:txBody>
      </p:sp>
      <p:sp>
        <p:nvSpPr>
          <p:cNvPr id="27" name="Rounded Rectangle 26"/>
          <p:cNvSpPr/>
          <p:nvPr/>
        </p:nvSpPr>
        <p:spPr>
          <a:xfrm>
            <a:off x="585216" y="4005072"/>
            <a:ext cx="6949440" cy="2286000"/>
          </a:xfrm>
          <a:prstGeom prst="roundRect">
            <a:avLst>
              <a:gd name="adj" fmla="val 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4096512"/>
            <a:ext cx="3291840" cy="274320"/>
          </a:xfrm>
          <a:prstGeom prst="rect">
            <a:avLst/>
          </a:prstGeom>
          <a:noFill/>
        </p:spPr>
        <p:txBody>
          <a:bodyPr wrap="square" anchor="t" lIns="0" rIns="0" tIns="0" bIns="0">
            <a:spAutoFit/>
          </a:bodyPr>
          <a:lstStyle/>
          <a:p>
            <a:pPr algn="l"/>
            <a:r>
              <a:rPr sz="1200" b="1" i="0">
                <a:solidFill>
                  <a:srgbClr val="0078D4"/>
                </a:solidFill>
                <a:latin typeface="Segoe UI"/>
              </a:rPr>
              <a:t>Feature</a:t>
            </a:r>
          </a:p>
        </p:txBody>
      </p:sp>
      <p:sp>
        <p:nvSpPr>
          <p:cNvPr id="29" name="TextBox 28"/>
          <p:cNvSpPr txBox="1"/>
          <p:nvPr/>
        </p:nvSpPr>
        <p:spPr>
          <a:xfrm>
            <a:off x="4023360" y="4096512"/>
            <a:ext cx="1143000" cy="274320"/>
          </a:xfrm>
          <a:prstGeom prst="rect">
            <a:avLst/>
          </a:prstGeom>
          <a:noFill/>
        </p:spPr>
        <p:txBody>
          <a:bodyPr wrap="square" anchor="t" lIns="0" rIns="0" tIns="0" bIns="0">
            <a:spAutoFit/>
          </a:bodyPr>
          <a:lstStyle/>
          <a:p>
            <a:pPr algn="ctr"/>
            <a:r>
              <a:rPr sz="1200" b="1" i="0">
                <a:solidFill>
                  <a:srgbClr val="0078D4"/>
                </a:solidFill>
                <a:latin typeface="Segoe UI"/>
              </a:rPr>
              <a:t>License only</a:t>
            </a:r>
          </a:p>
        </p:txBody>
      </p:sp>
      <p:sp>
        <p:nvSpPr>
          <p:cNvPr id="30" name="TextBox 29"/>
          <p:cNvSpPr txBox="1"/>
          <p:nvPr/>
        </p:nvSpPr>
        <p:spPr>
          <a:xfrm>
            <a:off x="5166360" y="4096512"/>
            <a:ext cx="1143000" cy="274320"/>
          </a:xfrm>
          <a:prstGeom prst="rect">
            <a:avLst/>
          </a:prstGeom>
          <a:noFill/>
        </p:spPr>
        <p:txBody>
          <a:bodyPr wrap="square" anchor="t" lIns="0" rIns="0" tIns="0" bIns="0">
            <a:spAutoFit/>
          </a:bodyPr>
          <a:lstStyle/>
          <a:p>
            <a:pPr algn="ctr"/>
            <a:r>
              <a:rPr sz="1200" b="1" i="0">
                <a:solidFill>
                  <a:srgbClr val="0078D4"/>
                </a:solidFill>
                <a:latin typeface="Segoe UI"/>
              </a:rPr>
              <a:t>Paid (SA)</a:t>
            </a:r>
          </a:p>
        </p:txBody>
      </p:sp>
      <p:sp>
        <p:nvSpPr>
          <p:cNvPr id="31" name="TextBox 30"/>
          <p:cNvSpPr txBox="1"/>
          <p:nvPr/>
        </p:nvSpPr>
        <p:spPr>
          <a:xfrm>
            <a:off x="6309360" y="4096512"/>
            <a:ext cx="1097280" cy="274320"/>
          </a:xfrm>
          <a:prstGeom prst="rect">
            <a:avLst/>
          </a:prstGeom>
          <a:noFill/>
        </p:spPr>
        <p:txBody>
          <a:bodyPr wrap="square" anchor="t" lIns="0" rIns="0" tIns="0" bIns="0">
            <a:spAutoFit/>
          </a:bodyPr>
          <a:lstStyle/>
          <a:p>
            <a:pPr algn="ctr"/>
            <a:r>
              <a:rPr sz="1200" b="1" i="0">
                <a:solidFill>
                  <a:srgbClr val="0078D4"/>
                </a:solidFill>
                <a:latin typeface="Segoe UI"/>
              </a:rPr>
              <a:t>PAYG</a:t>
            </a:r>
          </a:p>
        </p:txBody>
      </p:sp>
      <p:cxnSp>
        <p:nvCxnSpPr>
          <p:cNvPr id="32" name="Connector 31"/>
          <p:cNvCxnSpPr/>
          <p:nvPr/>
        </p:nvCxnSpPr>
        <p:spPr>
          <a:xfrm>
            <a:off x="768096" y="4425696"/>
            <a:ext cx="6583679"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68096" y="4462272"/>
            <a:ext cx="3291840" cy="292608"/>
          </a:xfrm>
          <a:prstGeom prst="rect">
            <a:avLst/>
          </a:prstGeom>
          <a:noFill/>
        </p:spPr>
        <p:txBody>
          <a:bodyPr wrap="square" anchor="t" lIns="0" rIns="0" tIns="0" bIns="0">
            <a:spAutoFit/>
          </a:bodyPr>
          <a:lstStyle/>
          <a:p>
            <a:pPr algn="l"/>
            <a:r>
              <a:rPr sz="1150" b="0" i="0">
                <a:solidFill>
                  <a:srgbClr val="202020"/>
                </a:solidFill>
                <a:latin typeface="Segoe UI"/>
              </a:rPr>
              <a:t>Inventory, AG management, Defender</a:t>
            </a:r>
          </a:p>
        </p:txBody>
      </p:sp>
      <p:sp>
        <p:nvSpPr>
          <p:cNvPr id="34" name="TextBox 33"/>
          <p:cNvSpPr txBox="1"/>
          <p:nvPr/>
        </p:nvSpPr>
        <p:spPr>
          <a:xfrm>
            <a:off x="4023360" y="4434840"/>
            <a:ext cx="114300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sp>
        <p:nvSpPr>
          <p:cNvPr id="35" name="TextBox 34"/>
          <p:cNvSpPr txBox="1"/>
          <p:nvPr/>
        </p:nvSpPr>
        <p:spPr>
          <a:xfrm>
            <a:off x="5166360" y="4434840"/>
            <a:ext cx="114300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sp>
        <p:nvSpPr>
          <p:cNvPr id="36" name="TextBox 35"/>
          <p:cNvSpPr txBox="1"/>
          <p:nvPr/>
        </p:nvSpPr>
        <p:spPr>
          <a:xfrm>
            <a:off x="6309360" y="4434840"/>
            <a:ext cx="109728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cxnSp>
        <p:nvCxnSpPr>
          <p:cNvPr id="37" name="Connector 36"/>
          <p:cNvCxnSpPr/>
          <p:nvPr/>
        </p:nvCxnSpPr>
        <p:spPr>
          <a:xfrm>
            <a:off x="768096" y="4773168"/>
            <a:ext cx="6583679"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68096" y="4809744"/>
            <a:ext cx="3291840" cy="292608"/>
          </a:xfrm>
          <a:prstGeom prst="rect">
            <a:avLst/>
          </a:prstGeom>
          <a:noFill/>
        </p:spPr>
        <p:txBody>
          <a:bodyPr wrap="square" anchor="t" lIns="0" rIns="0" tIns="0" bIns="0">
            <a:spAutoFit/>
          </a:bodyPr>
          <a:lstStyle/>
          <a:p>
            <a:pPr algn="l"/>
            <a:r>
              <a:rPr sz="1150" b="0" i="0">
                <a:solidFill>
                  <a:srgbClr val="202020"/>
                </a:solidFill>
                <a:latin typeface="Segoe UI"/>
              </a:rPr>
              <a:t>Update Manager patching (machine level)</a:t>
            </a:r>
          </a:p>
        </p:txBody>
      </p:sp>
      <p:sp>
        <p:nvSpPr>
          <p:cNvPr id="39" name="TextBox 38"/>
          <p:cNvSpPr txBox="1"/>
          <p:nvPr/>
        </p:nvSpPr>
        <p:spPr>
          <a:xfrm>
            <a:off x="4023360" y="4782312"/>
            <a:ext cx="114300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sp>
        <p:nvSpPr>
          <p:cNvPr id="40" name="TextBox 39"/>
          <p:cNvSpPr txBox="1"/>
          <p:nvPr/>
        </p:nvSpPr>
        <p:spPr>
          <a:xfrm>
            <a:off x="5166360" y="4782312"/>
            <a:ext cx="114300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sp>
        <p:nvSpPr>
          <p:cNvPr id="41" name="TextBox 40"/>
          <p:cNvSpPr txBox="1"/>
          <p:nvPr/>
        </p:nvSpPr>
        <p:spPr>
          <a:xfrm>
            <a:off x="6309360" y="4782312"/>
            <a:ext cx="109728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cxnSp>
        <p:nvCxnSpPr>
          <p:cNvPr id="42" name="Connector 41"/>
          <p:cNvCxnSpPr/>
          <p:nvPr/>
        </p:nvCxnSpPr>
        <p:spPr>
          <a:xfrm>
            <a:off x="768096" y="5120640"/>
            <a:ext cx="6583679"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68096" y="5157216"/>
            <a:ext cx="3291840" cy="292608"/>
          </a:xfrm>
          <a:prstGeom prst="rect">
            <a:avLst/>
          </a:prstGeom>
          <a:noFill/>
        </p:spPr>
        <p:txBody>
          <a:bodyPr wrap="square" anchor="t" lIns="0" rIns="0" tIns="0" bIns="0">
            <a:spAutoFit/>
          </a:bodyPr>
          <a:lstStyle/>
          <a:p>
            <a:pPr algn="l"/>
            <a:r>
              <a:rPr sz="1150" b="0" i="0">
                <a:solidFill>
                  <a:srgbClr val="202020"/>
                </a:solidFill>
                <a:latin typeface="Segoe UI"/>
              </a:rPr>
              <a:t>Performance dashboard (preview)</a:t>
            </a:r>
          </a:p>
        </p:txBody>
      </p:sp>
      <p:sp>
        <p:nvSpPr>
          <p:cNvPr id="44" name="TextBox 43"/>
          <p:cNvSpPr txBox="1"/>
          <p:nvPr/>
        </p:nvSpPr>
        <p:spPr>
          <a:xfrm>
            <a:off x="4023360" y="5129783"/>
            <a:ext cx="1143000" cy="310896"/>
          </a:xfrm>
          <a:prstGeom prst="rect">
            <a:avLst/>
          </a:prstGeom>
          <a:noFill/>
        </p:spPr>
        <p:txBody>
          <a:bodyPr wrap="square" anchor="t" lIns="0" rIns="0" tIns="0" bIns="0">
            <a:spAutoFit/>
          </a:bodyPr>
          <a:lstStyle/>
          <a:p>
            <a:pPr algn="ctr"/>
            <a:r>
              <a:rPr sz="1300" b="1" i="0">
                <a:solidFill>
                  <a:srgbClr val="C50F1F"/>
                </a:solidFill>
                <a:latin typeface="Segoe UI Symbol"/>
              </a:rPr>
              <a:t>✖</a:t>
            </a:r>
          </a:p>
        </p:txBody>
      </p:sp>
      <p:sp>
        <p:nvSpPr>
          <p:cNvPr id="45" name="TextBox 44"/>
          <p:cNvSpPr txBox="1"/>
          <p:nvPr/>
        </p:nvSpPr>
        <p:spPr>
          <a:xfrm>
            <a:off x="5166360" y="5129783"/>
            <a:ext cx="114300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sp>
        <p:nvSpPr>
          <p:cNvPr id="46" name="TextBox 45"/>
          <p:cNvSpPr txBox="1"/>
          <p:nvPr/>
        </p:nvSpPr>
        <p:spPr>
          <a:xfrm>
            <a:off x="6309360" y="5129783"/>
            <a:ext cx="109728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cxnSp>
        <p:nvCxnSpPr>
          <p:cNvPr id="47" name="Connector 46"/>
          <p:cNvCxnSpPr/>
          <p:nvPr/>
        </p:nvCxnSpPr>
        <p:spPr>
          <a:xfrm>
            <a:off x="768096" y="5468112"/>
            <a:ext cx="6583679"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68096" y="5504688"/>
            <a:ext cx="3291840" cy="292608"/>
          </a:xfrm>
          <a:prstGeom prst="rect">
            <a:avLst/>
          </a:prstGeom>
          <a:noFill/>
        </p:spPr>
        <p:txBody>
          <a:bodyPr wrap="square" anchor="t" lIns="0" rIns="0" tIns="0" bIns="0">
            <a:spAutoFit/>
          </a:bodyPr>
          <a:lstStyle/>
          <a:p>
            <a:pPr algn="l"/>
            <a:r>
              <a:rPr sz="1150" b="0" i="0">
                <a:solidFill>
                  <a:srgbClr val="202020"/>
                </a:solidFill>
                <a:latin typeface="Segoe UI"/>
              </a:rPr>
              <a:t>Best practices assessment</a:t>
            </a:r>
          </a:p>
        </p:txBody>
      </p:sp>
      <p:sp>
        <p:nvSpPr>
          <p:cNvPr id="49" name="TextBox 48"/>
          <p:cNvSpPr txBox="1"/>
          <p:nvPr/>
        </p:nvSpPr>
        <p:spPr>
          <a:xfrm>
            <a:off x="4023360" y="5477255"/>
            <a:ext cx="1143000" cy="310896"/>
          </a:xfrm>
          <a:prstGeom prst="rect">
            <a:avLst/>
          </a:prstGeom>
          <a:noFill/>
        </p:spPr>
        <p:txBody>
          <a:bodyPr wrap="square" anchor="t" lIns="0" rIns="0" tIns="0" bIns="0">
            <a:spAutoFit/>
          </a:bodyPr>
          <a:lstStyle/>
          <a:p>
            <a:pPr algn="ctr"/>
            <a:r>
              <a:rPr sz="1300" b="1" i="0">
                <a:solidFill>
                  <a:srgbClr val="C50F1F"/>
                </a:solidFill>
                <a:latin typeface="Segoe UI Symbol"/>
              </a:rPr>
              <a:t>✖</a:t>
            </a:r>
          </a:p>
        </p:txBody>
      </p:sp>
      <p:sp>
        <p:nvSpPr>
          <p:cNvPr id="50" name="TextBox 49"/>
          <p:cNvSpPr txBox="1"/>
          <p:nvPr/>
        </p:nvSpPr>
        <p:spPr>
          <a:xfrm>
            <a:off x="5166360" y="5477255"/>
            <a:ext cx="114300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sp>
        <p:nvSpPr>
          <p:cNvPr id="51" name="TextBox 50"/>
          <p:cNvSpPr txBox="1"/>
          <p:nvPr/>
        </p:nvSpPr>
        <p:spPr>
          <a:xfrm>
            <a:off x="6309360" y="5477255"/>
            <a:ext cx="109728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cxnSp>
        <p:nvCxnSpPr>
          <p:cNvPr id="52" name="Connector 51"/>
          <p:cNvCxnSpPr/>
          <p:nvPr/>
        </p:nvCxnSpPr>
        <p:spPr>
          <a:xfrm>
            <a:off x="768096" y="5815584"/>
            <a:ext cx="6583679"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8096" y="5852160"/>
            <a:ext cx="3291840" cy="292608"/>
          </a:xfrm>
          <a:prstGeom prst="rect">
            <a:avLst/>
          </a:prstGeom>
          <a:noFill/>
        </p:spPr>
        <p:txBody>
          <a:bodyPr wrap="square" anchor="t" lIns="0" rIns="0" tIns="0" bIns="0">
            <a:spAutoFit/>
          </a:bodyPr>
          <a:lstStyle/>
          <a:p>
            <a:pPr algn="l"/>
            <a:r>
              <a:rPr sz="1150" b="0" i="0">
                <a:solidFill>
                  <a:srgbClr val="202020"/>
                </a:solidFill>
                <a:latin typeface="Segoe UI"/>
              </a:rPr>
              <a:t>Automated backups and point-in-time restore</a:t>
            </a:r>
          </a:p>
        </p:txBody>
      </p:sp>
      <p:sp>
        <p:nvSpPr>
          <p:cNvPr id="54" name="TextBox 53"/>
          <p:cNvSpPr txBox="1"/>
          <p:nvPr/>
        </p:nvSpPr>
        <p:spPr>
          <a:xfrm>
            <a:off x="4023360" y="5824728"/>
            <a:ext cx="1143000" cy="310896"/>
          </a:xfrm>
          <a:prstGeom prst="rect">
            <a:avLst/>
          </a:prstGeom>
          <a:noFill/>
        </p:spPr>
        <p:txBody>
          <a:bodyPr wrap="square" anchor="t" lIns="0" rIns="0" tIns="0" bIns="0">
            <a:spAutoFit/>
          </a:bodyPr>
          <a:lstStyle/>
          <a:p>
            <a:pPr algn="ctr"/>
            <a:r>
              <a:rPr sz="1300" b="1" i="0">
                <a:solidFill>
                  <a:srgbClr val="C50F1F"/>
                </a:solidFill>
                <a:latin typeface="Segoe UI Symbol"/>
              </a:rPr>
              <a:t>✖</a:t>
            </a:r>
          </a:p>
        </p:txBody>
      </p:sp>
      <p:sp>
        <p:nvSpPr>
          <p:cNvPr id="55" name="TextBox 54"/>
          <p:cNvSpPr txBox="1"/>
          <p:nvPr/>
        </p:nvSpPr>
        <p:spPr>
          <a:xfrm>
            <a:off x="5166360" y="5824728"/>
            <a:ext cx="114300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sp>
        <p:nvSpPr>
          <p:cNvPr id="56" name="TextBox 55"/>
          <p:cNvSpPr txBox="1"/>
          <p:nvPr/>
        </p:nvSpPr>
        <p:spPr>
          <a:xfrm>
            <a:off x="6309360" y="5824728"/>
            <a:ext cx="1097280" cy="310896"/>
          </a:xfrm>
          <a:prstGeom prst="rect">
            <a:avLst/>
          </a:prstGeom>
          <a:noFill/>
        </p:spPr>
        <p:txBody>
          <a:bodyPr wrap="square" anchor="t" lIns="0" rIns="0" tIns="0" bIns="0">
            <a:spAutoFit/>
          </a:bodyPr>
          <a:lstStyle/>
          <a:p>
            <a:pPr algn="ctr"/>
            <a:r>
              <a:rPr sz="1300" b="1" i="0">
                <a:solidFill>
                  <a:srgbClr val="167447"/>
                </a:solidFill>
                <a:latin typeface="Segoe UI Symbol"/>
              </a:rPr>
              <a:t>✔</a:t>
            </a:r>
          </a:p>
        </p:txBody>
      </p:sp>
      <p:sp>
        <p:nvSpPr>
          <p:cNvPr id="57" name="Rounded Rectangle 56"/>
          <p:cNvSpPr/>
          <p:nvPr/>
        </p:nvSpPr>
        <p:spPr>
          <a:xfrm>
            <a:off x="7772400" y="3657600"/>
            <a:ext cx="3840480" cy="2633472"/>
          </a:xfrm>
          <a:prstGeom prst="roundRect">
            <a:avLst>
              <a:gd name="adj" fmla="val 7000"/>
            </a:avLst>
          </a:prstGeom>
          <a:solidFill>
            <a:srgbClr val="EE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973568" y="3794760"/>
            <a:ext cx="3474720" cy="320040"/>
          </a:xfrm>
          <a:prstGeom prst="rect">
            <a:avLst/>
          </a:prstGeom>
          <a:noFill/>
        </p:spPr>
        <p:txBody>
          <a:bodyPr wrap="square" anchor="t" lIns="0" rIns="0" tIns="0" bIns="0">
            <a:spAutoFit/>
          </a:bodyPr>
          <a:lstStyle/>
          <a:p>
            <a:pPr algn="l"/>
            <a:r>
              <a:rPr sz="1600" b="1" i="0">
                <a:solidFill>
                  <a:srgbClr val="FF9900"/>
                </a:solidFill>
                <a:latin typeface="Segoe UI"/>
              </a:rPr>
              <a:t>AWS</a:t>
            </a:r>
            <a:r>
              <a:rPr sz="1600" b="1" i="0">
                <a:solidFill>
                  <a:srgbClr val="8055C8"/>
                </a:solidFill>
                <a:latin typeface="Segoe UI"/>
              </a:rPr>
              <a:t xml:space="preserve"> licensing check</a:t>
            </a:r>
          </a:p>
        </p:txBody>
      </p:sp>
      <p:sp>
        <p:nvSpPr>
          <p:cNvPr id="59" name="TextBox 58"/>
          <p:cNvSpPr txBox="1"/>
          <p:nvPr/>
        </p:nvSpPr>
        <p:spPr>
          <a:xfrm>
            <a:off x="7973568" y="4206240"/>
            <a:ext cx="3520440" cy="2011680"/>
          </a:xfrm>
          <a:prstGeom prst="rect">
            <a:avLst/>
          </a:prstGeom>
          <a:noFill/>
        </p:spPr>
        <p:txBody>
          <a:bodyPr wrap="square" anchor="t" lIns="0" rIns="0" tIns="0" bIns="0">
            <a:spAutoFit/>
          </a:bodyPr>
          <a:lstStyle/>
          <a:p>
            <a:pPr algn="l">
              <a:spcAft>
                <a:spcPts val="700"/>
              </a:spcAft>
            </a:pPr>
            <a:r>
              <a:rPr sz="1200" b="1" i="0">
                <a:solidFill>
                  <a:srgbClr val="202020"/>
                </a:solidFill>
                <a:latin typeface="Segoe UI"/>
              </a:rPr>
              <a:t xml:space="preserve">License-included EC2: </a:t>
            </a:r>
            <a:r>
              <a:rPr sz="1200" b="0" i="0">
                <a:solidFill>
                  <a:srgbClr val="202020"/>
                </a:solidFill>
                <a:latin typeface="Segoe UI"/>
              </a:rPr>
              <a:t>use License only. SQL is already billed by AWS.</a:t>
            </a:r>
          </a:p>
          <a:p>
            <a:pPr algn="l">
              <a:spcAft>
                <a:spcPts val="700"/>
              </a:spcAft>
            </a:pPr>
            <a:r>
              <a:rPr sz="1200" b="1" i="0">
                <a:solidFill>
                  <a:srgbClr val="202020"/>
                </a:solidFill>
                <a:latin typeface="Segoe UI"/>
              </a:rPr>
              <a:t xml:space="preserve">BYOL with SA: </a:t>
            </a:r>
            <a:r>
              <a:rPr sz="1200" b="0" i="0">
                <a:solidFill>
                  <a:srgbClr val="202020"/>
                </a:solidFill>
                <a:latin typeface="Segoe UI"/>
              </a:rPr>
              <a:t>Paid, subject to outsourcing rules.</a:t>
            </a:r>
          </a:p>
          <a:p>
            <a:pPr algn="l">
              <a:spcAft>
                <a:spcPts val="700"/>
              </a:spcAft>
            </a:pPr>
            <a:r>
              <a:rPr sz="1200" b="1" i="0">
                <a:solidFill>
                  <a:srgbClr val="202020"/>
                </a:solidFill>
                <a:latin typeface="Segoe UI"/>
              </a:rPr>
              <a:t xml:space="preserve">Never PAYG </a:t>
            </a:r>
            <a:r>
              <a:rPr sz="1200" b="0" i="0">
                <a:solidFill>
                  <a:srgbClr val="202020"/>
                </a:solidFill>
                <a:latin typeface="Segoe UI"/>
              </a:rPr>
              <a:t>on license-included instances: you pay twice.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03  |  AG-aware patching: the building blocks</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Update Manager owns the schedule. Runbooks keep the primary off the node being patched.</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06</a:t>
            </a:r>
          </a:p>
        </p:txBody>
      </p:sp>
      <p:sp>
        <p:nvSpPr>
          <p:cNvPr id="6" name="Rounded Rectangle 5"/>
          <p:cNvSpPr/>
          <p:nvPr/>
        </p:nvSpPr>
        <p:spPr>
          <a:xfrm>
            <a:off x="676656" y="1828800"/>
            <a:ext cx="2468880" cy="384048"/>
          </a:xfrm>
          <a:prstGeom prst="roundRect">
            <a:avLst>
              <a:gd name="adj" fmla="val 25000"/>
            </a:avLst>
          </a:prstGeom>
          <a:gradFill rotWithShape="1">
            <a:gsLst>
              <a:gs pos="0">
                <a:srgbClr val="0F6CBD"/>
              </a:gs>
              <a:gs pos="100000">
                <a:srgbClr val="C03BC4"/>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50" b="1">
                <a:solidFill>
                  <a:srgbClr val="FFFFFF"/>
                </a:solidFill>
                <a:latin typeface="Segoe UI"/>
              </a:rPr>
              <a:t>Maintenance configuration</a:t>
            </a:r>
          </a:p>
        </p:txBody>
      </p:sp>
      <p:sp>
        <p:nvSpPr>
          <p:cNvPr id="7" name="TextBox 6"/>
          <p:cNvSpPr txBox="1"/>
          <p:nvPr/>
        </p:nvSpPr>
        <p:spPr>
          <a:xfrm>
            <a:off x="676656" y="2395728"/>
            <a:ext cx="2468880" cy="365760"/>
          </a:xfrm>
          <a:prstGeom prst="rect">
            <a:avLst/>
          </a:prstGeom>
          <a:noFill/>
        </p:spPr>
        <p:txBody>
          <a:bodyPr wrap="square" anchor="t" lIns="0" rIns="0" tIns="0" bIns="0">
            <a:spAutoFit/>
          </a:bodyPr>
          <a:lstStyle/>
          <a:p>
            <a:pPr algn="ctr"/>
            <a:r>
              <a:rPr sz="1900" b="1" i="0">
                <a:solidFill>
                  <a:srgbClr val="202020"/>
                </a:solidFill>
                <a:latin typeface="Segoe UI"/>
              </a:rPr>
              <a:t>Schedule + scope</a:t>
            </a:r>
          </a:p>
        </p:txBody>
      </p:sp>
      <p:sp>
        <p:nvSpPr>
          <p:cNvPr id="8" name="TextBox 7"/>
          <p:cNvSpPr txBox="1"/>
          <p:nvPr/>
        </p:nvSpPr>
        <p:spPr>
          <a:xfrm>
            <a:off x="694944" y="2852928"/>
            <a:ext cx="2432304" cy="1188720"/>
          </a:xfrm>
          <a:prstGeom prst="rect">
            <a:avLst/>
          </a:prstGeom>
          <a:noFill/>
        </p:spPr>
        <p:txBody>
          <a:bodyPr wrap="square" anchor="t" lIns="0" rIns="0" tIns="0" bIns="0">
            <a:spAutoFit/>
          </a:bodyPr>
          <a:lstStyle/>
          <a:p>
            <a:pPr algn="ctr"/>
            <a:r>
              <a:rPr sz="1250" b="0" i="0">
                <a:solidFill>
                  <a:srgbClr val="545460"/>
                </a:solidFill>
                <a:latin typeface="Segoe UI"/>
              </a:rPr>
              <a:t>One per wave. Window of 1:30 to 3:55 h. Machines assigned directly or by a dynamic scope on tags.</a:t>
            </a:r>
          </a:p>
        </p:txBody>
      </p:sp>
      <p:cxnSp>
        <p:nvCxnSpPr>
          <p:cNvPr id="9" name="Connector 8"/>
          <p:cNvCxnSpPr/>
          <p:nvPr/>
        </p:nvCxnSpPr>
        <p:spPr>
          <a:xfrm>
            <a:off x="3319272" y="2423160"/>
            <a:ext cx="0" cy="1508760"/>
          </a:xfrm>
          <a:prstGeom prst="line">
            <a:avLst/>
          </a:prstGeom>
          <a:ln w="12700">
            <a:solidFill>
              <a:srgbClr val="C9C9D1"/>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83864" y="1828800"/>
            <a:ext cx="2468880" cy="384048"/>
          </a:xfrm>
          <a:prstGeom prst="roundRect">
            <a:avLst>
              <a:gd name="adj" fmla="val 25000"/>
            </a:avLst>
          </a:prstGeom>
          <a:gradFill rotWithShape="1">
            <a:gsLst>
              <a:gs pos="0">
                <a:srgbClr val="0F6CBD"/>
              </a:gs>
              <a:gs pos="100000">
                <a:srgbClr val="C03BC4"/>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50" b="1">
                <a:solidFill>
                  <a:srgbClr val="FFFFFF"/>
                </a:solidFill>
                <a:latin typeface="Segoe UI"/>
              </a:rPr>
              <a:t>Event Grid</a:t>
            </a:r>
          </a:p>
        </p:txBody>
      </p:sp>
      <p:sp>
        <p:nvSpPr>
          <p:cNvPr id="11" name="TextBox 10"/>
          <p:cNvSpPr txBox="1"/>
          <p:nvPr/>
        </p:nvSpPr>
        <p:spPr>
          <a:xfrm>
            <a:off x="3483864" y="2395728"/>
            <a:ext cx="2468880" cy="365760"/>
          </a:xfrm>
          <a:prstGeom prst="rect">
            <a:avLst/>
          </a:prstGeom>
          <a:noFill/>
        </p:spPr>
        <p:txBody>
          <a:bodyPr wrap="square" anchor="t" lIns="0" rIns="0" tIns="0" bIns="0">
            <a:spAutoFit/>
          </a:bodyPr>
          <a:lstStyle/>
          <a:p>
            <a:pPr algn="ctr"/>
            <a:r>
              <a:rPr sz="1900" b="1" i="0">
                <a:solidFill>
                  <a:srgbClr val="202020"/>
                </a:solidFill>
                <a:latin typeface="Segoe UI"/>
              </a:rPr>
              <a:t>Pre- and post-events</a:t>
            </a:r>
          </a:p>
        </p:txBody>
      </p:sp>
      <p:sp>
        <p:nvSpPr>
          <p:cNvPr id="12" name="TextBox 11"/>
          <p:cNvSpPr txBox="1"/>
          <p:nvPr/>
        </p:nvSpPr>
        <p:spPr>
          <a:xfrm>
            <a:off x="3502152" y="2852928"/>
            <a:ext cx="2432304" cy="1188720"/>
          </a:xfrm>
          <a:prstGeom prst="rect">
            <a:avLst/>
          </a:prstGeom>
          <a:noFill/>
        </p:spPr>
        <p:txBody>
          <a:bodyPr wrap="square" anchor="t" lIns="0" rIns="0" tIns="0" bIns="0">
            <a:spAutoFit/>
          </a:bodyPr>
          <a:lstStyle/>
          <a:p>
            <a:pPr algn="ctr"/>
            <a:r>
              <a:rPr sz="1250" b="0" i="0">
                <a:solidFill>
                  <a:srgbClr val="545460"/>
                </a:solidFill>
                <a:latin typeface="Segoe UI"/>
              </a:rPr>
              <a:t>Pre-event 30-40 min before the window. Post-event when patching ends. Delivered to webhooks.</a:t>
            </a:r>
          </a:p>
        </p:txBody>
      </p:sp>
      <p:cxnSp>
        <p:nvCxnSpPr>
          <p:cNvPr id="13" name="Connector 12"/>
          <p:cNvCxnSpPr/>
          <p:nvPr/>
        </p:nvCxnSpPr>
        <p:spPr>
          <a:xfrm>
            <a:off x="6126480" y="2423160"/>
            <a:ext cx="0" cy="1508760"/>
          </a:xfrm>
          <a:prstGeom prst="line">
            <a:avLst/>
          </a:prstGeom>
          <a:ln w="12700">
            <a:solidFill>
              <a:srgbClr val="C9C9D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91071" y="1828800"/>
            <a:ext cx="2468880" cy="384048"/>
          </a:xfrm>
          <a:prstGeom prst="roundRect">
            <a:avLst>
              <a:gd name="adj" fmla="val 25000"/>
            </a:avLst>
          </a:prstGeom>
          <a:gradFill rotWithShape="1">
            <a:gsLst>
              <a:gs pos="0">
                <a:srgbClr val="0F6CBD"/>
              </a:gs>
              <a:gs pos="100000">
                <a:srgbClr val="C03BC4"/>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50" b="1">
                <a:solidFill>
                  <a:srgbClr val="FFFFFF"/>
                </a:solidFill>
                <a:latin typeface="Segoe UI"/>
              </a:rPr>
              <a:t>Automation runbooks</a:t>
            </a:r>
          </a:p>
        </p:txBody>
      </p:sp>
      <p:sp>
        <p:nvSpPr>
          <p:cNvPr id="15" name="TextBox 14"/>
          <p:cNvSpPr txBox="1"/>
          <p:nvPr/>
        </p:nvSpPr>
        <p:spPr>
          <a:xfrm>
            <a:off x="6291071" y="2395728"/>
            <a:ext cx="2468880" cy="365760"/>
          </a:xfrm>
          <a:prstGeom prst="rect">
            <a:avLst/>
          </a:prstGeom>
          <a:noFill/>
        </p:spPr>
        <p:txBody>
          <a:bodyPr wrap="square" anchor="t" lIns="0" rIns="0" tIns="0" bIns="0">
            <a:spAutoFit/>
          </a:bodyPr>
          <a:lstStyle/>
          <a:p>
            <a:pPr algn="ctr"/>
            <a:r>
              <a:rPr sz="1900" b="1" i="0">
                <a:solidFill>
                  <a:srgbClr val="202020"/>
                </a:solidFill>
                <a:latin typeface="Segoe UI"/>
              </a:rPr>
              <a:t>Decide and act</a:t>
            </a:r>
          </a:p>
        </p:txBody>
      </p:sp>
      <p:sp>
        <p:nvSpPr>
          <p:cNvPr id="16" name="TextBox 15"/>
          <p:cNvSpPr txBox="1"/>
          <p:nvPr/>
        </p:nvSpPr>
        <p:spPr>
          <a:xfrm>
            <a:off x="6309359" y="2852928"/>
            <a:ext cx="2432304" cy="1188720"/>
          </a:xfrm>
          <a:prstGeom prst="rect">
            <a:avLst/>
          </a:prstGeom>
          <a:noFill/>
        </p:spPr>
        <p:txBody>
          <a:bodyPr wrap="square" anchor="t" lIns="0" rIns="0" tIns="0" bIns="0">
            <a:spAutoFit/>
          </a:bodyPr>
          <a:lstStyle/>
          <a:p>
            <a:pPr algn="ctr"/>
            <a:r>
              <a:rPr sz="1250" b="0" i="0">
                <a:solidFill>
                  <a:srgbClr val="545460"/>
                </a:solidFill>
                <a:latin typeface="Segoe UI"/>
              </a:rPr>
              <a:t>Pre: fail over, or cancel the run. Post: validate health, fail back. Managed identity, no secrets.</a:t>
            </a:r>
          </a:p>
        </p:txBody>
      </p:sp>
      <p:cxnSp>
        <p:nvCxnSpPr>
          <p:cNvPr id="17" name="Connector 16"/>
          <p:cNvCxnSpPr/>
          <p:nvPr/>
        </p:nvCxnSpPr>
        <p:spPr>
          <a:xfrm>
            <a:off x="8933688" y="2423160"/>
            <a:ext cx="0" cy="1508760"/>
          </a:xfrm>
          <a:prstGeom prst="line">
            <a:avLst/>
          </a:prstGeom>
          <a:ln w="12700">
            <a:solidFill>
              <a:srgbClr val="C9C9D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98280" y="1828800"/>
            <a:ext cx="2468880" cy="384048"/>
          </a:xfrm>
          <a:prstGeom prst="roundRect">
            <a:avLst>
              <a:gd name="adj" fmla="val 25000"/>
            </a:avLst>
          </a:prstGeom>
          <a:gradFill rotWithShape="1">
            <a:gsLst>
              <a:gs pos="0">
                <a:srgbClr val="0F6CBD"/>
              </a:gs>
              <a:gs pos="100000">
                <a:srgbClr val="C03BC4"/>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50" b="1">
                <a:solidFill>
                  <a:srgbClr val="FFFFFF"/>
                </a:solidFill>
                <a:latin typeface="Segoe UI"/>
              </a:rPr>
              <a:t>Arc AG API</a:t>
            </a:r>
          </a:p>
        </p:txBody>
      </p:sp>
      <p:sp>
        <p:nvSpPr>
          <p:cNvPr id="19" name="TextBox 18"/>
          <p:cNvSpPr txBox="1"/>
          <p:nvPr/>
        </p:nvSpPr>
        <p:spPr>
          <a:xfrm>
            <a:off x="9098280" y="2395728"/>
            <a:ext cx="2468880" cy="365760"/>
          </a:xfrm>
          <a:prstGeom prst="rect">
            <a:avLst/>
          </a:prstGeom>
          <a:noFill/>
        </p:spPr>
        <p:txBody>
          <a:bodyPr wrap="square" anchor="t" lIns="0" rIns="0" tIns="0" bIns="0">
            <a:spAutoFit/>
          </a:bodyPr>
          <a:lstStyle/>
          <a:p>
            <a:pPr algn="ctr"/>
            <a:r>
              <a:rPr sz="1900" b="1" i="0">
                <a:solidFill>
                  <a:srgbClr val="202020"/>
                </a:solidFill>
                <a:latin typeface="Segoe UI"/>
              </a:rPr>
              <a:t>Read and fail over</a:t>
            </a:r>
          </a:p>
        </p:txBody>
      </p:sp>
      <p:sp>
        <p:nvSpPr>
          <p:cNvPr id="20" name="TextBox 19"/>
          <p:cNvSpPr txBox="1"/>
          <p:nvPr/>
        </p:nvSpPr>
        <p:spPr>
          <a:xfrm>
            <a:off x="9116567" y="2852928"/>
            <a:ext cx="2432304" cy="1188720"/>
          </a:xfrm>
          <a:prstGeom prst="rect">
            <a:avLst/>
          </a:prstGeom>
          <a:noFill/>
        </p:spPr>
        <p:txBody>
          <a:bodyPr wrap="square" anchor="t" lIns="0" rIns="0" tIns="0" bIns="0">
            <a:spAutoFit/>
          </a:bodyPr>
          <a:lstStyle/>
          <a:p>
            <a:pPr algn="ctr"/>
            <a:r>
              <a:rPr sz="1250" b="0" i="0">
                <a:solidFill>
                  <a:srgbClr val="545460"/>
                </a:solidFill>
                <a:latin typeface="Segoe UI"/>
              </a:rPr>
              <a:t>getDetailView returns live AG state. failover does a planned failover with no data loss.</a:t>
            </a:r>
          </a:p>
        </p:txBody>
      </p:sp>
      <p:sp>
        <p:nvSpPr>
          <p:cNvPr id="21" name="TextBox 20"/>
          <p:cNvSpPr txBox="1"/>
          <p:nvPr/>
        </p:nvSpPr>
        <p:spPr>
          <a:xfrm>
            <a:off x="612648" y="4206240"/>
            <a:ext cx="7315200" cy="274320"/>
          </a:xfrm>
          <a:prstGeom prst="rect">
            <a:avLst/>
          </a:prstGeom>
          <a:noFill/>
        </p:spPr>
        <p:txBody>
          <a:bodyPr wrap="square" anchor="t" lIns="0" rIns="0" tIns="0" bIns="0">
            <a:spAutoFit/>
          </a:bodyPr>
          <a:lstStyle/>
          <a:p>
            <a:pPr algn="l"/>
            <a:r>
              <a:rPr sz="1300" b="1" i="0">
                <a:solidFill>
                  <a:srgbClr val="545460"/>
                </a:solidFill>
                <a:latin typeface="Segoe UI"/>
              </a:rPr>
              <a:t>THE FLOW FOR EACH NODE</a:t>
            </a:r>
          </a:p>
        </p:txBody>
      </p:sp>
      <p:sp>
        <p:nvSpPr>
          <p:cNvPr id="22" name="Rounded Rectangle 21"/>
          <p:cNvSpPr/>
          <p:nvPr/>
        </p:nvSpPr>
        <p:spPr>
          <a:xfrm>
            <a:off x="585216" y="4553712"/>
            <a:ext cx="1883664" cy="566928"/>
          </a:xfrm>
          <a:prstGeom prst="roundRect">
            <a:avLst>
              <a:gd name="adj" fmla="val 2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 y="4553712"/>
            <a:ext cx="1883664" cy="566928"/>
          </a:xfrm>
          <a:prstGeom prst="rect">
            <a:avLst/>
          </a:prstGeom>
          <a:noFill/>
        </p:spPr>
        <p:txBody>
          <a:bodyPr wrap="square" anchor="ctr" lIns="0" rIns="0" tIns="0" bIns="0">
            <a:spAutoFit/>
          </a:bodyPr>
          <a:lstStyle/>
          <a:p>
            <a:pPr algn="ctr"/>
            <a:r>
              <a:rPr sz="1300" b="1" i="0">
                <a:solidFill>
                  <a:srgbClr val="0078D4"/>
                </a:solidFill>
                <a:latin typeface="Segoe UI"/>
              </a:rPr>
              <a:t>Schedule fires</a:t>
            </a:r>
          </a:p>
        </p:txBody>
      </p:sp>
      <p:cxnSp>
        <p:nvCxnSpPr>
          <p:cNvPr id="24" name="Connector 23"/>
          <p:cNvCxnSpPr/>
          <p:nvPr/>
        </p:nvCxnSpPr>
        <p:spPr>
          <a:xfrm>
            <a:off x="2523744" y="4837176"/>
            <a:ext cx="283464" cy="0"/>
          </a:xfrm>
          <a:prstGeom prst="line">
            <a:avLst/>
          </a:prstGeom>
          <a:ln w="22225">
            <a:solidFill>
              <a:srgbClr val="8055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862072" y="4553712"/>
            <a:ext cx="1883664" cy="566928"/>
          </a:xfrm>
          <a:prstGeom prst="roundRect">
            <a:avLst>
              <a:gd name="adj" fmla="val 2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62072" y="4553712"/>
            <a:ext cx="1883664" cy="566928"/>
          </a:xfrm>
          <a:prstGeom prst="rect">
            <a:avLst/>
          </a:prstGeom>
          <a:noFill/>
        </p:spPr>
        <p:txBody>
          <a:bodyPr wrap="square" anchor="ctr" lIns="0" rIns="0" tIns="0" bIns="0">
            <a:spAutoFit/>
          </a:bodyPr>
          <a:lstStyle/>
          <a:p>
            <a:pPr algn="ctr"/>
            <a:r>
              <a:rPr sz="1300" b="1" i="0">
                <a:solidFill>
                  <a:srgbClr val="8055C8"/>
                </a:solidFill>
                <a:latin typeface="Segoe UI"/>
              </a:rPr>
              <a:t>Pre-event</a:t>
            </a:r>
          </a:p>
        </p:txBody>
      </p:sp>
      <p:cxnSp>
        <p:nvCxnSpPr>
          <p:cNvPr id="27" name="Connector 26"/>
          <p:cNvCxnSpPr/>
          <p:nvPr/>
        </p:nvCxnSpPr>
        <p:spPr>
          <a:xfrm>
            <a:off x="4800600" y="4837176"/>
            <a:ext cx="283464" cy="0"/>
          </a:xfrm>
          <a:prstGeom prst="line">
            <a:avLst/>
          </a:prstGeom>
          <a:ln w="22225">
            <a:solidFill>
              <a:srgbClr val="8055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138928" y="4553712"/>
            <a:ext cx="1883664" cy="566928"/>
          </a:xfrm>
          <a:prstGeom prst="roundRect">
            <a:avLst>
              <a:gd name="adj" fmla="val 2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38928" y="4553712"/>
            <a:ext cx="1883664" cy="566928"/>
          </a:xfrm>
          <a:prstGeom prst="rect">
            <a:avLst/>
          </a:prstGeom>
          <a:noFill/>
        </p:spPr>
        <p:txBody>
          <a:bodyPr wrap="square" anchor="ctr" lIns="0" rIns="0" tIns="0" bIns="0">
            <a:spAutoFit/>
          </a:bodyPr>
          <a:lstStyle/>
          <a:p>
            <a:pPr algn="ctr"/>
            <a:r>
              <a:rPr sz="1300" b="1" i="0">
                <a:solidFill>
                  <a:srgbClr val="008F99"/>
                </a:solidFill>
                <a:latin typeface="Segoe UI"/>
              </a:rPr>
              <a:t>Fail over or cancel</a:t>
            </a:r>
          </a:p>
        </p:txBody>
      </p:sp>
      <p:cxnSp>
        <p:nvCxnSpPr>
          <p:cNvPr id="30" name="Connector 29"/>
          <p:cNvCxnSpPr/>
          <p:nvPr/>
        </p:nvCxnSpPr>
        <p:spPr>
          <a:xfrm>
            <a:off x="7077455" y="4837176"/>
            <a:ext cx="283464" cy="0"/>
          </a:xfrm>
          <a:prstGeom prst="line">
            <a:avLst/>
          </a:prstGeom>
          <a:ln w="22225">
            <a:solidFill>
              <a:srgbClr val="8055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415784" y="4553712"/>
            <a:ext cx="1883664" cy="566928"/>
          </a:xfrm>
          <a:prstGeom prst="roundRect">
            <a:avLst>
              <a:gd name="adj" fmla="val 2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15784" y="4553712"/>
            <a:ext cx="1883664" cy="566928"/>
          </a:xfrm>
          <a:prstGeom prst="rect">
            <a:avLst/>
          </a:prstGeom>
          <a:noFill/>
        </p:spPr>
        <p:txBody>
          <a:bodyPr wrap="square" anchor="ctr" lIns="0" rIns="0" tIns="0" bIns="0">
            <a:spAutoFit/>
          </a:bodyPr>
          <a:lstStyle/>
          <a:p>
            <a:pPr algn="ctr"/>
            <a:r>
              <a:rPr sz="1300" b="1" i="0">
                <a:solidFill>
                  <a:srgbClr val="167447"/>
                </a:solidFill>
                <a:latin typeface="Segoe UI"/>
              </a:rPr>
              <a:t>Patch + reboot</a:t>
            </a:r>
          </a:p>
        </p:txBody>
      </p:sp>
      <p:cxnSp>
        <p:nvCxnSpPr>
          <p:cNvPr id="33" name="Connector 32"/>
          <p:cNvCxnSpPr/>
          <p:nvPr/>
        </p:nvCxnSpPr>
        <p:spPr>
          <a:xfrm>
            <a:off x="9354312" y="4837176"/>
            <a:ext cx="283464" cy="0"/>
          </a:xfrm>
          <a:prstGeom prst="line">
            <a:avLst/>
          </a:prstGeom>
          <a:ln w="22225">
            <a:solidFill>
              <a:srgbClr val="8055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692640" y="4553712"/>
            <a:ext cx="1883664" cy="566928"/>
          </a:xfrm>
          <a:prstGeom prst="roundRect">
            <a:avLst>
              <a:gd name="adj" fmla="val 2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2640" y="4553712"/>
            <a:ext cx="1883664" cy="566928"/>
          </a:xfrm>
          <a:prstGeom prst="rect">
            <a:avLst/>
          </a:prstGeom>
          <a:noFill/>
        </p:spPr>
        <p:txBody>
          <a:bodyPr wrap="square" anchor="ctr" lIns="0" rIns="0" tIns="0" bIns="0">
            <a:spAutoFit/>
          </a:bodyPr>
          <a:lstStyle/>
          <a:p>
            <a:pPr algn="ctr"/>
            <a:r>
              <a:rPr sz="1300" b="1" i="0">
                <a:solidFill>
                  <a:srgbClr val="0078D4"/>
                </a:solidFill>
                <a:latin typeface="Segoe UI"/>
              </a:rPr>
              <a:t>Validate + fail back</a:t>
            </a:r>
          </a:p>
        </p:txBody>
      </p:sp>
      <p:sp>
        <p:nvSpPr>
          <p:cNvPr id="36" name="Rounded Rectangle 35"/>
          <p:cNvSpPr/>
          <p:nvPr/>
        </p:nvSpPr>
        <p:spPr>
          <a:xfrm>
            <a:off x="585216" y="5532120"/>
            <a:ext cx="11027664" cy="566928"/>
          </a:xfrm>
          <a:prstGeom prst="roundRect">
            <a:avLst>
              <a:gd name="adj" fmla="val 15000"/>
            </a:avLst>
          </a:prstGeom>
          <a:solidFill>
            <a:srgbClr val="EE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5532120"/>
            <a:ext cx="10607040" cy="566928"/>
          </a:xfrm>
          <a:prstGeom prst="rect">
            <a:avLst/>
          </a:prstGeom>
          <a:noFill/>
        </p:spPr>
        <p:txBody>
          <a:bodyPr wrap="square" anchor="ctr" lIns="0" rIns="0" tIns="0" bIns="0">
            <a:spAutoFit/>
          </a:bodyPr>
          <a:lstStyle/>
          <a:p>
            <a:pPr algn="l"/>
            <a:r>
              <a:rPr sz="1700" b="1" i="0">
                <a:solidFill>
                  <a:srgbClr val="8055C8"/>
                </a:solidFill>
                <a:latin typeface="Segoe UI"/>
              </a:rPr>
              <a:t>The rule: the node being patched is never the primary.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04  |  One maintenance wave, step by step</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T is the start of the maintenance window.</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07</a:t>
            </a:r>
          </a:p>
        </p:txBody>
      </p:sp>
      <p:cxnSp>
        <p:nvCxnSpPr>
          <p:cNvPr id="6" name="Connector 5"/>
          <p:cNvCxnSpPr/>
          <p:nvPr/>
        </p:nvCxnSpPr>
        <p:spPr>
          <a:xfrm>
            <a:off x="1097280" y="2331720"/>
            <a:ext cx="10058400" cy="0"/>
          </a:xfrm>
          <a:prstGeom prst="line">
            <a:avLst/>
          </a:prstGeom>
          <a:ln w="25400">
            <a:solidFill>
              <a:srgbClr val="C9C9D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 y="1783080"/>
            <a:ext cx="2194560" cy="274320"/>
          </a:xfrm>
          <a:prstGeom prst="rect">
            <a:avLst/>
          </a:prstGeom>
          <a:noFill/>
        </p:spPr>
        <p:txBody>
          <a:bodyPr wrap="square" anchor="t" lIns="0" rIns="0" tIns="0" bIns="0">
            <a:spAutoFit/>
          </a:bodyPr>
          <a:lstStyle/>
          <a:p>
            <a:pPr algn="ctr"/>
            <a:r>
              <a:rPr sz="1200" b="1" i="0">
                <a:solidFill>
                  <a:srgbClr val="545460"/>
                </a:solidFill>
                <a:latin typeface="Segoe UI"/>
              </a:rPr>
              <a:t>T-40 to T-30</a:t>
            </a:r>
          </a:p>
        </p:txBody>
      </p:sp>
      <p:sp>
        <p:nvSpPr>
          <p:cNvPr id="8" name="Oval 7"/>
          <p:cNvSpPr/>
          <p:nvPr/>
        </p:nvSpPr>
        <p:spPr>
          <a:xfrm>
            <a:off x="1033272" y="2176272"/>
            <a:ext cx="310896" cy="31089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1</a:t>
            </a:r>
          </a:p>
        </p:txBody>
      </p:sp>
      <p:sp>
        <p:nvSpPr>
          <p:cNvPr id="9" name="TextBox 8"/>
          <p:cNvSpPr txBox="1"/>
          <p:nvPr/>
        </p:nvSpPr>
        <p:spPr>
          <a:xfrm>
            <a:off x="91440" y="2606040"/>
            <a:ext cx="2194560" cy="320040"/>
          </a:xfrm>
          <a:prstGeom prst="rect">
            <a:avLst/>
          </a:prstGeom>
          <a:noFill/>
        </p:spPr>
        <p:txBody>
          <a:bodyPr wrap="square" anchor="t" lIns="0" rIns="0" tIns="0" bIns="0">
            <a:spAutoFit/>
          </a:bodyPr>
          <a:lstStyle/>
          <a:p>
            <a:pPr algn="ctr"/>
            <a:r>
              <a:rPr sz="1600" b="1" i="0">
                <a:solidFill>
                  <a:srgbClr val="0078D4"/>
                </a:solidFill>
                <a:latin typeface="Segoe UI"/>
              </a:rPr>
              <a:t>Pre-event</a:t>
            </a:r>
          </a:p>
        </p:txBody>
      </p:sp>
      <p:sp>
        <p:nvSpPr>
          <p:cNvPr id="10" name="TextBox 9"/>
          <p:cNvSpPr txBox="1"/>
          <p:nvPr/>
        </p:nvSpPr>
        <p:spPr>
          <a:xfrm>
            <a:off x="118872" y="2944368"/>
            <a:ext cx="2139696" cy="777240"/>
          </a:xfrm>
          <a:prstGeom prst="rect">
            <a:avLst/>
          </a:prstGeom>
          <a:noFill/>
        </p:spPr>
        <p:txBody>
          <a:bodyPr wrap="square" anchor="t" lIns="0" rIns="0" tIns="0" bIns="0">
            <a:spAutoFit/>
          </a:bodyPr>
          <a:lstStyle/>
          <a:p>
            <a:pPr algn="ctr"/>
            <a:r>
              <a:rPr sz="1150" b="0" i="0">
                <a:solidFill>
                  <a:srgbClr val="202020"/>
                </a:solidFill>
                <a:latin typeface="Segoe UI"/>
              </a:rPr>
              <a:t>Update Manager raises the event; Event Grid calls the webhook.</a:t>
            </a:r>
          </a:p>
        </p:txBody>
      </p:sp>
      <p:sp>
        <p:nvSpPr>
          <p:cNvPr id="11" name="TextBox 10"/>
          <p:cNvSpPr txBox="1"/>
          <p:nvPr/>
        </p:nvSpPr>
        <p:spPr>
          <a:xfrm>
            <a:off x="2514600" y="1783080"/>
            <a:ext cx="2194560" cy="274320"/>
          </a:xfrm>
          <a:prstGeom prst="rect">
            <a:avLst/>
          </a:prstGeom>
          <a:noFill/>
        </p:spPr>
        <p:txBody>
          <a:bodyPr wrap="square" anchor="t" lIns="0" rIns="0" tIns="0" bIns="0">
            <a:spAutoFit/>
          </a:bodyPr>
          <a:lstStyle/>
          <a:p>
            <a:pPr algn="ctr"/>
            <a:r>
              <a:rPr sz="1200" b="1" i="0">
                <a:solidFill>
                  <a:srgbClr val="545460"/>
                </a:solidFill>
                <a:latin typeface="Segoe UI"/>
              </a:rPr>
              <a:t>Within ~20 min</a:t>
            </a:r>
          </a:p>
        </p:txBody>
      </p:sp>
      <p:sp>
        <p:nvSpPr>
          <p:cNvPr id="12" name="Oval 11"/>
          <p:cNvSpPr/>
          <p:nvPr/>
        </p:nvSpPr>
        <p:spPr>
          <a:xfrm>
            <a:off x="3456432" y="2176272"/>
            <a:ext cx="310896" cy="310896"/>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2</a:t>
            </a:r>
          </a:p>
        </p:txBody>
      </p:sp>
      <p:sp>
        <p:nvSpPr>
          <p:cNvPr id="13" name="TextBox 12"/>
          <p:cNvSpPr txBox="1"/>
          <p:nvPr/>
        </p:nvSpPr>
        <p:spPr>
          <a:xfrm>
            <a:off x="2514600" y="2606040"/>
            <a:ext cx="2194560" cy="320040"/>
          </a:xfrm>
          <a:prstGeom prst="rect">
            <a:avLst/>
          </a:prstGeom>
          <a:noFill/>
        </p:spPr>
        <p:txBody>
          <a:bodyPr wrap="square" anchor="t" lIns="0" rIns="0" tIns="0" bIns="0">
            <a:spAutoFit/>
          </a:bodyPr>
          <a:lstStyle/>
          <a:p>
            <a:pPr algn="ctr"/>
            <a:r>
              <a:rPr sz="1600" b="1" i="0">
                <a:solidFill>
                  <a:srgbClr val="8055C8"/>
                </a:solidFill>
                <a:latin typeface="Segoe UI"/>
              </a:rPr>
              <a:t>Check &amp; fail over</a:t>
            </a:r>
          </a:p>
        </p:txBody>
      </p:sp>
      <p:sp>
        <p:nvSpPr>
          <p:cNvPr id="14" name="TextBox 13"/>
          <p:cNvSpPr txBox="1"/>
          <p:nvPr/>
        </p:nvSpPr>
        <p:spPr>
          <a:xfrm>
            <a:off x="2542032" y="2944368"/>
            <a:ext cx="2139696" cy="777240"/>
          </a:xfrm>
          <a:prstGeom prst="rect">
            <a:avLst/>
          </a:prstGeom>
          <a:noFill/>
        </p:spPr>
        <p:txBody>
          <a:bodyPr wrap="square" anchor="t" lIns="0" rIns="0" tIns="0" bIns="0">
            <a:spAutoFit/>
          </a:bodyPr>
          <a:lstStyle/>
          <a:p>
            <a:pPr algn="ctr"/>
            <a:r>
              <a:rPr sz="1150" b="0" i="0">
                <a:solidFill>
                  <a:srgbClr val="202020"/>
                </a:solidFill>
                <a:latin typeface="Segoe UI"/>
              </a:rPr>
              <a:t>Read live AG state. Fail over to a synchronized partner, or cancel.</a:t>
            </a:r>
          </a:p>
        </p:txBody>
      </p:sp>
      <p:sp>
        <p:nvSpPr>
          <p:cNvPr id="15" name="TextBox 14"/>
          <p:cNvSpPr txBox="1"/>
          <p:nvPr/>
        </p:nvSpPr>
        <p:spPr>
          <a:xfrm>
            <a:off x="4937759" y="1783080"/>
            <a:ext cx="2194560" cy="274320"/>
          </a:xfrm>
          <a:prstGeom prst="rect">
            <a:avLst/>
          </a:prstGeom>
          <a:noFill/>
        </p:spPr>
        <p:txBody>
          <a:bodyPr wrap="square" anchor="t" lIns="0" rIns="0" tIns="0" bIns="0">
            <a:spAutoFit/>
          </a:bodyPr>
          <a:lstStyle/>
          <a:p>
            <a:pPr algn="ctr"/>
            <a:r>
              <a:rPr sz="1200" b="1" i="0">
                <a:solidFill>
                  <a:srgbClr val="545460"/>
                </a:solidFill>
                <a:latin typeface="Segoe UI"/>
              </a:rPr>
              <a:t>T</a:t>
            </a:r>
          </a:p>
        </p:txBody>
      </p:sp>
      <p:sp>
        <p:nvSpPr>
          <p:cNvPr id="16" name="Oval 15"/>
          <p:cNvSpPr/>
          <p:nvPr/>
        </p:nvSpPr>
        <p:spPr>
          <a:xfrm>
            <a:off x="5879592" y="2176272"/>
            <a:ext cx="310896" cy="310896"/>
          </a:xfrm>
          <a:prstGeom prst="ellipse">
            <a:avLst/>
          </a:prstGeom>
          <a:solidFill>
            <a:srgbClr val="008F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3</a:t>
            </a:r>
          </a:p>
        </p:txBody>
      </p:sp>
      <p:sp>
        <p:nvSpPr>
          <p:cNvPr id="17" name="TextBox 16"/>
          <p:cNvSpPr txBox="1"/>
          <p:nvPr/>
        </p:nvSpPr>
        <p:spPr>
          <a:xfrm>
            <a:off x="4937759" y="2606040"/>
            <a:ext cx="2194560" cy="320040"/>
          </a:xfrm>
          <a:prstGeom prst="rect">
            <a:avLst/>
          </a:prstGeom>
          <a:noFill/>
        </p:spPr>
        <p:txBody>
          <a:bodyPr wrap="square" anchor="t" lIns="0" rIns="0" tIns="0" bIns="0">
            <a:spAutoFit/>
          </a:bodyPr>
          <a:lstStyle/>
          <a:p>
            <a:pPr algn="ctr"/>
            <a:r>
              <a:rPr sz="1600" b="1" i="0">
                <a:solidFill>
                  <a:srgbClr val="008F99"/>
                </a:solidFill>
                <a:latin typeface="Segoe UI"/>
              </a:rPr>
              <a:t>Patch</a:t>
            </a:r>
          </a:p>
        </p:txBody>
      </p:sp>
      <p:sp>
        <p:nvSpPr>
          <p:cNvPr id="18" name="TextBox 17"/>
          <p:cNvSpPr txBox="1"/>
          <p:nvPr/>
        </p:nvSpPr>
        <p:spPr>
          <a:xfrm>
            <a:off x="4965192" y="2944368"/>
            <a:ext cx="2139696" cy="777240"/>
          </a:xfrm>
          <a:prstGeom prst="rect">
            <a:avLst/>
          </a:prstGeom>
          <a:noFill/>
        </p:spPr>
        <p:txBody>
          <a:bodyPr wrap="square" anchor="t" lIns="0" rIns="0" tIns="0" bIns="0">
            <a:spAutoFit/>
          </a:bodyPr>
          <a:lstStyle/>
          <a:p>
            <a:pPr algn="ctr"/>
            <a:r>
              <a:rPr sz="1150" b="0" i="0">
                <a:solidFill>
                  <a:srgbClr val="202020"/>
                </a:solidFill>
                <a:latin typeface="Segoe UI"/>
              </a:rPr>
              <a:t>Windows updates and SQL CUs install; reboot if needed.</a:t>
            </a:r>
          </a:p>
        </p:txBody>
      </p:sp>
      <p:sp>
        <p:nvSpPr>
          <p:cNvPr id="19" name="TextBox 18"/>
          <p:cNvSpPr txBox="1"/>
          <p:nvPr/>
        </p:nvSpPr>
        <p:spPr>
          <a:xfrm>
            <a:off x="7360920" y="1783080"/>
            <a:ext cx="2194560" cy="274320"/>
          </a:xfrm>
          <a:prstGeom prst="rect">
            <a:avLst/>
          </a:prstGeom>
          <a:noFill/>
        </p:spPr>
        <p:txBody>
          <a:bodyPr wrap="square" anchor="t" lIns="0" rIns="0" tIns="0" bIns="0">
            <a:spAutoFit/>
          </a:bodyPr>
          <a:lstStyle/>
          <a:p>
            <a:pPr algn="ctr"/>
            <a:r>
              <a:rPr sz="1200" b="1" i="0">
                <a:solidFill>
                  <a:srgbClr val="545460"/>
                </a:solidFill>
                <a:latin typeface="Segoe UI"/>
              </a:rPr>
              <a:t>Window end</a:t>
            </a:r>
          </a:p>
        </p:txBody>
      </p:sp>
      <p:sp>
        <p:nvSpPr>
          <p:cNvPr id="20" name="Oval 19"/>
          <p:cNvSpPr/>
          <p:nvPr/>
        </p:nvSpPr>
        <p:spPr>
          <a:xfrm>
            <a:off x="8302752" y="2176272"/>
            <a:ext cx="310896" cy="310896"/>
          </a:xfrm>
          <a:prstGeom prst="ellipse">
            <a:avLst/>
          </a:prstGeom>
          <a:solidFill>
            <a:srgbClr val="167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4</a:t>
            </a:r>
          </a:p>
        </p:txBody>
      </p:sp>
      <p:sp>
        <p:nvSpPr>
          <p:cNvPr id="21" name="TextBox 20"/>
          <p:cNvSpPr txBox="1"/>
          <p:nvPr/>
        </p:nvSpPr>
        <p:spPr>
          <a:xfrm>
            <a:off x="7360920" y="2606040"/>
            <a:ext cx="2194560" cy="320040"/>
          </a:xfrm>
          <a:prstGeom prst="rect">
            <a:avLst/>
          </a:prstGeom>
          <a:noFill/>
        </p:spPr>
        <p:txBody>
          <a:bodyPr wrap="square" anchor="t" lIns="0" rIns="0" tIns="0" bIns="0">
            <a:spAutoFit/>
          </a:bodyPr>
          <a:lstStyle/>
          <a:p>
            <a:pPr algn="ctr"/>
            <a:r>
              <a:rPr sz="1600" b="1" i="0">
                <a:solidFill>
                  <a:srgbClr val="167447"/>
                </a:solidFill>
                <a:latin typeface="Segoe UI"/>
              </a:rPr>
              <a:t>Post-event</a:t>
            </a:r>
          </a:p>
        </p:txBody>
      </p:sp>
      <p:sp>
        <p:nvSpPr>
          <p:cNvPr id="22" name="TextBox 21"/>
          <p:cNvSpPr txBox="1"/>
          <p:nvPr/>
        </p:nvSpPr>
        <p:spPr>
          <a:xfrm>
            <a:off x="7388352" y="2944368"/>
            <a:ext cx="2139696" cy="777240"/>
          </a:xfrm>
          <a:prstGeom prst="rect">
            <a:avLst/>
          </a:prstGeom>
          <a:noFill/>
        </p:spPr>
        <p:txBody>
          <a:bodyPr wrap="square" anchor="t" lIns="0" rIns="0" tIns="0" bIns="0">
            <a:spAutoFit/>
          </a:bodyPr>
          <a:lstStyle/>
          <a:p>
            <a:pPr algn="ctr"/>
            <a:r>
              <a:rPr sz="1150" b="0" i="0">
                <a:solidFill>
                  <a:srgbClr val="202020"/>
                </a:solidFill>
                <a:latin typeface="Segoe UI"/>
              </a:rPr>
              <a:t>Wait up to 45 min for SQL and the AG to be healthy.</a:t>
            </a:r>
          </a:p>
        </p:txBody>
      </p:sp>
      <p:sp>
        <p:nvSpPr>
          <p:cNvPr id="23" name="TextBox 22"/>
          <p:cNvSpPr txBox="1"/>
          <p:nvPr/>
        </p:nvSpPr>
        <p:spPr>
          <a:xfrm>
            <a:off x="9784080" y="1783080"/>
            <a:ext cx="2194560" cy="274320"/>
          </a:xfrm>
          <a:prstGeom prst="rect">
            <a:avLst/>
          </a:prstGeom>
          <a:noFill/>
        </p:spPr>
        <p:txBody>
          <a:bodyPr wrap="square" anchor="t" lIns="0" rIns="0" tIns="0" bIns="0">
            <a:spAutoFit/>
          </a:bodyPr>
          <a:lstStyle/>
          <a:p>
            <a:pPr algn="ctr"/>
            <a:r>
              <a:rPr sz="1200" b="1" i="0">
                <a:solidFill>
                  <a:srgbClr val="545460"/>
                </a:solidFill>
                <a:latin typeface="Segoe UI"/>
              </a:rPr>
              <a:t>After validation</a:t>
            </a:r>
          </a:p>
        </p:txBody>
      </p:sp>
      <p:sp>
        <p:nvSpPr>
          <p:cNvPr id="24" name="Oval 23"/>
          <p:cNvSpPr/>
          <p:nvPr/>
        </p:nvSpPr>
        <p:spPr>
          <a:xfrm>
            <a:off x="10725912" y="2176272"/>
            <a:ext cx="310896" cy="31089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5</a:t>
            </a:r>
          </a:p>
        </p:txBody>
      </p:sp>
      <p:sp>
        <p:nvSpPr>
          <p:cNvPr id="25" name="TextBox 24"/>
          <p:cNvSpPr txBox="1"/>
          <p:nvPr/>
        </p:nvSpPr>
        <p:spPr>
          <a:xfrm>
            <a:off x="9784080" y="2606040"/>
            <a:ext cx="2194560" cy="320040"/>
          </a:xfrm>
          <a:prstGeom prst="rect">
            <a:avLst/>
          </a:prstGeom>
          <a:noFill/>
        </p:spPr>
        <p:txBody>
          <a:bodyPr wrap="square" anchor="t" lIns="0" rIns="0" tIns="0" bIns="0">
            <a:spAutoFit/>
          </a:bodyPr>
          <a:lstStyle/>
          <a:p>
            <a:pPr algn="ctr"/>
            <a:r>
              <a:rPr sz="1600" b="1" i="0">
                <a:solidFill>
                  <a:srgbClr val="0078D4"/>
                </a:solidFill>
                <a:latin typeface="Segoe UI"/>
              </a:rPr>
              <a:t>Fail back</a:t>
            </a:r>
          </a:p>
        </p:txBody>
      </p:sp>
      <p:sp>
        <p:nvSpPr>
          <p:cNvPr id="26" name="TextBox 25"/>
          <p:cNvSpPr txBox="1"/>
          <p:nvPr/>
        </p:nvSpPr>
        <p:spPr>
          <a:xfrm>
            <a:off x="9811512" y="2944368"/>
            <a:ext cx="2139696" cy="777240"/>
          </a:xfrm>
          <a:prstGeom prst="rect">
            <a:avLst/>
          </a:prstGeom>
          <a:noFill/>
        </p:spPr>
        <p:txBody>
          <a:bodyPr wrap="square" anchor="t" lIns="0" rIns="0" tIns="0" bIns="0">
            <a:spAutoFit/>
          </a:bodyPr>
          <a:lstStyle/>
          <a:p>
            <a:pPr algn="ctr"/>
            <a:r>
              <a:rPr sz="1150" b="0" i="0">
                <a:solidFill>
                  <a:srgbClr val="202020"/>
                </a:solidFill>
                <a:latin typeface="Segoe UI"/>
              </a:rPr>
              <a:t>Return the AG to the preferred primary. Next wave 60+ min later.</a:t>
            </a:r>
          </a:p>
        </p:txBody>
      </p:sp>
      <p:sp>
        <p:nvSpPr>
          <p:cNvPr id="27" name="TextBox 26"/>
          <p:cNvSpPr txBox="1"/>
          <p:nvPr/>
        </p:nvSpPr>
        <p:spPr>
          <a:xfrm>
            <a:off x="612648" y="3840480"/>
            <a:ext cx="7315200" cy="274320"/>
          </a:xfrm>
          <a:prstGeom prst="rect">
            <a:avLst/>
          </a:prstGeom>
          <a:noFill/>
        </p:spPr>
        <p:txBody>
          <a:bodyPr wrap="square" anchor="t" lIns="0" rIns="0" tIns="0" bIns="0">
            <a:spAutoFit/>
          </a:bodyPr>
          <a:lstStyle/>
          <a:p>
            <a:pPr algn="l"/>
            <a:r>
              <a:rPr sz="1300" b="1" i="0">
                <a:solidFill>
                  <a:srgbClr val="545460"/>
                </a:solidFill>
                <a:latin typeface="Segoe UI"/>
              </a:rPr>
              <a:t>A NORMAL WEEK FOR ONE 2-NODE AG</a:t>
            </a:r>
          </a:p>
        </p:txBody>
      </p:sp>
      <p:sp>
        <p:nvSpPr>
          <p:cNvPr id="28" name="Rounded Rectangle 27"/>
          <p:cNvSpPr/>
          <p:nvPr/>
        </p:nvSpPr>
        <p:spPr>
          <a:xfrm>
            <a:off x="585216" y="4160520"/>
            <a:ext cx="11027664" cy="1463040"/>
          </a:xfrm>
          <a:prstGeom prst="roundRect">
            <a:avLst>
              <a:gd name="adj" fmla="val 6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4251960"/>
            <a:ext cx="1463040" cy="274320"/>
          </a:xfrm>
          <a:prstGeom prst="rect">
            <a:avLst/>
          </a:prstGeom>
          <a:noFill/>
        </p:spPr>
        <p:txBody>
          <a:bodyPr wrap="square" anchor="t" lIns="0" rIns="0" tIns="0" bIns="0">
            <a:spAutoFit/>
          </a:bodyPr>
          <a:lstStyle/>
          <a:p>
            <a:pPr algn="l"/>
            <a:r>
              <a:rPr sz="1250" b="1" i="0">
                <a:solidFill>
                  <a:srgbClr val="0078D4"/>
                </a:solidFill>
                <a:latin typeface="Segoe UI"/>
              </a:rPr>
              <a:t>Step</a:t>
            </a:r>
          </a:p>
        </p:txBody>
      </p:sp>
      <p:sp>
        <p:nvSpPr>
          <p:cNvPr id="30" name="TextBox 29"/>
          <p:cNvSpPr txBox="1"/>
          <p:nvPr/>
        </p:nvSpPr>
        <p:spPr>
          <a:xfrm>
            <a:off x="2377440" y="4251960"/>
            <a:ext cx="4389120" cy="274320"/>
          </a:xfrm>
          <a:prstGeom prst="rect">
            <a:avLst/>
          </a:prstGeom>
          <a:noFill/>
        </p:spPr>
        <p:txBody>
          <a:bodyPr wrap="square" anchor="t" lIns="0" rIns="0" tIns="0" bIns="0">
            <a:spAutoFit/>
          </a:bodyPr>
          <a:lstStyle/>
          <a:p>
            <a:pPr algn="l"/>
            <a:r>
              <a:rPr sz="1250" b="1" i="0">
                <a:solidFill>
                  <a:srgbClr val="0078D4"/>
                </a:solidFill>
                <a:latin typeface="Segoe UI"/>
              </a:rPr>
              <a:t>Wave A  (node B, secondary)</a:t>
            </a:r>
          </a:p>
        </p:txBody>
      </p:sp>
      <p:sp>
        <p:nvSpPr>
          <p:cNvPr id="31" name="TextBox 30"/>
          <p:cNvSpPr txBox="1"/>
          <p:nvPr/>
        </p:nvSpPr>
        <p:spPr>
          <a:xfrm>
            <a:off x="6858000" y="4251960"/>
            <a:ext cx="4572000" cy="274320"/>
          </a:xfrm>
          <a:prstGeom prst="rect">
            <a:avLst/>
          </a:prstGeom>
          <a:noFill/>
        </p:spPr>
        <p:txBody>
          <a:bodyPr wrap="square" anchor="t" lIns="0" rIns="0" tIns="0" bIns="0">
            <a:spAutoFit/>
          </a:bodyPr>
          <a:lstStyle/>
          <a:p>
            <a:pPr algn="l"/>
            <a:r>
              <a:rPr sz="1250" b="1" i="0">
                <a:solidFill>
                  <a:srgbClr val="0078D4"/>
                </a:solidFill>
                <a:latin typeface="Segoe UI"/>
              </a:rPr>
              <a:t>Wave B  (node A, preferred primary)</a:t>
            </a:r>
          </a:p>
        </p:txBody>
      </p:sp>
      <p:cxnSp>
        <p:nvCxnSpPr>
          <p:cNvPr id="32" name="Connector 31"/>
          <p:cNvCxnSpPr/>
          <p:nvPr/>
        </p:nvCxnSpPr>
        <p:spPr>
          <a:xfrm>
            <a:off x="768096" y="4562855"/>
            <a:ext cx="10661904"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68096" y="4590288"/>
            <a:ext cx="1463040" cy="274320"/>
          </a:xfrm>
          <a:prstGeom prst="rect">
            <a:avLst/>
          </a:prstGeom>
          <a:noFill/>
        </p:spPr>
        <p:txBody>
          <a:bodyPr wrap="square" anchor="t" lIns="0" rIns="0" tIns="0" bIns="0">
            <a:spAutoFit/>
          </a:bodyPr>
          <a:lstStyle/>
          <a:p>
            <a:pPr algn="l"/>
            <a:r>
              <a:rPr sz="1200" b="1" i="0">
                <a:solidFill>
                  <a:srgbClr val="8055C8"/>
                </a:solidFill>
                <a:latin typeface="Segoe UI"/>
              </a:rPr>
              <a:t>Pre</a:t>
            </a:r>
          </a:p>
        </p:txBody>
      </p:sp>
      <p:sp>
        <p:nvSpPr>
          <p:cNvPr id="34" name="TextBox 33"/>
          <p:cNvSpPr txBox="1"/>
          <p:nvPr/>
        </p:nvSpPr>
        <p:spPr>
          <a:xfrm>
            <a:off x="2377440" y="4590288"/>
            <a:ext cx="4389120" cy="274320"/>
          </a:xfrm>
          <a:prstGeom prst="rect">
            <a:avLst/>
          </a:prstGeom>
          <a:noFill/>
        </p:spPr>
        <p:txBody>
          <a:bodyPr wrap="square" anchor="t" lIns="0" rIns="0" tIns="0" bIns="0">
            <a:spAutoFit/>
          </a:bodyPr>
          <a:lstStyle/>
          <a:p>
            <a:pPr algn="l"/>
            <a:r>
              <a:rPr sz="1200" b="0" i="0">
                <a:solidFill>
                  <a:srgbClr val="202020"/>
                </a:solidFill>
                <a:latin typeface="Segoe UI"/>
              </a:rPr>
              <a:t>No action: node B is already a secondary</a:t>
            </a:r>
          </a:p>
        </p:txBody>
      </p:sp>
      <p:sp>
        <p:nvSpPr>
          <p:cNvPr id="35" name="TextBox 34"/>
          <p:cNvSpPr txBox="1"/>
          <p:nvPr/>
        </p:nvSpPr>
        <p:spPr>
          <a:xfrm>
            <a:off x="6858000" y="4590288"/>
            <a:ext cx="4572000" cy="274320"/>
          </a:xfrm>
          <a:prstGeom prst="rect">
            <a:avLst/>
          </a:prstGeom>
          <a:noFill/>
        </p:spPr>
        <p:txBody>
          <a:bodyPr wrap="square" anchor="t" lIns="0" rIns="0" tIns="0" bIns="0">
            <a:spAutoFit/>
          </a:bodyPr>
          <a:lstStyle/>
          <a:p>
            <a:pPr algn="l"/>
            <a:r>
              <a:rPr sz="1200" b="0" i="0">
                <a:solidFill>
                  <a:srgbClr val="202020"/>
                </a:solidFill>
                <a:latin typeface="Segoe UI"/>
              </a:rPr>
              <a:t>Fail over to node B</a:t>
            </a:r>
          </a:p>
        </p:txBody>
      </p:sp>
      <p:cxnSp>
        <p:nvCxnSpPr>
          <p:cNvPr id="36" name="Connector 35"/>
          <p:cNvCxnSpPr/>
          <p:nvPr/>
        </p:nvCxnSpPr>
        <p:spPr>
          <a:xfrm>
            <a:off x="768096" y="4892040"/>
            <a:ext cx="10661904"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68096" y="4919472"/>
            <a:ext cx="1463040" cy="274320"/>
          </a:xfrm>
          <a:prstGeom prst="rect">
            <a:avLst/>
          </a:prstGeom>
          <a:noFill/>
        </p:spPr>
        <p:txBody>
          <a:bodyPr wrap="square" anchor="t" lIns="0" rIns="0" tIns="0" bIns="0">
            <a:spAutoFit/>
          </a:bodyPr>
          <a:lstStyle/>
          <a:p>
            <a:pPr algn="l"/>
            <a:r>
              <a:rPr sz="1200" b="1" i="0">
                <a:solidFill>
                  <a:srgbClr val="8055C8"/>
                </a:solidFill>
                <a:latin typeface="Segoe UI"/>
              </a:rPr>
              <a:t>Patch</a:t>
            </a:r>
          </a:p>
        </p:txBody>
      </p:sp>
      <p:sp>
        <p:nvSpPr>
          <p:cNvPr id="38" name="TextBox 37"/>
          <p:cNvSpPr txBox="1"/>
          <p:nvPr/>
        </p:nvSpPr>
        <p:spPr>
          <a:xfrm>
            <a:off x="2377440" y="4919472"/>
            <a:ext cx="4389120" cy="274320"/>
          </a:xfrm>
          <a:prstGeom prst="rect">
            <a:avLst/>
          </a:prstGeom>
          <a:noFill/>
        </p:spPr>
        <p:txBody>
          <a:bodyPr wrap="square" anchor="t" lIns="0" rIns="0" tIns="0" bIns="0">
            <a:spAutoFit/>
          </a:bodyPr>
          <a:lstStyle/>
          <a:p>
            <a:pPr algn="l"/>
            <a:r>
              <a:rPr sz="1200" b="0" i="0">
                <a:solidFill>
                  <a:srgbClr val="202020"/>
                </a:solidFill>
                <a:latin typeface="Segoe UI"/>
              </a:rPr>
              <a:t>Node B patched and rebooted</a:t>
            </a:r>
          </a:p>
        </p:txBody>
      </p:sp>
      <p:sp>
        <p:nvSpPr>
          <p:cNvPr id="39" name="TextBox 38"/>
          <p:cNvSpPr txBox="1"/>
          <p:nvPr/>
        </p:nvSpPr>
        <p:spPr>
          <a:xfrm>
            <a:off x="6858000" y="4919472"/>
            <a:ext cx="4572000" cy="274320"/>
          </a:xfrm>
          <a:prstGeom prst="rect">
            <a:avLst/>
          </a:prstGeom>
          <a:noFill/>
        </p:spPr>
        <p:txBody>
          <a:bodyPr wrap="square" anchor="t" lIns="0" rIns="0" tIns="0" bIns="0">
            <a:spAutoFit/>
          </a:bodyPr>
          <a:lstStyle/>
          <a:p>
            <a:pPr algn="l"/>
            <a:r>
              <a:rPr sz="1200" b="0" i="0">
                <a:solidFill>
                  <a:srgbClr val="202020"/>
                </a:solidFill>
                <a:latin typeface="Segoe UI"/>
              </a:rPr>
              <a:t>Node A patched and rebooted</a:t>
            </a:r>
          </a:p>
        </p:txBody>
      </p:sp>
      <p:cxnSp>
        <p:nvCxnSpPr>
          <p:cNvPr id="40" name="Connector 39"/>
          <p:cNvCxnSpPr/>
          <p:nvPr/>
        </p:nvCxnSpPr>
        <p:spPr>
          <a:xfrm>
            <a:off x="768096" y="5221223"/>
            <a:ext cx="10661904"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68096" y="5248655"/>
            <a:ext cx="1463040" cy="274320"/>
          </a:xfrm>
          <a:prstGeom prst="rect">
            <a:avLst/>
          </a:prstGeom>
          <a:noFill/>
        </p:spPr>
        <p:txBody>
          <a:bodyPr wrap="square" anchor="t" lIns="0" rIns="0" tIns="0" bIns="0">
            <a:spAutoFit/>
          </a:bodyPr>
          <a:lstStyle/>
          <a:p>
            <a:pPr algn="l"/>
            <a:r>
              <a:rPr sz="1200" b="1" i="0">
                <a:solidFill>
                  <a:srgbClr val="8055C8"/>
                </a:solidFill>
                <a:latin typeface="Segoe UI"/>
              </a:rPr>
              <a:t>Post</a:t>
            </a:r>
          </a:p>
        </p:txBody>
      </p:sp>
      <p:sp>
        <p:nvSpPr>
          <p:cNvPr id="42" name="TextBox 41"/>
          <p:cNvSpPr txBox="1"/>
          <p:nvPr/>
        </p:nvSpPr>
        <p:spPr>
          <a:xfrm>
            <a:off x="2377440" y="5248655"/>
            <a:ext cx="4389120" cy="274320"/>
          </a:xfrm>
          <a:prstGeom prst="rect">
            <a:avLst/>
          </a:prstGeom>
          <a:noFill/>
        </p:spPr>
        <p:txBody>
          <a:bodyPr wrap="square" anchor="t" lIns="0" rIns="0" tIns="0" bIns="0">
            <a:spAutoFit/>
          </a:bodyPr>
          <a:lstStyle/>
          <a:p>
            <a:pPr algn="l"/>
            <a:r>
              <a:rPr sz="1200" b="0" i="0">
                <a:solidFill>
                  <a:srgbClr val="202020"/>
                </a:solidFill>
                <a:latin typeface="Segoe UI"/>
              </a:rPr>
              <a:t>Validate node B is synchronized</a:t>
            </a:r>
          </a:p>
        </p:txBody>
      </p:sp>
      <p:sp>
        <p:nvSpPr>
          <p:cNvPr id="43" name="TextBox 42"/>
          <p:cNvSpPr txBox="1"/>
          <p:nvPr/>
        </p:nvSpPr>
        <p:spPr>
          <a:xfrm>
            <a:off x="6858000" y="5248655"/>
            <a:ext cx="4572000" cy="274320"/>
          </a:xfrm>
          <a:prstGeom prst="rect">
            <a:avLst/>
          </a:prstGeom>
          <a:noFill/>
        </p:spPr>
        <p:txBody>
          <a:bodyPr wrap="square" anchor="t" lIns="0" rIns="0" tIns="0" bIns="0">
            <a:spAutoFit/>
          </a:bodyPr>
          <a:lstStyle/>
          <a:p>
            <a:pPr algn="l"/>
            <a:r>
              <a:rPr sz="1200" b="0" i="0">
                <a:solidFill>
                  <a:srgbClr val="202020"/>
                </a:solidFill>
                <a:latin typeface="Segoe UI"/>
              </a:rPr>
              <a:t>Validate node A, then fail back to node A</a:t>
            </a:r>
          </a:p>
        </p:txBody>
      </p:sp>
      <p:sp>
        <p:nvSpPr>
          <p:cNvPr id="44" name="Rounded Rectangle 43"/>
          <p:cNvSpPr/>
          <p:nvPr/>
        </p:nvSpPr>
        <p:spPr>
          <a:xfrm>
            <a:off x="585216" y="5760720"/>
            <a:ext cx="11027664" cy="502920"/>
          </a:xfrm>
          <a:prstGeom prst="roundRect">
            <a:avLst>
              <a:gd name="adj" fmla="val 15000"/>
            </a:avLst>
          </a:prstGeom>
          <a:solidFill>
            <a:srgbClr val="E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6384" y="5760720"/>
            <a:ext cx="10607040" cy="502920"/>
          </a:xfrm>
          <a:prstGeom prst="rect">
            <a:avLst/>
          </a:prstGeom>
          <a:noFill/>
        </p:spPr>
        <p:txBody>
          <a:bodyPr wrap="square" anchor="ctr" lIns="0" rIns="0" tIns="0" bIns="0">
            <a:spAutoFit/>
          </a:bodyPr>
          <a:lstStyle/>
          <a:p>
            <a:pPr algn="l"/>
            <a:r>
              <a:rPr sz="1500" b="1" i="0">
                <a:solidFill>
                  <a:srgbClr val="0078D4"/>
                </a:solidFill>
                <a:latin typeface="Segoe UI"/>
              </a:rPr>
              <a:t>Two planned failovers per AG per cycle, about 10 seconds each. The primary is never rebooted.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05  |  The pre-event decision</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Fail closed: if the runbook can't prove the failover is safe, it cancels the run.</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08</a:t>
            </a:r>
          </a:p>
        </p:txBody>
      </p:sp>
      <p:sp>
        <p:nvSpPr>
          <p:cNvPr id="6" name="Rounded Rectangle 5"/>
          <p:cNvSpPr/>
          <p:nvPr/>
        </p:nvSpPr>
        <p:spPr>
          <a:xfrm>
            <a:off x="585216" y="1783080"/>
            <a:ext cx="4206240" cy="3840480"/>
          </a:xfrm>
          <a:prstGeom prst="roundRect">
            <a:avLst>
              <a:gd name="adj" fmla="val 8000"/>
            </a:avLst>
          </a:prstGeom>
          <a:solidFill>
            <a:srgbClr val="EB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65960"/>
            <a:ext cx="3749039" cy="411480"/>
          </a:xfrm>
          <a:prstGeom prst="rect">
            <a:avLst/>
          </a:prstGeom>
          <a:noFill/>
        </p:spPr>
        <p:txBody>
          <a:bodyPr wrap="square" anchor="t" lIns="0" rIns="0" tIns="0" bIns="0">
            <a:spAutoFit/>
          </a:bodyPr>
          <a:lstStyle/>
          <a:p>
            <a:pPr algn="l"/>
            <a:r>
              <a:rPr sz="2200" b="1" i="0">
                <a:solidFill>
                  <a:srgbClr val="0078D4"/>
                </a:solidFill>
                <a:latin typeface="Segoe UI"/>
              </a:rPr>
              <a:t>Read the partner</a:t>
            </a:r>
          </a:p>
        </p:txBody>
      </p:sp>
      <p:sp>
        <p:nvSpPr>
          <p:cNvPr id="8" name="TextBox 7"/>
          <p:cNvSpPr txBox="1"/>
          <p:nvPr/>
        </p:nvSpPr>
        <p:spPr>
          <a:xfrm>
            <a:off x="822960" y="2423160"/>
            <a:ext cx="3749039" cy="320040"/>
          </a:xfrm>
          <a:prstGeom prst="rect">
            <a:avLst/>
          </a:prstGeom>
          <a:noFill/>
        </p:spPr>
        <p:txBody>
          <a:bodyPr wrap="square" anchor="t" lIns="0" rIns="0" tIns="0" bIns="0">
            <a:spAutoFit/>
          </a:bodyPr>
          <a:lstStyle/>
          <a:p>
            <a:pPr algn="l"/>
            <a:r>
              <a:rPr sz="1250" b="0" i="0">
                <a:solidFill>
                  <a:srgbClr val="545460"/>
                </a:solidFill>
                <a:latin typeface="Consolas"/>
              </a:rPr>
              <a:t>getDetailView on the partner replica</a:t>
            </a:r>
          </a:p>
        </p:txBody>
      </p:sp>
      <p:sp>
        <p:nvSpPr>
          <p:cNvPr id="9" name="Oval 8"/>
          <p:cNvSpPr/>
          <p:nvPr/>
        </p:nvSpPr>
        <p:spPr>
          <a:xfrm>
            <a:off x="841248" y="2962656"/>
            <a:ext cx="237744" cy="237744"/>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a:t>
            </a:r>
          </a:p>
        </p:txBody>
      </p:sp>
      <p:sp>
        <p:nvSpPr>
          <p:cNvPr id="10" name="TextBox 9"/>
          <p:cNvSpPr txBox="1"/>
          <p:nvPr/>
        </p:nvSpPr>
        <p:spPr>
          <a:xfrm>
            <a:off x="1207008" y="2926080"/>
            <a:ext cx="3474720" cy="320040"/>
          </a:xfrm>
          <a:prstGeom prst="rect">
            <a:avLst/>
          </a:prstGeom>
          <a:noFill/>
        </p:spPr>
        <p:txBody>
          <a:bodyPr wrap="square" anchor="t" lIns="0" rIns="0" tIns="0" bIns="0">
            <a:spAutoFit/>
          </a:bodyPr>
          <a:lstStyle/>
          <a:p>
            <a:pPr algn="l"/>
            <a:r>
              <a:rPr sz="1400" b="0" i="0">
                <a:solidFill>
                  <a:srgbClr val="202020"/>
                </a:solidFill>
                <a:latin typeface="Segoe UI"/>
              </a:rPr>
              <a:t>Role: primary or secondary</a:t>
            </a:r>
          </a:p>
        </p:txBody>
      </p:sp>
      <p:sp>
        <p:nvSpPr>
          <p:cNvPr id="11" name="Oval 10"/>
          <p:cNvSpPr/>
          <p:nvPr/>
        </p:nvSpPr>
        <p:spPr>
          <a:xfrm>
            <a:off x="841248" y="3419856"/>
            <a:ext cx="237744" cy="237744"/>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a:t>
            </a:r>
          </a:p>
        </p:txBody>
      </p:sp>
      <p:sp>
        <p:nvSpPr>
          <p:cNvPr id="12" name="TextBox 11"/>
          <p:cNvSpPr txBox="1"/>
          <p:nvPr/>
        </p:nvSpPr>
        <p:spPr>
          <a:xfrm>
            <a:off x="1207008" y="3383280"/>
            <a:ext cx="3474720" cy="320040"/>
          </a:xfrm>
          <a:prstGeom prst="rect">
            <a:avLst/>
          </a:prstGeom>
          <a:noFill/>
        </p:spPr>
        <p:txBody>
          <a:bodyPr wrap="square" anchor="t" lIns="0" rIns="0" tIns="0" bIns="0">
            <a:spAutoFit/>
          </a:bodyPr>
          <a:lstStyle/>
          <a:p>
            <a:pPr algn="l"/>
            <a:r>
              <a:rPr sz="1400" b="0" i="0">
                <a:solidFill>
                  <a:srgbClr val="202020"/>
                </a:solidFill>
                <a:latin typeface="Segoe UI"/>
              </a:rPr>
              <a:t>Synchronous commit, connected, healthy</a:t>
            </a:r>
          </a:p>
        </p:txBody>
      </p:sp>
      <p:sp>
        <p:nvSpPr>
          <p:cNvPr id="13" name="Oval 12"/>
          <p:cNvSpPr/>
          <p:nvPr/>
        </p:nvSpPr>
        <p:spPr>
          <a:xfrm>
            <a:off x="841248" y="3877056"/>
            <a:ext cx="237744" cy="237744"/>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a:t>
            </a:r>
          </a:p>
        </p:txBody>
      </p:sp>
      <p:sp>
        <p:nvSpPr>
          <p:cNvPr id="14" name="TextBox 13"/>
          <p:cNvSpPr txBox="1"/>
          <p:nvPr/>
        </p:nvSpPr>
        <p:spPr>
          <a:xfrm>
            <a:off x="1207008" y="3840480"/>
            <a:ext cx="3474720" cy="320040"/>
          </a:xfrm>
          <a:prstGeom prst="rect">
            <a:avLst/>
          </a:prstGeom>
          <a:noFill/>
        </p:spPr>
        <p:txBody>
          <a:bodyPr wrap="square" anchor="t" lIns="0" rIns="0" tIns="0" bIns="0">
            <a:spAutoFit/>
          </a:bodyPr>
          <a:lstStyle/>
          <a:p>
            <a:pPr algn="l"/>
            <a:r>
              <a:rPr sz="1400" b="0" i="0">
                <a:solidFill>
                  <a:srgbClr val="202020"/>
                </a:solidFill>
                <a:latin typeface="Segoe UI"/>
              </a:rPr>
              <a:t>Every database synchronized</a:t>
            </a:r>
          </a:p>
        </p:txBody>
      </p:sp>
      <p:sp>
        <p:nvSpPr>
          <p:cNvPr id="15" name="Oval 14"/>
          <p:cNvSpPr/>
          <p:nvPr/>
        </p:nvSpPr>
        <p:spPr>
          <a:xfrm>
            <a:off x="841248" y="4334256"/>
            <a:ext cx="237744" cy="237744"/>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a:t>
            </a:r>
          </a:p>
        </p:txBody>
      </p:sp>
      <p:sp>
        <p:nvSpPr>
          <p:cNvPr id="16" name="TextBox 15"/>
          <p:cNvSpPr txBox="1"/>
          <p:nvPr/>
        </p:nvSpPr>
        <p:spPr>
          <a:xfrm>
            <a:off x="1207008" y="4297680"/>
            <a:ext cx="3474720" cy="320040"/>
          </a:xfrm>
          <a:prstGeom prst="rect">
            <a:avLst/>
          </a:prstGeom>
          <a:noFill/>
        </p:spPr>
        <p:txBody>
          <a:bodyPr wrap="square" anchor="t" lIns="0" rIns="0" tIns="0" bIns="0">
            <a:spAutoFit/>
          </a:bodyPr>
          <a:lstStyle/>
          <a:p>
            <a:pPr algn="l"/>
            <a:r>
              <a:rPr sz="1400" b="0" i="0">
                <a:solidFill>
                  <a:srgbClr val="202020"/>
                </a:solidFill>
                <a:latin typeface="Segoe UI"/>
              </a:rPr>
              <a:t>Data collected in the last 60 s</a:t>
            </a:r>
          </a:p>
        </p:txBody>
      </p:sp>
      <p:sp>
        <p:nvSpPr>
          <p:cNvPr id="17" name="TextBox 16"/>
          <p:cNvSpPr txBox="1"/>
          <p:nvPr/>
        </p:nvSpPr>
        <p:spPr>
          <a:xfrm>
            <a:off x="822960" y="4846320"/>
            <a:ext cx="3749039" cy="640080"/>
          </a:xfrm>
          <a:prstGeom prst="rect">
            <a:avLst/>
          </a:prstGeom>
          <a:noFill/>
        </p:spPr>
        <p:txBody>
          <a:bodyPr wrap="square" anchor="t" lIns="0" rIns="0" tIns="0" bIns="0">
            <a:spAutoFit/>
          </a:bodyPr>
          <a:lstStyle/>
          <a:p>
            <a:pPr algn="l"/>
            <a:r>
              <a:rPr sz="1250" b="0" i="1">
                <a:solidFill>
                  <a:srgbClr val="545460"/>
                </a:solidFill>
                <a:latin typeface="Segoe UI"/>
              </a:rPr>
              <a:t>Waits up to 10 minutes if the partner is still catching up.</a:t>
            </a:r>
          </a:p>
        </p:txBody>
      </p:sp>
      <p:sp>
        <p:nvSpPr>
          <p:cNvPr id="18" name="Rounded Rectangle 17"/>
          <p:cNvSpPr/>
          <p:nvPr/>
        </p:nvSpPr>
        <p:spPr>
          <a:xfrm>
            <a:off x="5120640" y="1783080"/>
            <a:ext cx="6492240" cy="1170432"/>
          </a:xfrm>
          <a:prstGeom prst="roundRect">
            <a:avLst>
              <a:gd name="adj" fmla="val 8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20640" y="1892807"/>
            <a:ext cx="82296" cy="950976"/>
          </a:xfrm>
          <a:prstGeom prst="rect">
            <a:avLst/>
          </a:prstGeom>
          <a:solidFill>
            <a:srgbClr val="167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13248" y="1911095"/>
            <a:ext cx="3931920" cy="320040"/>
          </a:xfrm>
          <a:prstGeom prst="rect">
            <a:avLst/>
          </a:prstGeom>
          <a:noFill/>
        </p:spPr>
        <p:txBody>
          <a:bodyPr wrap="square" anchor="t" lIns="0" rIns="0" tIns="0" bIns="0">
            <a:spAutoFit/>
          </a:bodyPr>
          <a:lstStyle/>
          <a:p>
            <a:pPr algn="l"/>
            <a:r>
              <a:rPr sz="1500" b="1" i="0">
                <a:solidFill>
                  <a:srgbClr val="202020"/>
                </a:solidFill>
                <a:latin typeface="Segoe UI"/>
              </a:rPr>
              <a:t>Partner is already primary</a:t>
            </a:r>
          </a:p>
        </p:txBody>
      </p:sp>
      <p:sp>
        <p:nvSpPr>
          <p:cNvPr id="21" name="TextBox 20"/>
          <p:cNvSpPr txBox="1"/>
          <p:nvPr/>
        </p:nvSpPr>
        <p:spPr>
          <a:xfrm>
            <a:off x="9144000" y="1911095"/>
            <a:ext cx="2286000" cy="320040"/>
          </a:xfrm>
          <a:prstGeom prst="rect">
            <a:avLst/>
          </a:prstGeom>
          <a:noFill/>
        </p:spPr>
        <p:txBody>
          <a:bodyPr wrap="square" anchor="t" lIns="0" rIns="0" tIns="0" bIns="0">
            <a:spAutoFit/>
          </a:bodyPr>
          <a:lstStyle/>
          <a:p>
            <a:pPr algn="r"/>
            <a:r>
              <a:rPr sz="1500" b="1" i="0">
                <a:solidFill>
                  <a:srgbClr val="167447"/>
                </a:solidFill>
                <a:latin typeface="Segoe UI"/>
              </a:rPr>
              <a:t>Patch, no action</a:t>
            </a:r>
          </a:p>
        </p:txBody>
      </p:sp>
      <p:sp>
        <p:nvSpPr>
          <p:cNvPr id="22" name="TextBox 21"/>
          <p:cNvSpPr txBox="1"/>
          <p:nvPr/>
        </p:nvSpPr>
        <p:spPr>
          <a:xfrm>
            <a:off x="5413248" y="2295144"/>
            <a:ext cx="6035040" cy="548640"/>
          </a:xfrm>
          <a:prstGeom prst="rect">
            <a:avLst/>
          </a:prstGeom>
          <a:noFill/>
        </p:spPr>
        <p:txBody>
          <a:bodyPr wrap="square" anchor="t" lIns="0" rIns="0" tIns="0" bIns="0">
            <a:spAutoFit/>
          </a:bodyPr>
          <a:lstStyle/>
          <a:p>
            <a:pPr algn="l"/>
            <a:r>
              <a:rPr sz="1250" b="0" i="0">
                <a:solidFill>
                  <a:srgbClr val="545460"/>
                </a:solidFill>
                <a:latin typeface="Segoe UI"/>
              </a:rPr>
              <a:t>The node being patched is a secondary. Nothing to move.</a:t>
            </a:r>
          </a:p>
        </p:txBody>
      </p:sp>
      <p:sp>
        <p:nvSpPr>
          <p:cNvPr id="23" name="Rounded Rectangle 22"/>
          <p:cNvSpPr/>
          <p:nvPr/>
        </p:nvSpPr>
        <p:spPr>
          <a:xfrm>
            <a:off x="5120640" y="3081528"/>
            <a:ext cx="6492240" cy="1170432"/>
          </a:xfrm>
          <a:prstGeom prst="roundRect">
            <a:avLst>
              <a:gd name="adj" fmla="val 8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0" y="3191256"/>
            <a:ext cx="82296" cy="9509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13248" y="3209544"/>
            <a:ext cx="3931920" cy="320040"/>
          </a:xfrm>
          <a:prstGeom prst="rect">
            <a:avLst/>
          </a:prstGeom>
          <a:noFill/>
        </p:spPr>
        <p:txBody>
          <a:bodyPr wrap="square" anchor="t" lIns="0" rIns="0" tIns="0" bIns="0">
            <a:spAutoFit/>
          </a:bodyPr>
          <a:lstStyle/>
          <a:p>
            <a:pPr algn="l"/>
            <a:r>
              <a:rPr sz="1500" b="1" i="0">
                <a:solidFill>
                  <a:srgbClr val="202020"/>
                </a:solidFill>
                <a:latin typeface="Segoe UI"/>
              </a:rPr>
              <a:t>Partner is a failover-ready secondary</a:t>
            </a:r>
          </a:p>
        </p:txBody>
      </p:sp>
      <p:sp>
        <p:nvSpPr>
          <p:cNvPr id="26" name="TextBox 25"/>
          <p:cNvSpPr txBox="1"/>
          <p:nvPr/>
        </p:nvSpPr>
        <p:spPr>
          <a:xfrm>
            <a:off x="9144000" y="3209544"/>
            <a:ext cx="2286000" cy="320040"/>
          </a:xfrm>
          <a:prstGeom prst="rect">
            <a:avLst/>
          </a:prstGeom>
          <a:noFill/>
        </p:spPr>
        <p:txBody>
          <a:bodyPr wrap="square" anchor="t" lIns="0" rIns="0" tIns="0" bIns="0">
            <a:spAutoFit/>
          </a:bodyPr>
          <a:lstStyle/>
          <a:p>
            <a:pPr algn="r"/>
            <a:r>
              <a:rPr sz="1500" b="1" i="0">
                <a:solidFill>
                  <a:srgbClr val="0078D4"/>
                </a:solidFill>
                <a:latin typeface="Segoe UI"/>
              </a:rPr>
              <a:t>Planned failover</a:t>
            </a:r>
          </a:p>
        </p:txBody>
      </p:sp>
      <p:sp>
        <p:nvSpPr>
          <p:cNvPr id="27" name="TextBox 26"/>
          <p:cNvSpPr txBox="1"/>
          <p:nvPr/>
        </p:nvSpPr>
        <p:spPr>
          <a:xfrm>
            <a:off x="5413248" y="3593592"/>
            <a:ext cx="6035040" cy="548640"/>
          </a:xfrm>
          <a:prstGeom prst="rect">
            <a:avLst/>
          </a:prstGeom>
          <a:noFill/>
        </p:spPr>
        <p:txBody>
          <a:bodyPr wrap="square" anchor="t" lIns="0" rIns="0" tIns="0" bIns="0">
            <a:spAutoFit/>
          </a:bodyPr>
          <a:lstStyle/>
          <a:p>
            <a:pPr algn="l"/>
            <a:r>
              <a:rPr sz="1250" b="0" i="0">
                <a:solidFill>
                  <a:srgbClr val="545460"/>
                </a:solidFill>
                <a:latin typeface="Segoe UI"/>
              </a:rPr>
              <a:t>Arc AG API fails over to the partner (~10 s), then the new primary is confirmed.</a:t>
            </a:r>
          </a:p>
        </p:txBody>
      </p:sp>
      <p:sp>
        <p:nvSpPr>
          <p:cNvPr id="28" name="Rounded Rectangle 27"/>
          <p:cNvSpPr/>
          <p:nvPr/>
        </p:nvSpPr>
        <p:spPr>
          <a:xfrm>
            <a:off x="5120640" y="4379976"/>
            <a:ext cx="6492240" cy="1170432"/>
          </a:xfrm>
          <a:prstGeom prst="roundRect">
            <a:avLst>
              <a:gd name="adj" fmla="val 8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120640" y="4489704"/>
            <a:ext cx="82296" cy="950976"/>
          </a:xfrm>
          <a:prstGeom prst="rect">
            <a:avLst/>
          </a:prstGeom>
          <a:solidFill>
            <a:srgbClr val="C5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13248" y="4507992"/>
            <a:ext cx="3931920" cy="320040"/>
          </a:xfrm>
          <a:prstGeom prst="rect">
            <a:avLst/>
          </a:prstGeom>
          <a:noFill/>
        </p:spPr>
        <p:txBody>
          <a:bodyPr wrap="square" anchor="t" lIns="0" rIns="0" tIns="0" bIns="0">
            <a:spAutoFit/>
          </a:bodyPr>
          <a:lstStyle/>
          <a:p>
            <a:pPr algn="l"/>
            <a:r>
              <a:rPr sz="1500" b="1" i="0">
                <a:solidFill>
                  <a:srgbClr val="202020"/>
                </a:solidFill>
                <a:latin typeface="Segoe UI"/>
              </a:rPr>
              <a:t>Anything else</a:t>
            </a:r>
          </a:p>
        </p:txBody>
      </p:sp>
      <p:sp>
        <p:nvSpPr>
          <p:cNvPr id="31" name="TextBox 30"/>
          <p:cNvSpPr txBox="1"/>
          <p:nvPr/>
        </p:nvSpPr>
        <p:spPr>
          <a:xfrm>
            <a:off x="9144000" y="4507992"/>
            <a:ext cx="2286000" cy="320040"/>
          </a:xfrm>
          <a:prstGeom prst="rect">
            <a:avLst/>
          </a:prstGeom>
          <a:noFill/>
        </p:spPr>
        <p:txBody>
          <a:bodyPr wrap="square" anchor="t" lIns="0" rIns="0" tIns="0" bIns="0">
            <a:spAutoFit/>
          </a:bodyPr>
          <a:lstStyle/>
          <a:p>
            <a:pPr algn="r"/>
            <a:r>
              <a:rPr sz="1500" b="1" i="0">
                <a:solidFill>
                  <a:srgbClr val="C50F1F"/>
                </a:solidFill>
                <a:latin typeface="Segoe UI"/>
              </a:rPr>
              <a:t>Cancel this run</a:t>
            </a:r>
          </a:p>
        </p:txBody>
      </p:sp>
      <p:sp>
        <p:nvSpPr>
          <p:cNvPr id="32" name="TextBox 31"/>
          <p:cNvSpPr txBox="1"/>
          <p:nvPr/>
        </p:nvSpPr>
        <p:spPr>
          <a:xfrm>
            <a:off x="5413248" y="4892040"/>
            <a:ext cx="6035040" cy="548640"/>
          </a:xfrm>
          <a:prstGeom prst="rect">
            <a:avLst/>
          </a:prstGeom>
          <a:noFill/>
        </p:spPr>
        <p:txBody>
          <a:bodyPr wrap="square" anchor="t" lIns="0" rIns="0" tIns="0" bIns="0">
            <a:spAutoFit/>
          </a:bodyPr>
          <a:lstStyle/>
          <a:p>
            <a:pPr algn="l"/>
            <a:r>
              <a:rPr sz="1250" b="0" i="0">
                <a:solidFill>
                  <a:srgbClr val="545460"/>
                </a:solidFill>
                <a:latin typeface="Segoe UI"/>
              </a:rPr>
              <a:t>Partner offline or unsynchronized, failover failed, or too close to the cut-off.</a:t>
            </a:r>
          </a:p>
        </p:txBody>
      </p:sp>
      <p:sp>
        <p:nvSpPr>
          <p:cNvPr id="33" name="Rounded Rectangle 32"/>
          <p:cNvSpPr/>
          <p:nvPr/>
        </p:nvSpPr>
        <p:spPr>
          <a:xfrm>
            <a:off x="585216" y="5779008"/>
            <a:ext cx="11027664" cy="502920"/>
          </a:xfrm>
          <a:prstGeom prst="roundRect">
            <a:avLst>
              <a:gd name="adj" fmla="val 15000"/>
            </a:avLst>
          </a:prstGeom>
          <a:solidFill>
            <a:srgbClr val="FFF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5779008"/>
            <a:ext cx="10607040" cy="502920"/>
          </a:xfrm>
          <a:prstGeom prst="rect">
            <a:avLst/>
          </a:prstGeom>
          <a:noFill/>
        </p:spPr>
        <p:txBody>
          <a:bodyPr wrap="square" anchor="ctr" lIns="0" rIns="0" tIns="0" bIns="0">
            <a:spAutoFit/>
          </a:bodyPr>
          <a:lstStyle/>
          <a:p>
            <a:pPr algn="l"/>
            <a:r>
              <a:rPr sz="1450" b="1" i="0">
                <a:solidFill>
                  <a:srgbClr val="8A5A00"/>
                </a:solidFill>
                <a:latin typeface="Segoe UI"/>
              </a:rPr>
              <a:t>A cancel skips this occurrence only. Updates stay pending; nothing retries automatically.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06  |  Failover through Azure Arc</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The runbooks use the same API as the portal's Availability Groups blade.</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3813048" y="6492240"/>
            <a:ext cx="4572000" cy="265176"/>
          </a:xfrm>
          <a:prstGeom prst="rect">
            <a:avLst/>
          </a:prstGeom>
          <a:noFill/>
        </p:spPr>
        <p:txBody>
          <a:bodyPr wrap="square" anchor="t" lIns="0" rIns="0" tIns="0" bIns="0">
            <a:spAutoFit/>
          </a:bodyPr>
          <a:lstStyle/>
          <a:p>
            <a:pPr algn="ctr"/>
            <a:r>
              <a:rPr sz="1000" b="0" i="0">
                <a:solidFill>
                  <a:srgbClr val="0078D4"/>
                </a:solidFill>
                <a:latin typeface="Segoe UI"/>
              </a:rPr>
              <a:t>API versions 2024-01-01 and 2026-01-01 (GA)</a:t>
            </a:r>
          </a:p>
        </p:txBody>
      </p:sp>
      <p:sp>
        <p:nvSpPr>
          <p:cNvPr id="6" name="TextBox 5"/>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09</a:t>
            </a:r>
          </a:p>
        </p:txBody>
      </p:sp>
      <p:sp>
        <p:nvSpPr>
          <p:cNvPr id="7" name="Rounded Rectangle 6"/>
          <p:cNvSpPr/>
          <p:nvPr/>
        </p:nvSpPr>
        <p:spPr>
          <a:xfrm>
            <a:off x="585216" y="1783080"/>
            <a:ext cx="4206240" cy="4526280"/>
          </a:xfrm>
          <a:prstGeom prst="roundRect">
            <a:avLst>
              <a:gd name="adj" fmla="val 7000"/>
            </a:avLst>
          </a:prstGeom>
          <a:solidFill>
            <a:srgbClr val="EB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3749039" cy="1188720"/>
          </a:xfrm>
          <a:prstGeom prst="rect">
            <a:avLst/>
          </a:prstGeom>
          <a:noFill/>
        </p:spPr>
        <p:txBody>
          <a:bodyPr wrap="square" anchor="t" lIns="0" rIns="0" tIns="0" bIns="0">
            <a:spAutoFit/>
          </a:bodyPr>
          <a:lstStyle/>
          <a:p>
            <a:pPr algn="l"/>
            <a:r>
              <a:rPr sz="2400" b="1" i="0">
                <a:solidFill>
                  <a:srgbClr val="0078D4"/>
                </a:solidFill>
                <a:latin typeface="Segoe UI"/>
              </a:rPr>
              <a:t>No T-SQL.</a:t>
            </a:r>
          </a:p>
          <a:p>
            <a:pPr algn="l"/>
            <a:r>
              <a:rPr sz="2400" b="1" i="0">
                <a:solidFill>
                  <a:srgbClr val="0078D4"/>
                </a:solidFill>
                <a:latin typeface="Segoe UI"/>
              </a:rPr>
              <a:t>No RDP.</a:t>
            </a:r>
          </a:p>
          <a:p>
            <a:pPr algn="l"/>
            <a:r>
              <a:rPr sz="2400" b="1" i="0">
                <a:solidFill>
                  <a:srgbClr val="0078D4"/>
                </a:solidFill>
                <a:latin typeface="Segoe UI"/>
              </a:rPr>
              <a:t>No Run Command.</a:t>
            </a:r>
          </a:p>
        </p:txBody>
      </p:sp>
      <p:sp>
        <p:nvSpPr>
          <p:cNvPr id="9" name="TextBox 8"/>
          <p:cNvSpPr txBox="1"/>
          <p:nvPr/>
        </p:nvSpPr>
        <p:spPr>
          <a:xfrm>
            <a:off x="822960" y="3291840"/>
            <a:ext cx="3749039" cy="1097280"/>
          </a:xfrm>
          <a:prstGeom prst="rect">
            <a:avLst/>
          </a:prstGeom>
          <a:noFill/>
        </p:spPr>
        <p:txBody>
          <a:bodyPr wrap="square" anchor="t" lIns="0" rIns="0" tIns="0" bIns="0">
            <a:spAutoFit/>
          </a:bodyPr>
          <a:lstStyle/>
          <a:p>
            <a:pPr algn="l"/>
            <a:r>
              <a:rPr sz="1400" b="0" i="0">
                <a:solidFill>
                  <a:srgbClr val="202020"/>
                </a:solidFill>
                <a:latin typeface="Segoe UI"/>
              </a:rPr>
              <a:t>The Azure extension for SQL Server runs each request on the EC2 host with its own SQL permissions.</a:t>
            </a:r>
          </a:p>
        </p:txBody>
      </p:sp>
      <p:sp>
        <p:nvSpPr>
          <p:cNvPr id="10" name="TextBox 9"/>
          <p:cNvSpPr txBox="1"/>
          <p:nvPr/>
        </p:nvSpPr>
        <p:spPr>
          <a:xfrm>
            <a:off x="822960" y="4343400"/>
            <a:ext cx="3749039" cy="274320"/>
          </a:xfrm>
          <a:prstGeom prst="rect">
            <a:avLst/>
          </a:prstGeom>
          <a:noFill/>
        </p:spPr>
        <p:txBody>
          <a:bodyPr wrap="square" anchor="t" lIns="0" rIns="0" tIns="0" bIns="0">
            <a:spAutoFit/>
          </a:bodyPr>
          <a:lstStyle/>
          <a:p>
            <a:pPr algn="l"/>
            <a:r>
              <a:rPr sz="1100" b="1" i="0">
                <a:solidFill>
                  <a:srgbClr val="545460"/>
                </a:solidFill>
                <a:latin typeface="Segoe UI"/>
              </a:rPr>
              <a:t>PERMISSIONS</a:t>
            </a:r>
          </a:p>
        </p:txBody>
      </p:sp>
      <p:sp>
        <p:nvSpPr>
          <p:cNvPr id="11" name="TextBox 10"/>
          <p:cNvSpPr txBox="1"/>
          <p:nvPr/>
        </p:nvSpPr>
        <p:spPr>
          <a:xfrm>
            <a:off x="822960" y="4617720"/>
            <a:ext cx="3749039" cy="1554480"/>
          </a:xfrm>
          <a:prstGeom prst="rect">
            <a:avLst/>
          </a:prstGeom>
          <a:noFill/>
        </p:spPr>
        <p:txBody>
          <a:bodyPr wrap="square" anchor="t" lIns="0" rIns="0" tIns="0" bIns="0">
            <a:spAutoFit/>
          </a:bodyPr>
          <a:lstStyle/>
          <a:p>
            <a:pPr algn="l">
              <a:spcAft>
                <a:spcPts val="400"/>
              </a:spcAft>
            </a:pPr>
            <a:r>
              <a:rPr sz="1200" b="0" i="0">
                <a:solidFill>
                  <a:srgbClr val="202020"/>
                </a:solidFill>
                <a:latin typeface="Segoe UI"/>
              </a:rPr>
              <a:t>Managed identity with Azure RBAC only:</a:t>
            </a:r>
          </a:p>
          <a:p>
            <a:pPr algn="l">
              <a:spcAft>
                <a:spcPts val="400"/>
              </a:spcAft>
            </a:pPr>
            <a:r>
              <a:rPr sz="1200" b="0" i="0">
                <a:solidFill>
                  <a:srgbClr val="202020"/>
                </a:solidFill>
                <a:latin typeface="Segoe UI"/>
              </a:rPr>
              <a:t>failover and getDetailView actions on each Arc SQL instance, and cancel on each maintenance configuration.</a:t>
            </a:r>
          </a:p>
        </p:txBody>
      </p:sp>
      <p:sp>
        <p:nvSpPr>
          <p:cNvPr id="12" name="Rounded Rectangle 11"/>
          <p:cNvSpPr/>
          <p:nvPr/>
        </p:nvSpPr>
        <p:spPr>
          <a:xfrm>
            <a:off x="5120640" y="1783080"/>
            <a:ext cx="6492240" cy="1353312"/>
          </a:xfrm>
          <a:prstGeom prst="roundRect">
            <a:avLst>
              <a:gd name="adj" fmla="val 8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9240" y="1911095"/>
            <a:ext cx="6126480" cy="274320"/>
          </a:xfrm>
          <a:prstGeom prst="rect">
            <a:avLst/>
          </a:prstGeom>
          <a:noFill/>
        </p:spPr>
        <p:txBody>
          <a:bodyPr wrap="square" anchor="t" lIns="0" rIns="0" tIns="0" bIns="0">
            <a:spAutoFit/>
          </a:bodyPr>
          <a:lstStyle/>
          <a:p>
            <a:pPr algn="l"/>
            <a:r>
              <a:rPr sz="1150" b="0" i="0">
                <a:solidFill>
                  <a:srgbClr val="8055C8"/>
                </a:solidFill>
                <a:latin typeface="Consolas"/>
              </a:rPr>
              <a:t>POST …/availabilityGroups/{ag}/getDetailView</a:t>
            </a:r>
          </a:p>
        </p:txBody>
      </p:sp>
      <p:sp>
        <p:nvSpPr>
          <p:cNvPr id="14" name="TextBox 13"/>
          <p:cNvSpPr txBox="1"/>
          <p:nvPr/>
        </p:nvSpPr>
        <p:spPr>
          <a:xfrm>
            <a:off x="5349240" y="2194560"/>
            <a:ext cx="6126480" cy="329184"/>
          </a:xfrm>
          <a:prstGeom prst="rect">
            <a:avLst/>
          </a:prstGeom>
          <a:noFill/>
        </p:spPr>
        <p:txBody>
          <a:bodyPr wrap="square" anchor="t" lIns="0" rIns="0" tIns="0" bIns="0">
            <a:spAutoFit/>
          </a:bodyPr>
          <a:lstStyle/>
          <a:p>
            <a:pPr algn="l"/>
            <a:r>
              <a:rPr sz="1600" b="1" i="0">
                <a:solidFill>
                  <a:srgbClr val="202020"/>
                </a:solidFill>
                <a:latin typeface="Segoe UI"/>
              </a:rPr>
              <a:t>Live AG state</a:t>
            </a:r>
          </a:p>
        </p:txBody>
      </p:sp>
      <p:sp>
        <p:nvSpPr>
          <p:cNvPr id="15" name="TextBox 14"/>
          <p:cNvSpPr txBox="1"/>
          <p:nvPr/>
        </p:nvSpPr>
        <p:spPr>
          <a:xfrm>
            <a:off x="5349240" y="2542032"/>
            <a:ext cx="6126480" cy="548640"/>
          </a:xfrm>
          <a:prstGeom prst="rect">
            <a:avLst/>
          </a:prstGeom>
          <a:noFill/>
        </p:spPr>
        <p:txBody>
          <a:bodyPr wrap="square" anchor="t" lIns="0" rIns="0" tIns="0" bIns="0">
            <a:spAutoFit/>
          </a:bodyPr>
          <a:lstStyle/>
          <a:p>
            <a:pPr algn="l"/>
            <a:r>
              <a:rPr sz="1200" b="0" i="0">
                <a:solidFill>
                  <a:srgbClr val="545460"/>
                </a:solidFill>
                <a:latin typeface="Segoe UI"/>
              </a:rPr>
              <a:t>Role, availability mode, connection and sync health per replica, plus database sync state. Returns in ~3 s with a collection timestamp.</a:t>
            </a:r>
          </a:p>
        </p:txBody>
      </p:sp>
      <p:sp>
        <p:nvSpPr>
          <p:cNvPr id="16" name="Rounded Rectangle 15"/>
          <p:cNvSpPr/>
          <p:nvPr/>
        </p:nvSpPr>
        <p:spPr>
          <a:xfrm>
            <a:off x="5120640" y="3264408"/>
            <a:ext cx="6492240" cy="1353312"/>
          </a:xfrm>
          <a:prstGeom prst="roundRect">
            <a:avLst>
              <a:gd name="adj" fmla="val 8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49240" y="3392424"/>
            <a:ext cx="6126480" cy="274320"/>
          </a:xfrm>
          <a:prstGeom prst="rect">
            <a:avLst/>
          </a:prstGeom>
          <a:noFill/>
        </p:spPr>
        <p:txBody>
          <a:bodyPr wrap="square" anchor="t" lIns="0" rIns="0" tIns="0" bIns="0">
            <a:spAutoFit/>
          </a:bodyPr>
          <a:lstStyle/>
          <a:p>
            <a:pPr algn="l"/>
            <a:r>
              <a:rPr sz="1150" b="0" i="0">
                <a:solidFill>
                  <a:srgbClr val="8055C8"/>
                </a:solidFill>
                <a:latin typeface="Consolas"/>
              </a:rPr>
              <a:t>POST …/sqlServerInstances/{target}/availabilityGroups/{ag}/failover</a:t>
            </a:r>
          </a:p>
        </p:txBody>
      </p:sp>
      <p:sp>
        <p:nvSpPr>
          <p:cNvPr id="18" name="TextBox 17"/>
          <p:cNvSpPr txBox="1"/>
          <p:nvPr/>
        </p:nvSpPr>
        <p:spPr>
          <a:xfrm>
            <a:off x="5349240" y="3675888"/>
            <a:ext cx="6126480" cy="329184"/>
          </a:xfrm>
          <a:prstGeom prst="rect">
            <a:avLst/>
          </a:prstGeom>
          <a:noFill/>
        </p:spPr>
        <p:txBody>
          <a:bodyPr wrap="square" anchor="t" lIns="0" rIns="0" tIns="0" bIns="0">
            <a:spAutoFit/>
          </a:bodyPr>
          <a:lstStyle/>
          <a:p>
            <a:pPr algn="l"/>
            <a:r>
              <a:rPr sz="1600" b="1" i="0">
                <a:solidFill>
                  <a:srgbClr val="202020"/>
                </a:solidFill>
                <a:latin typeface="Segoe UI"/>
              </a:rPr>
              <a:t>Planned failover to {target}</a:t>
            </a:r>
          </a:p>
        </p:txBody>
      </p:sp>
      <p:sp>
        <p:nvSpPr>
          <p:cNvPr id="19" name="TextBox 18"/>
          <p:cNvSpPr txBox="1"/>
          <p:nvPr/>
        </p:nvSpPr>
        <p:spPr>
          <a:xfrm>
            <a:off x="5349240" y="4023360"/>
            <a:ext cx="6126480" cy="548640"/>
          </a:xfrm>
          <a:prstGeom prst="rect">
            <a:avLst/>
          </a:prstGeom>
          <a:noFill/>
        </p:spPr>
        <p:txBody>
          <a:bodyPr wrap="square" anchor="t" lIns="0" rIns="0" tIns="0" bIns="0">
            <a:spAutoFit/>
          </a:bodyPr>
          <a:lstStyle/>
          <a:p>
            <a:pPr algn="l"/>
            <a:r>
              <a:rPr sz="1200" b="0" i="0">
                <a:solidFill>
                  <a:srgbClr val="545460"/>
                </a:solidFill>
                <a:latin typeface="Segoe UI"/>
              </a:rPr>
              <a:t>Called on a synchronized, synchronous-commit secondary. No data loss; about 10 s.</a:t>
            </a:r>
          </a:p>
        </p:txBody>
      </p:sp>
      <p:sp>
        <p:nvSpPr>
          <p:cNvPr id="20" name="Rounded Rectangle 19"/>
          <p:cNvSpPr/>
          <p:nvPr/>
        </p:nvSpPr>
        <p:spPr>
          <a:xfrm>
            <a:off x="5120640" y="4754880"/>
            <a:ext cx="6492240" cy="1554480"/>
          </a:xfrm>
          <a:prstGeom prst="roundRect">
            <a:avLst>
              <a:gd name="adj" fmla="val 8000"/>
            </a:avLst>
          </a:prstGeom>
          <a:solidFill>
            <a:srgbClr val="FFF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9240" y="4846320"/>
            <a:ext cx="6126480" cy="274320"/>
          </a:xfrm>
          <a:prstGeom prst="rect">
            <a:avLst/>
          </a:prstGeom>
          <a:noFill/>
        </p:spPr>
        <p:txBody>
          <a:bodyPr wrap="square" anchor="t" lIns="0" rIns="0" tIns="0" bIns="0">
            <a:spAutoFit/>
          </a:bodyPr>
          <a:lstStyle/>
          <a:p>
            <a:pPr algn="l"/>
            <a:r>
              <a:rPr sz="1100" b="1" i="0">
                <a:solidFill>
                  <a:srgbClr val="8A5A00"/>
                </a:solidFill>
                <a:latin typeface="Segoe UI"/>
              </a:rPr>
              <a:t>LEARNED IN TESTING</a:t>
            </a:r>
          </a:p>
        </p:txBody>
      </p:sp>
      <p:sp>
        <p:nvSpPr>
          <p:cNvPr id="22" name="TextBox 21"/>
          <p:cNvSpPr txBox="1"/>
          <p:nvPr/>
        </p:nvSpPr>
        <p:spPr>
          <a:xfrm>
            <a:off x="5349240" y="5138928"/>
            <a:ext cx="6126480" cy="1143000"/>
          </a:xfrm>
          <a:prstGeom prst="rect">
            <a:avLst/>
          </a:prstGeom>
          <a:noFill/>
        </p:spPr>
        <p:txBody>
          <a:bodyPr wrap="square" anchor="t" lIns="0" rIns="0" tIns="0" bIns="0">
            <a:spAutoFit/>
          </a:bodyPr>
          <a:lstStyle/>
          <a:p>
            <a:pPr algn="l">
              <a:spcAft>
                <a:spcPts val="500"/>
              </a:spcAft>
            </a:pPr>
            <a:r>
              <a:rPr sz="1200" b="1" i="0">
                <a:solidFill>
                  <a:srgbClr val="202020"/>
                </a:solidFill>
                <a:latin typeface="Segoe UI"/>
              </a:rPr>
              <a:t xml:space="preserve">failover returns HTTP 400 </a:t>
            </a:r>
            <a:r>
              <a:rPr sz="1200" b="0" i="0">
                <a:solidFill>
                  <a:srgbClr val="202020"/>
                </a:solidFill>
                <a:latin typeface="Segoe UI"/>
              </a:rPr>
              <a:t>even when it succeeds. Runbooks verify the new primary with getDetailView.</a:t>
            </a:r>
          </a:p>
          <a:p>
            <a:pPr algn="l">
              <a:spcAft>
                <a:spcPts val="500"/>
              </a:spcAft>
            </a:pPr>
            <a:r>
              <a:rPr sz="1200" b="1" i="0">
                <a:solidFill>
                  <a:srgbClr val="202020"/>
                </a:solidFill>
                <a:latin typeface="Segoe UI"/>
              </a:rPr>
              <a:t xml:space="preserve">A secondary sees only itself. </a:t>
            </a:r>
            <a:r>
              <a:rPr sz="1200" b="0" i="0">
                <a:solidFill>
                  <a:srgbClr val="202020"/>
                </a:solidFill>
                <a:latin typeface="Segoe UI"/>
              </a:rPr>
              <a:t>Only the primary reports every replica and database.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07  |  Scaling to 267 SQL instances</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One schedule per node doesn't fit. Group machines into a few large waves.</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10</a:t>
            </a:r>
          </a:p>
        </p:txBody>
      </p:sp>
      <p:sp>
        <p:nvSpPr>
          <p:cNvPr id="6" name="Stat card 6"/>
          <p:cNvSpPr/>
          <p:nvPr/>
        </p:nvSpPr>
        <p:spPr>
          <a:xfrm>
            <a:off x="585216" y="1572768"/>
            <a:ext cx="2606040" cy="877824"/>
          </a:xfrm>
          <a:prstGeom prst="roundRect">
            <a:avLst>
              <a:gd name="adj" fmla="val 12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7" name="Stat value 7"/>
          <p:cNvSpPr/>
          <p:nvPr/>
        </p:nvSpPr>
        <p:spPr>
          <a:xfrm>
            <a:off x="786384" y="1636776"/>
            <a:ext cx="2240280" cy="420624"/>
          </a:xfrm>
          <a:prstGeom prst="rect">
            <a:avLst/>
          </a:prstGeom>
          <a:noFill/>
          <a:ln>
            <a:noFill/>
          </a:ln>
          <a:effectLst/>
        </p:spPr>
        <p:txBody>
          <a:bodyPr wrap="square" lIns="0" tIns="0" rIns="0" bIns="0" anchor="t" rtlCol="0">
            <a:noAutofit/>
          </a:bodyPr>
          <a:lstStyle/>
          <a:p>
            <a:pPr algn="l"/>
            <a:r>
              <a:rPr lang="en-US" sz="2800" b="1" i="0" dirty="0">
                <a:solidFill>
                  <a:srgbClr val="0078D4"/>
                </a:solidFill>
                <a:latin typeface="Segoe UI"/>
                <a:cs typeface="Segoe UI"/>
              </a:rPr>
              <a:t>250</a:t>
            </a:r>
          </a:p>
        </p:txBody>
      </p:sp>
      <p:sp>
        <p:nvSpPr>
          <p:cNvPr id="8" name="Stat label 8"/>
          <p:cNvSpPr/>
          <p:nvPr/>
        </p:nvSpPr>
        <p:spPr>
          <a:xfrm>
            <a:off x="786384" y="2048256"/>
            <a:ext cx="2240280" cy="365760"/>
          </a:xfrm>
          <a:prstGeom prst="rect">
            <a:avLst/>
          </a:prstGeom>
          <a:noFill/>
          <a:ln>
            <a:noFill/>
          </a:ln>
          <a:effectLst/>
        </p:spPr>
        <p:txBody>
          <a:bodyPr wrap="square" lIns="0" tIns="0" rIns="0" bIns="0" anchor="t" rtlCol="0">
            <a:noAutofit/>
          </a:bodyPr>
          <a:lstStyle/>
          <a:p>
            <a:pPr algn="l"/>
            <a:r>
              <a:rPr lang="en-US" sz="1100" b="0" i="0" dirty="0">
                <a:solidFill>
                  <a:srgbClr val="545460"/>
                </a:solidFill>
                <a:latin typeface="Segoe UI"/>
                <a:cs typeface="Segoe UI"/>
              </a:rPr>
              <a:t>maintenance configurations per subscription per region</a:t>
            </a:r>
          </a:p>
        </p:txBody>
      </p:sp>
      <p:sp>
        <p:nvSpPr>
          <p:cNvPr id="9" name="Stat card 9"/>
          <p:cNvSpPr/>
          <p:nvPr/>
        </p:nvSpPr>
        <p:spPr>
          <a:xfrm>
            <a:off x="3392424" y="1572768"/>
            <a:ext cx="2606040" cy="877824"/>
          </a:xfrm>
          <a:prstGeom prst="roundRect">
            <a:avLst>
              <a:gd name="adj" fmla="val 12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10" name="Stat value 10"/>
          <p:cNvSpPr/>
          <p:nvPr/>
        </p:nvSpPr>
        <p:spPr>
          <a:xfrm>
            <a:off x="3593592" y="1636776"/>
            <a:ext cx="2240280" cy="420624"/>
          </a:xfrm>
          <a:prstGeom prst="rect">
            <a:avLst/>
          </a:prstGeom>
          <a:noFill/>
          <a:ln>
            <a:noFill/>
          </a:ln>
          <a:effectLst/>
        </p:spPr>
        <p:txBody>
          <a:bodyPr wrap="square" lIns="0" tIns="0" rIns="0" bIns="0" anchor="t" rtlCol="0">
            <a:noAutofit/>
          </a:bodyPr>
          <a:lstStyle/>
          <a:p>
            <a:pPr algn="l"/>
            <a:r>
              <a:rPr lang="en-US" sz="2800" b="1" i="0" dirty="0">
                <a:solidFill>
                  <a:srgbClr val="8055C8"/>
                </a:solidFill>
                <a:latin typeface="Segoe UI"/>
                <a:cs typeface="Segoe UI"/>
              </a:rPr>
              <a:t>20 min</a:t>
            </a:r>
          </a:p>
        </p:txBody>
      </p:sp>
      <p:sp>
        <p:nvSpPr>
          <p:cNvPr id="11" name="Stat label 11"/>
          <p:cNvSpPr/>
          <p:nvPr/>
        </p:nvSpPr>
        <p:spPr>
          <a:xfrm>
            <a:off x="3593592" y="2048256"/>
            <a:ext cx="2240280" cy="365760"/>
          </a:xfrm>
          <a:prstGeom prst="rect">
            <a:avLst/>
          </a:prstGeom>
          <a:noFill/>
          <a:ln>
            <a:noFill/>
          </a:ln>
          <a:effectLst/>
        </p:spPr>
        <p:txBody>
          <a:bodyPr wrap="square" lIns="0" tIns="0" rIns="0" bIns="0" anchor="t" rtlCol="0">
            <a:noAutofit/>
          </a:bodyPr>
          <a:lstStyle/>
          <a:p>
            <a:pPr algn="l"/>
            <a:r>
              <a:rPr lang="en-US" sz="1100" b="0" i="0" dirty="0">
                <a:solidFill>
                  <a:srgbClr val="545460"/>
                </a:solidFill>
                <a:latin typeface="Segoe UI"/>
                <a:cs typeface="Segoe UI"/>
              </a:rPr>
              <a:t>for all pre-event work in a run</a:t>
            </a:r>
          </a:p>
        </p:txBody>
      </p:sp>
      <p:sp>
        <p:nvSpPr>
          <p:cNvPr id="12" name="Stat card 12"/>
          <p:cNvSpPr/>
          <p:nvPr/>
        </p:nvSpPr>
        <p:spPr>
          <a:xfrm>
            <a:off x="6199632" y="1572768"/>
            <a:ext cx="2606040" cy="877824"/>
          </a:xfrm>
          <a:prstGeom prst="roundRect">
            <a:avLst>
              <a:gd name="adj" fmla="val 12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13" name="Stat value 13"/>
          <p:cNvSpPr/>
          <p:nvPr/>
        </p:nvSpPr>
        <p:spPr>
          <a:xfrm>
            <a:off x="6400800" y="1636776"/>
            <a:ext cx="2240280" cy="420624"/>
          </a:xfrm>
          <a:prstGeom prst="rect">
            <a:avLst/>
          </a:prstGeom>
          <a:noFill/>
          <a:ln>
            <a:noFill/>
          </a:ln>
          <a:effectLst/>
        </p:spPr>
        <p:txBody>
          <a:bodyPr wrap="square" lIns="0" tIns="0" rIns="0" bIns="0" anchor="t" rtlCol="0">
            <a:noAutofit/>
          </a:bodyPr>
          <a:lstStyle/>
          <a:p>
            <a:pPr algn="l"/>
            <a:r>
              <a:rPr lang="en-US" sz="2800" b="1" i="0" dirty="0">
                <a:solidFill>
                  <a:srgbClr val="008F99"/>
                </a:solidFill>
                <a:latin typeface="Segoe UI"/>
                <a:cs typeface="Segoe UI"/>
              </a:rPr>
              <a:t>1,000</a:t>
            </a:r>
          </a:p>
        </p:txBody>
      </p:sp>
      <p:sp>
        <p:nvSpPr>
          <p:cNvPr id="14" name="Stat label 14"/>
          <p:cNvSpPr/>
          <p:nvPr/>
        </p:nvSpPr>
        <p:spPr>
          <a:xfrm>
            <a:off x="6400800" y="2048256"/>
            <a:ext cx="2240280" cy="365760"/>
          </a:xfrm>
          <a:prstGeom prst="rect">
            <a:avLst/>
          </a:prstGeom>
          <a:noFill/>
          <a:ln>
            <a:noFill/>
          </a:ln>
          <a:effectLst/>
        </p:spPr>
        <p:txBody>
          <a:bodyPr wrap="square" lIns="0" tIns="0" rIns="0" bIns="0" anchor="t" rtlCol="0">
            <a:noAutofit/>
          </a:bodyPr>
          <a:lstStyle/>
          <a:p>
            <a:pPr algn="l"/>
            <a:r>
              <a:rPr lang="en-US" sz="1100" b="0" i="0" dirty="0">
                <a:solidFill>
                  <a:srgbClr val="545460"/>
                </a:solidFill>
                <a:latin typeface="Segoe UI"/>
                <a:cs typeface="Segoe UI"/>
              </a:rPr>
              <a:t>machines per dynamic scope; 3,000 per schedule</a:t>
            </a:r>
          </a:p>
        </p:txBody>
      </p:sp>
      <p:sp>
        <p:nvSpPr>
          <p:cNvPr id="15" name="Stat card 15"/>
          <p:cNvSpPr/>
          <p:nvPr/>
        </p:nvSpPr>
        <p:spPr>
          <a:xfrm>
            <a:off x="9006840" y="1572768"/>
            <a:ext cx="2606040" cy="877824"/>
          </a:xfrm>
          <a:prstGeom prst="roundRect">
            <a:avLst>
              <a:gd name="adj" fmla="val 12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16" name="Stat value 16"/>
          <p:cNvSpPr/>
          <p:nvPr/>
        </p:nvSpPr>
        <p:spPr>
          <a:xfrm>
            <a:off x="9208008" y="1636776"/>
            <a:ext cx="2240280" cy="420624"/>
          </a:xfrm>
          <a:prstGeom prst="rect">
            <a:avLst/>
          </a:prstGeom>
          <a:noFill/>
          <a:ln>
            <a:noFill/>
          </a:ln>
          <a:effectLst/>
        </p:spPr>
        <p:txBody>
          <a:bodyPr wrap="square" lIns="0" tIns="0" rIns="0" bIns="0" anchor="t" rtlCol="0">
            <a:noAutofit/>
          </a:bodyPr>
          <a:lstStyle/>
          <a:p>
            <a:pPr algn="l"/>
            <a:r>
              <a:rPr lang="en-US" sz="2800" b="1" i="0" dirty="0">
                <a:solidFill>
                  <a:srgbClr val="C50F1F"/>
                </a:solidFill>
                <a:latin typeface="Segoe UI"/>
                <a:cs typeface="Segoe UI"/>
              </a:rPr>
              <a:t>1 run</a:t>
            </a:r>
          </a:p>
        </p:txBody>
      </p:sp>
      <p:sp>
        <p:nvSpPr>
          <p:cNvPr id="17" name="Stat label 17"/>
          <p:cNvSpPr/>
          <p:nvPr/>
        </p:nvSpPr>
        <p:spPr>
          <a:xfrm>
            <a:off x="9208008" y="2048256"/>
            <a:ext cx="2240280" cy="365760"/>
          </a:xfrm>
          <a:prstGeom prst="rect">
            <a:avLst/>
          </a:prstGeom>
          <a:noFill/>
          <a:ln>
            <a:noFill/>
          </a:ln>
          <a:effectLst/>
        </p:spPr>
        <p:txBody>
          <a:bodyPr wrap="square" lIns="0" tIns="0" rIns="0" bIns="0" anchor="t" rtlCol="0">
            <a:noAutofit/>
          </a:bodyPr>
          <a:lstStyle/>
          <a:p>
            <a:pPr algn="l"/>
            <a:r>
              <a:rPr lang="en-US" sz="1100" b="0" i="0" dirty="0">
                <a:solidFill>
                  <a:srgbClr val="545460"/>
                </a:solidFill>
                <a:latin typeface="Segoe UI"/>
                <a:cs typeface="Segoe UI"/>
              </a:rPr>
              <a:t>a cancel stops the whole run, not one machine</a:t>
            </a:r>
          </a:p>
        </p:txBody>
      </p:sp>
      <p:sp>
        <p:nvSpPr>
          <p:cNvPr id="18" name="Rule banner 18"/>
          <p:cNvSpPr/>
          <p:nvPr/>
        </p:nvSpPr>
        <p:spPr>
          <a:xfrm>
            <a:off x="585216" y="2651760"/>
            <a:ext cx="11027664" cy="365760"/>
          </a:xfrm>
          <a:prstGeom prst="roundRect">
            <a:avLst>
              <a:gd name="adj" fmla="val 15000"/>
            </a:avLst>
          </a:prstGeom>
          <a:solidFill>
            <a:srgbClr val="EEE7F8"/>
          </a:solidFill>
          <a:ln>
            <a:noFill/>
          </a:ln>
          <a:effectLst/>
        </p:spPr>
        <p:txBody>
          <a:bodyPr wrap="square" lIns="201168" tIns="0" rIns="201168" bIns="0" anchor="ctr" rtlCol="0">
            <a:noAutofit/>
          </a:bodyPr>
          <a:lstStyle/>
          <a:p>
            <a:pPr algn="l"/>
            <a:r>
              <a:rPr lang="en-US" sz="1500" b="1" i="0" dirty="0">
                <a:solidFill>
                  <a:srgbClr val="8055C8"/>
                </a:solidFill>
                <a:latin typeface="Segoe UI"/>
                <a:cs typeface="Segoe UI"/>
              </a:rPr>
              <a:t>The rule: two replicas of the same AG are never in the same wave.</a:t>
            </a:r>
          </a:p>
        </p:txBody>
      </p:sp>
      <p:sp>
        <p:nvSpPr>
          <p:cNvPr id="19" name="Section label 19"/>
          <p:cNvSpPr/>
          <p:nvPr/>
        </p:nvSpPr>
        <p:spPr>
          <a:xfrm>
            <a:off x="603504" y="3200400"/>
            <a:ext cx="6035040" cy="237744"/>
          </a:xfrm>
          <a:prstGeom prst="rect">
            <a:avLst/>
          </a:prstGeom>
          <a:noFill/>
          <a:ln>
            <a:noFill/>
          </a:ln>
          <a:effectLst/>
        </p:spPr>
        <p:txBody>
          <a:bodyPr wrap="square" lIns="0" tIns="0" rIns="0" bIns="0" anchor="ctr" rtlCol="0">
            <a:noAutofit/>
          </a:bodyPr>
          <a:lstStyle/>
          <a:p>
            <a:pPr algn="l"/>
            <a:r>
              <a:rPr lang="en-US" sz="1200" b="1" i="0" dirty="0">
                <a:solidFill>
                  <a:srgbClr val="545460"/>
                </a:solidFill>
                <a:latin typeface="Segoe UI"/>
                <a:cs typeface="Segoe UI"/>
              </a:rPr>
              <a:t>EXAMPLE: 8 TWO-NODE AGS, 6 WAVES</a:t>
            </a:r>
            <a:r>
              <a:rPr lang="en-US" sz="1100" b="0" i="0" dirty="0">
                <a:solidFill>
                  <a:srgbClr val="545460"/>
                </a:solidFill>
                <a:latin typeface="Segoe UI"/>
                <a:cs typeface="Segoe UI"/>
              </a:rPr>
              <a:t xml:space="preserve">  (PatchWave tag + dynamic scope)</a:t>
            </a:r>
          </a:p>
        </p:txBody>
      </p:sp>
      <p:sp>
        <p:nvSpPr>
          <p:cNvPr id="20" name="Legend S 20"/>
          <p:cNvSpPr/>
          <p:nvPr/>
        </p:nvSpPr>
        <p:spPr>
          <a:xfrm>
            <a:off x="6446520" y="3227832"/>
            <a:ext cx="749808"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850" b="1" i="0" dirty="0">
                <a:solidFill>
                  <a:srgbClr val="FFFFFF"/>
                </a:solidFill>
                <a:latin typeface="Segoe UI"/>
                <a:cs typeface="Segoe UI"/>
              </a:rPr>
              <a:t>Secondary</a:t>
            </a:r>
          </a:p>
        </p:txBody>
      </p:sp>
      <p:sp>
        <p:nvSpPr>
          <p:cNvPr id="21" name="Legend S text 21"/>
          <p:cNvSpPr/>
          <p:nvPr/>
        </p:nvSpPr>
        <p:spPr>
          <a:xfrm>
            <a:off x="7269480" y="3200400"/>
            <a:ext cx="1417320" cy="237744"/>
          </a:xfrm>
          <a:prstGeom prst="rect">
            <a:avLst/>
          </a:prstGeom>
          <a:noFill/>
          <a:ln>
            <a:noFill/>
          </a:ln>
          <a:effectLst/>
        </p:spPr>
        <p:txBody>
          <a:bodyPr wrap="square" lIns="0" tIns="0" rIns="0" bIns="0" anchor="ctr" rtlCol="0">
            <a:noAutofit/>
          </a:bodyPr>
          <a:lstStyle/>
          <a:p>
            <a:pPr algn="l"/>
            <a:r>
              <a:rPr lang="en-US" sz="900" b="0" i="0" dirty="0">
                <a:solidFill>
                  <a:srgbClr val="545460"/>
                </a:solidFill>
                <a:latin typeface="Segoe UI"/>
                <a:cs typeface="Segoe UI"/>
              </a:rPr>
              <a:t>patched first, no failover</a:t>
            </a:r>
          </a:p>
        </p:txBody>
      </p:sp>
      <p:sp>
        <p:nvSpPr>
          <p:cNvPr id="22" name="Legend P 22"/>
          <p:cNvSpPr/>
          <p:nvPr/>
        </p:nvSpPr>
        <p:spPr>
          <a:xfrm>
            <a:off x="8778240" y="3227832"/>
            <a:ext cx="749808"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850" b="1" i="0" dirty="0">
                <a:solidFill>
                  <a:srgbClr val="FFFFFF"/>
                </a:solidFill>
                <a:latin typeface="Segoe UI"/>
                <a:cs typeface="Segoe UI"/>
              </a:rPr>
              <a:t>⇄ Primary</a:t>
            </a:r>
          </a:p>
        </p:txBody>
      </p:sp>
      <p:sp>
        <p:nvSpPr>
          <p:cNvPr id="23" name="Legend P text 23"/>
          <p:cNvSpPr/>
          <p:nvPr/>
        </p:nvSpPr>
        <p:spPr>
          <a:xfrm>
            <a:off x="9601200" y="3200400"/>
            <a:ext cx="2011680" cy="237744"/>
          </a:xfrm>
          <a:prstGeom prst="rect">
            <a:avLst/>
          </a:prstGeom>
          <a:noFill/>
          <a:ln>
            <a:noFill/>
          </a:ln>
          <a:effectLst/>
        </p:spPr>
        <p:txBody>
          <a:bodyPr wrap="square" lIns="0" tIns="0" rIns="0" bIns="0" anchor="ctr" rtlCol="0">
            <a:noAutofit/>
          </a:bodyPr>
          <a:lstStyle/>
          <a:p>
            <a:pPr algn="l"/>
            <a:r>
              <a:rPr lang="en-US" sz="900" b="0" i="0" dirty="0">
                <a:solidFill>
                  <a:srgbClr val="545460"/>
                </a:solidFill>
                <a:latin typeface="Segoe UI"/>
                <a:cs typeface="Segoe UI"/>
              </a:rPr>
              <a:t>fail over, patch, fail back</a:t>
            </a:r>
          </a:p>
        </p:txBody>
      </p:sp>
      <p:sp>
        <p:nvSpPr>
          <p:cNvPr id="24" name="Matrix panel 24"/>
          <p:cNvSpPr/>
          <p:nvPr/>
        </p:nvSpPr>
        <p:spPr>
          <a:xfrm>
            <a:off x="585216" y="3566160"/>
            <a:ext cx="11027664" cy="2798064"/>
          </a:xfrm>
          <a:prstGeom prst="roundRect">
            <a:avLst>
              <a:gd name="adj" fmla="val 4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25" name="Header label 25"/>
          <p:cNvSpPr/>
          <p:nvPr/>
        </p:nvSpPr>
        <p:spPr>
          <a:xfrm>
            <a:off x="749808" y="3657600"/>
            <a:ext cx="1371600" cy="274320"/>
          </a:xfrm>
          <a:prstGeom prst="rect">
            <a:avLst/>
          </a:prstGeom>
          <a:noFill/>
          <a:ln>
            <a:noFill/>
          </a:ln>
          <a:effectLst/>
        </p:spPr>
        <p:txBody>
          <a:bodyPr wrap="square" lIns="0" tIns="0" rIns="0" bIns="0" anchor="ctr" rtlCol="0">
            <a:noAutofit/>
          </a:bodyPr>
          <a:lstStyle/>
          <a:p>
            <a:pPr algn="l"/>
            <a:r>
              <a:rPr lang="en-US" sz="1000" b="1" i="0" dirty="0">
                <a:solidFill>
                  <a:srgbClr val="545460"/>
                </a:solidFill>
                <a:latin typeface="Segoe UI"/>
                <a:cs typeface="Segoe UI"/>
              </a:rPr>
              <a:t>Workload (AG)</a:t>
            </a:r>
          </a:p>
        </p:txBody>
      </p:sp>
      <p:sp>
        <p:nvSpPr>
          <p:cNvPr id="26" name="Wave header 26"/>
          <p:cNvSpPr/>
          <p:nvPr/>
        </p:nvSpPr>
        <p:spPr>
          <a:xfrm>
            <a:off x="2249424" y="3657600"/>
            <a:ext cx="1377696" cy="274320"/>
          </a:xfrm>
          <a:prstGeom prst="roundRect">
            <a:avLst>
              <a:gd name="adj" fmla="val 30000"/>
            </a:avLst>
          </a:prstGeom>
          <a:solidFill>
            <a:srgbClr val="167447"/>
          </a:solidFill>
          <a:ln>
            <a:noFill/>
          </a:ln>
          <a:effectLst/>
        </p:spPr>
        <p:txBody>
          <a:bodyPr wrap="square" lIns="0" tIns="0" rIns="0" bIns="0" anchor="ctr" rtlCol="0">
            <a:noAutofit/>
          </a:bodyPr>
          <a:lstStyle/>
          <a:p>
            <a:pPr algn="ctr"/>
            <a:r>
              <a:rPr lang="en-US" sz="1000" b="1" i="0" dirty="0">
                <a:solidFill>
                  <a:srgbClr val="FFFFFF"/>
                </a:solidFill>
                <a:latin typeface="Segoe UI"/>
                <a:cs typeface="Segoe UI"/>
              </a:rPr>
              <a:t>Wave 1</a:t>
            </a:r>
            <a:r>
              <a:rPr lang="en-US" sz="900" b="0" i="0" dirty="0">
                <a:solidFill>
                  <a:srgbClr val="FFFFFF"/>
                </a:solidFill>
                <a:latin typeface="Segoe UI"/>
                <a:cs typeface="Segoe UI"/>
              </a:rPr>
              <a:t xml:space="preserve">  Thu pilot</a:t>
            </a:r>
          </a:p>
        </p:txBody>
      </p:sp>
      <p:sp>
        <p:nvSpPr>
          <p:cNvPr id="27" name="Wave header 27"/>
          <p:cNvSpPr/>
          <p:nvPr/>
        </p:nvSpPr>
        <p:spPr>
          <a:xfrm>
            <a:off x="3810000" y="3657600"/>
            <a:ext cx="1377696" cy="274320"/>
          </a:xfrm>
          <a:prstGeom prst="roundRect">
            <a:avLst>
              <a:gd name="adj" fmla="val 30000"/>
            </a:avLst>
          </a:prstGeom>
          <a:solidFill>
            <a:srgbClr val="243A5E"/>
          </a:solidFill>
          <a:ln>
            <a:noFill/>
          </a:ln>
          <a:effectLst/>
        </p:spPr>
        <p:txBody>
          <a:bodyPr wrap="square" lIns="0" tIns="0" rIns="0" bIns="0" anchor="ctr" rtlCol="0">
            <a:noAutofit/>
          </a:bodyPr>
          <a:lstStyle/>
          <a:p>
            <a:pPr algn="ctr"/>
            <a:r>
              <a:rPr lang="en-US" sz="1000" b="1" i="0" dirty="0">
                <a:solidFill>
                  <a:srgbClr val="FFFFFF"/>
                </a:solidFill>
                <a:latin typeface="Segoe UI"/>
                <a:cs typeface="Segoe UI"/>
              </a:rPr>
              <a:t>Wave 2</a:t>
            </a:r>
            <a:r>
              <a:rPr lang="en-US" sz="900" b="0" i="0" dirty="0">
                <a:solidFill>
                  <a:srgbClr val="FFFFFF"/>
                </a:solidFill>
                <a:latin typeface="Segoe UI"/>
                <a:cs typeface="Segoe UI"/>
              </a:rPr>
              <a:t xml:space="preserve">  Sat 01:00</a:t>
            </a:r>
          </a:p>
        </p:txBody>
      </p:sp>
      <p:sp>
        <p:nvSpPr>
          <p:cNvPr id="28" name="Wave header 28"/>
          <p:cNvSpPr/>
          <p:nvPr/>
        </p:nvSpPr>
        <p:spPr>
          <a:xfrm>
            <a:off x="5370576" y="3657600"/>
            <a:ext cx="1377696" cy="274320"/>
          </a:xfrm>
          <a:prstGeom prst="roundRect">
            <a:avLst>
              <a:gd name="adj" fmla="val 30000"/>
            </a:avLst>
          </a:prstGeom>
          <a:solidFill>
            <a:srgbClr val="243A5E"/>
          </a:solidFill>
          <a:ln>
            <a:noFill/>
          </a:ln>
          <a:effectLst/>
        </p:spPr>
        <p:txBody>
          <a:bodyPr wrap="square" lIns="0" tIns="0" rIns="0" bIns="0" anchor="ctr" rtlCol="0">
            <a:noAutofit/>
          </a:bodyPr>
          <a:lstStyle/>
          <a:p>
            <a:pPr algn="ctr"/>
            <a:r>
              <a:rPr lang="en-US" sz="1000" b="1" i="0" dirty="0">
                <a:solidFill>
                  <a:srgbClr val="FFFFFF"/>
                </a:solidFill>
                <a:latin typeface="Segoe UI"/>
                <a:cs typeface="Segoe UI"/>
              </a:rPr>
              <a:t>Wave 3</a:t>
            </a:r>
            <a:r>
              <a:rPr lang="en-US" sz="900" b="0" i="0" dirty="0">
                <a:solidFill>
                  <a:srgbClr val="FFFFFF"/>
                </a:solidFill>
                <a:latin typeface="Segoe UI"/>
                <a:cs typeface="Segoe UI"/>
              </a:rPr>
              <a:t xml:space="preserve">  Sat 04:30</a:t>
            </a:r>
          </a:p>
        </p:txBody>
      </p:sp>
      <p:sp>
        <p:nvSpPr>
          <p:cNvPr id="29" name="Wave header 29"/>
          <p:cNvSpPr/>
          <p:nvPr/>
        </p:nvSpPr>
        <p:spPr>
          <a:xfrm>
            <a:off x="6931152" y="3657600"/>
            <a:ext cx="1377696" cy="274320"/>
          </a:xfrm>
          <a:prstGeom prst="roundRect">
            <a:avLst>
              <a:gd name="adj" fmla="val 30000"/>
            </a:avLst>
          </a:prstGeom>
          <a:solidFill>
            <a:srgbClr val="243A5E"/>
          </a:solidFill>
          <a:ln>
            <a:noFill/>
          </a:ln>
          <a:effectLst/>
        </p:spPr>
        <p:txBody>
          <a:bodyPr wrap="square" lIns="0" tIns="0" rIns="0" bIns="0" anchor="ctr" rtlCol="0">
            <a:noAutofit/>
          </a:bodyPr>
          <a:lstStyle/>
          <a:p>
            <a:pPr algn="ctr"/>
            <a:r>
              <a:rPr lang="en-US" sz="1000" b="1" i="0" dirty="0">
                <a:solidFill>
                  <a:srgbClr val="FFFFFF"/>
                </a:solidFill>
                <a:latin typeface="Segoe UI"/>
                <a:cs typeface="Segoe UI"/>
              </a:rPr>
              <a:t>Wave 4</a:t>
            </a:r>
            <a:r>
              <a:rPr lang="en-US" sz="900" b="0" i="0" dirty="0">
                <a:solidFill>
                  <a:srgbClr val="FFFFFF"/>
                </a:solidFill>
                <a:latin typeface="Segoe UI"/>
                <a:cs typeface="Segoe UI"/>
              </a:rPr>
              <a:t xml:space="preserve">  Sun 01:00</a:t>
            </a:r>
          </a:p>
        </p:txBody>
      </p:sp>
      <p:sp>
        <p:nvSpPr>
          <p:cNvPr id="30" name="Wave header 30"/>
          <p:cNvSpPr/>
          <p:nvPr/>
        </p:nvSpPr>
        <p:spPr>
          <a:xfrm>
            <a:off x="8491728" y="3657600"/>
            <a:ext cx="1377696" cy="274320"/>
          </a:xfrm>
          <a:prstGeom prst="roundRect">
            <a:avLst>
              <a:gd name="adj" fmla="val 30000"/>
            </a:avLst>
          </a:prstGeom>
          <a:solidFill>
            <a:srgbClr val="243A5E"/>
          </a:solidFill>
          <a:ln>
            <a:noFill/>
          </a:ln>
          <a:effectLst/>
        </p:spPr>
        <p:txBody>
          <a:bodyPr wrap="square" lIns="0" tIns="0" rIns="0" bIns="0" anchor="ctr" rtlCol="0">
            <a:noAutofit/>
          </a:bodyPr>
          <a:lstStyle/>
          <a:p>
            <a:pPr algn="ctr"/>
            <a:r>
              <a:rPr lang="en-US" sz="1000" b="1" i="0" dirty="0">
                <a:solidFill>
                  <a:srgbClr val="FFFFFF"/>
                </a:solidFill>
                <a:latin typeface="Segoe UI"/>
                <a:cs typeface="Segoe UI"/>
              </a:rPr>
              <a:t>Wave 5</a:t>
            </a:r>
            <a:r>
              <a:rPr lang="en-US" sz="900" b="0" i="0" dirty="0">
                <a:solidFill>
                  <a:srgbClr val="FFFFFF"/>
                </a:solidFill>
                <a:latin typeface="Segoe UI"/>
                <a:cs typeface="Segoe UI"/>
              </a:rPr>
              <a:t xml:space="preserve">  Sun 04:30</a:t>
            </a:r>
          </a:p>
        </p:txBody>
      </p:sp>
      <p:sp>
        <p:nvSpPr>
          <p:cNvPr id="31" name="Wave header 31"/>
          <p:cNvSpPr/>
          <p:nvPr/>
        </p:nvSpPr>
        <p:spPr>
          <a:xfrm>
            <a:off x="10052304" y="3657600"/>
            <a:ext cx="1377696" cy="274320"/>
          </a:xfrm>
          <a:prstGeom prst="roundRect">
            <a:avLst>
              <a:gd name="adj" fmla="val 30000"/>
            </a:avLst>
          </a:prstGeom>
          <a:solidFill>
            <a:srgbClr val="8A5A00"/>
          </a:solidFill>
          <a:ln>
            <a:noFill/>
          </a:ln>
          <a:effectLst/>
        </p:spPr>
        <p:txBody>
          <a:bodyPr wrap="square" lIns="0" tIns="0" rIns="0" bIns="0" anchor="ctr" rtlCol="0">
            <a:noAutofit/>
          </a:bodyPr>
          <a:lstStyle/>
          <a:p>
            <a:pPr algn="ctr"/>
            <a:r>
              <a:rPr lang="en-US" sz="1000" b="1" i="0" dirty="0">
                <a:solidFill>
                  <a:srgbClr val="FFFFFF"/>
                </a:solidFill>
                <a:latin typeface="Segoe UI"/>
                <a:cs typeface="Segoe UI"/>
              </a:rPr>
              <a:t>Wave 6</a:t>
            </a:r>
            <a:r>
              <a:rPr lang="en-US" sz="900" b="0" i="0" dirty="0">
                <a:solidFill>
                  <a:srgbClr val="FFFFFF"/>
                </a:solidFill>
                <a:latin typeface="Segoe UI"/>
                <a:cs typeface="Segoe UI"/>
              </a:rPr>
              <a:t xml:space="preserve">  catch-up</a:t>
            </a:r>
          </a:p>
        </p:txBody>
      </p:sp>
      <p:sp>
        <p:nvSpPr>
          <p:cNvPr id="32" name="Group separator 32"/>
          <p:cNvSpPr/>
          <p:nvPr/>
        </p:nvSpPr>
        <p:spPr>
          <a:xfrm>
            <a:off x="694944" y="4502506"/>
            <a:ext cx="9247632" cy="7315"/>
          </a:xfrm>
          <a:prstGeom prst="rect">
            <a:avLst/>
          </a:prstGeom>
          <a:solidFill>
            <a:srgbClr val="E6E6EC"/>
          </a:solidFill>
          <a:ln>
            <a:noFill/>
          </a:ln>
          <a:effectLst/>
        </p:spPr>
        <p:txBody>
          <a:bodyPr wrap="square" lIns="0" tIns="0" rIns="0" bIns="0" anchor="t" rtlCol="0">
            <a:noAutofit/>
          </a:bodyPr>
          <a:lstStyle/>
          <a:p>
            <a:endParaRPr lang="en-US" dirty="0"/>
          </a:p>
        </p:txBody>
      </p:sp>
      <p:sp>
        <p:nvSpPr>
          <p:cNvPr id="33" name="Group separator 33"/>
          <p:cNvSpPr/>
          <p:nvPr/>
        </p:nvSpPr>
        <p:spPr>
          <a:xfrm>
            <a:off x="694944" y="4985309"/>
            <a:ext cx="9247632" cy="7315"/>
          </a:xfrm>
          <a:prstGeom prst="rect">
            <a:avLst/>
          </a:prstGeom>
          <a:solidFill>
            <a:srgbClr val="E6E6EC"/>
          </a:solidFill>
          <a:ln>
            <a:noFill/>
          </a:ln>
          <a:effectLst/>
        </p:spPr>
        <p:txBody>
          <a:bodyPr wrap="square" lIns="0" tIns="0" rIns="0" bIns="0" anchor="t" rtlCol="0">
            <a:noAutofit/>
          </a:bodyPr>
          <a:lstStyle/>
          <a:p>
            <a:endParaRPr lang="en-US" dirty="0"/>
          </a:p>
        </p:txBody>
      </p:sp>
      <p:sp>
        <p:nvSpPr>
          <p:cNvPr id="34" name="Group separator 34"/>
          <p:cNvSpPr/>
          <p:nvPr/>
        </p:nvSpPr>
        <p:spPr>
          <a:xfrm>
            <a:off x="694944" y="5468112"/>
            <a:ext cx="9247632" cy="7315"/>
          </a:xfrm>
          <a:prstGeom prst="rect">
            <a:avLst/>
          </a:prstGeom>
          <a:solidFill>
            <a:srgbClr val="E6E6EC"/>
          </a:solidFill>
          <a:ln>
            <a:noFill/>
          </a:ln>
          <a:effectLst/>
        </p:spPr>
        <p:txBody>
          <a:bodyPr wrap="square" lIns="0" tIns="0" rIns="0" bIns="0" anchor="t" rtlCol="0">
            <a:noAutofit/>
          </a:bodyPr>
          <a:lstStyle/>
          <a:p>
            <a:endParaRPr lang="en-US" dirty="0"/>
          </a:p>
        </p:txBody>
      </p:sp>
      <p:sp>
        <p:nvSpPr>
          <p:cNvPr id="35" name="Catch-up 35"/>
          <p:cNvSpPr/>
          <p:nvPr/>
        </p:nvSpPr>
        <p:spPr>
          <a:xfrm>
            <a:off x="10052304" y="4059936"/>
            <a:ext cx="1377696" cy="1858061"/>
          </a:xfrm>
          <a:prstGeom prst="roundRect">
            <a:avLst>
              <a:gd name="adj" fmla="val 8000"/>
            </a:avLst>
          </a:prstGeom>
          <a:solidFill>
            <a:srgbClr val="FBF7EF"/>
          </a:solidFill>
          <a:ln w="12700">
            <a:solidFill>
              <a:srgbClr val="B08A4A"/>
            </a:solidFill>
            <a:prstDash val="dash"/>
          </a:ln>
          <a:effectLst/>
        </p:spPr>
        <p:txBody>
          <a:bodyPr wrap="square" lIns="45720" tIns="45720" rIns="45720" bIns="45720" anchor="ctr" rtlCol="0">
            <a:noAutofit/>
          </a:bodyPr>
          <a:lstStyle/>
          <a:p>
            <a:pPr algn="ctr"/>
            <a:r>
              <a:rPr lang="en-US" sz="1800" b="1" i="0" dirty="0">
                <a:solidFill>
                  <a:srgbClr val="8A5A00"/>
                </a:solidFill>
                <a:latin typeface="Segoe UI"/>
                <a:cs typeface="Segoe UI"/>
              </a:rPr>
              <a:t>↻</a:t>
            </a:r>
          </a:p>
          <a:p>
            <a:pPr algn="ctr"/>
            <a:r>
              <a:rPr lang="en-US" sz="900" b="0" i="0" dirty="0">
                <a:solidFill>
                  <a:srgbClr val="6B4A10"/>
                </a:solidFill>
                <a:latin typeface="Segoe UI"/>
                <a:cs typeface="Segoe UI"/>
              </a:rPr>
              <a:t>Re-run nodes</a:t>
            </a:r>
          </a:p>
          <a:p>
            <a:pPr algn="ctr"/>
            <a:r>
              <a:rPr lang="en-US" sz="900" b="0" i="0" dirty="0">
                <a:solidFill>
                  <a:srgbClr val="6B4A10"/>
                </a:solidFill>
                <a:latin typeface="Segoe UI"/>
                <a:cs typeface="Segoe UI"/>
              </a:rPr>
              <a:t>skipped by a cancelled</a:t>
            </a:r>
          </a:p>
          <a:p>
            <a:pPr algn="ctr"/>
            <a:r>
              <a:rPr lang="en-US" sz="900" b="0" i="0" dirty="0">
                <a:solidFill>
                  <a:srgbClr val="6B4A10"/>
                </a:solidFill>
                <a:latin typeface="Segoe UI"/>
                <a:cs typeface="Segoe UI"/>
              </a:rPr>
              <a:t>or unsafe run</a:t>
            </a:r>
          </a:p>
        </p:txBody>
      </p:sp>
      <p:sp>
        <p:nvSpPr>
          <p:cNvPr id="36" name="Workload label 36"/>
          <p:cNvSpPr/>
          <p:nvPr/>
        </p:nvSpPr>
        <p:spPr>
          <a:xfrm>
            <a:off x="749808" y="4023360"/>
            <a:ext cx="1371600" cy="241402"/>
          </a:xfrm>
          <a:prstGeom prst="rect">
            <a:avLst/>
          </a:prstGeom>
          <a:noFill/>
          <a:ln>
            <a:noFill/>
          </a:ln>
          <a:effectLst/>
        </p:spPr>
        <p:txBody>
          <a:bodyPr wrap="square" lIns="0" tIns="0" rIns="0" bIns="0" anchor="ctr" rtlCol="0">
            <a:noAutofit/>
          </a:bodyPr>
          <a:lstStyle/>
          <a:p>
            <a:pPr algn="l"/>
            <a:r>
              <a:rPr lang="en-US" sz="1000" b="1" i="0" dirty="0">
                <a:solidFill>
                  <a:srgbClr val="202020"/>
                </a:solidFill>
                <a:latin typeface="Segoe UI"/>
                <a:cs typeface="Segoe UI"/>
              </a:rPr>
              <a:t>Workload 1</a:t>
            </a:r>
            <a:r>
              <a:rPr lang="en-US" sz="900" b="0" i="0" dirty="0">
                <a:solidFill>
                  <a:srgbClr val="545460"/>
                </a:solidFill>
                <a:latin typeface="Segoe UI"/>
                <a:cs typeface="Segoe UI"/>
              </a:rPr>
              <a:t xml:space="preserve">  dev/test</a:t>
            </a:r>
          </a:p>
        </p:txBody>
      </p:sp>
      <p:sp>
        <p:nvSpPr>
          <p:cNvPr id="37" name="Then arrow 37"/>
          <p:cNvSpPr/>
          <p:nvPr/>
        </p:nvSpPr>
        <p:spPr>
          <a:xfrm>
            <a:off x="3672840" y="4098341"/>
            <a:ext cx="91440" cy="91440"/>
          </a:xfrm>
          <a:prstGeom prst="rightArrow">
            <a:avLst/>
          </a:prstGeom>
          <a:solidFill>
            <a:srgbClr val="8055C8"/>
          </a:solidFill>
          <a:ln>
            <a:noFill/>
          </a:ln>
          <a:effectLst/>
        </p:spPr>
        <p:txBody>
          <a:bodyPr wrap="square" lIns="0" tIns="0" rIns="0" bIns="0" anchor="t" rtlCol="0">
            <a:noAutofit/>
          </a:bodyPr>
          <a:lstStyle/>
          <a:p>
            <a:endParaRPr lang="en-US" dirty="0"/>
          </a:p>
        </p:txBody>
      </p:sp>
      <p:sp>
        <p:nvSpPr>
          <p:cNvPr id="38" name="Secondary chip 38"/>
          <p:cNvSpPr/>
          <p:nvPr/>
        </p:nvSpPr>
        <p:spPr>
          <a:xfrm>
            <a:off x="2249424" y="4052621"/>
            <a:ext cx="1377696"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Secondary</a:t>
            </a:r>
          </a:p>
        </p:txBody>
      </p:sp>
      <p:sp>
        <p:nvSpPr>
          <p:cNvPr id="39" name="Primary chip 39"/>
          <p:cNvSpPr/>
          <p:nvPr/>
        </p:nvSpPr>
        <p:spPr>
          <a:xfrm>
            <a:off x="3810000" y="4052621"/>
            <a:ext cx="1377696"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 Primary</a:t>
            </a:r>
          </a:p>
        </p:txBody>
      </p:sp>
      <p:sp>
        <p:nvSpPr>
          <p:cNvPr id="40" name="Workload label 40"/>
          <p:cNvSpPr/>
          <p:nvPr/>
        </p:nvSpPr>
        <p:spPr>
          <a:xfrm>
            <a:off x="749808" y="4264762"/>
            <a:ext cx="1371600" cy="241402"/>
          </a:xfrm>
          <a:prstGeom prst="rect">
            <a:avLst/>
          </a:prstGeom>
          <a:noFill/>
          <a:ln>
            <a:noFill/>
          </a:ln>
          <a:effectLst/>
        </p:spPr>
        <p:txBody>
          <a:bodyPr wrap="square" lIns="0" tIns="0" rIns="0" bIns="0" anchor="ctr" rtlCol="0">
            <a:noAutofit/>
          </a:bodyPr>
          <a:lstStyle/>
          <a:p>
            <a:pPr algn="l"/>
            <a:r>
              <a:rPr lang="en-US" sz="1000" b="1" i="0" dirty="0">
                <a:solidFill>
                  <a:srgbClr val="202020"/>
                </a:solidFill>
                <a:latin typeface="Segoe UI"/>
                <a:cs typeface="Segoe UI"/>
              </a:rPr>
              <a:t>Workload 2</a:t>
            </a:r>
            <a:r>
              <a:rPr lang="en-US" sz="900" b="0" i="0" dirty="0">
                <a:solidFill>
                  <a:srgbClr val="545460"/>
                </a:solidFill>
                <a:latin typeface="Segoe UI"/>
                <a:cs typeface="Segoe UI"/>
              </a:rPr>
              <a:t xml:space="preserve">  dev/test</a:t>
            </a:r>
          </a:p>
        </p:txBody>
      </p:sp>
      <p:sp>
        <p:nvSpPr>
          <p:cNvPr id="41" name="Then arrow 41"/>
          <p:cNvSpPr/>
          <p:nvPr/>
        </p:nvSpPr>
        <p:spPr>
          <a:xfrm>
            <a:off x="3672840" y="4339742"/>
            <a:ext cx="91440" cy="91440"/>
          </a:xfrm>
          <a:prstGeom prst="rightArrow">
            <a:avLst/>
          </a:prstGeom>
          <a:solidFill>
            <a:srgbClr val="8055C8"/>
          </a:solidFill>
          <a:ln>
            <a:noFill/>
          </a:ln>
          <a:effectLst/>
        </p:spPr>
        <p:txBody>
          <a:bodyPr wrap="square" lIns="0" tIns="0" rIns="0" bIns="0" anchor="t" rtlCol="0">
            <a:noAutofit/>
          </a:bodyPr>
          <a:lstStyle/>
          <a:p>
            <a:endParaRPr lang="en-US" dirty="0"/>
          </a:p>
        </p:txBody>
      </p:sp>
      <p:sp>
        <p:nvSpPr>
          <p:cNvPr id="42" name="Secondary chip 42"/>
          <p:cNvSpPr/>
          <p:nvPr/>
        </p:nvSpPr>
        <p:spPr>
          <a:xfrm>
            <a:off x="2249424" y="4294022"/>
            <a:ext cx="1377696"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Secondary</a:t>
            </a:r>
          </a:p>
        </p:txBody>
      </p:sp>
      <p:sp>
        <p:nvSpPr>
          <p:cNvPr id="43" name="Primary chip 43"/>
          <p:cNvSpPr/>
          <p:nvPr/>
        </p:nvSpPr>
        <p:spPr>
          <a:xfrm>
            <a:off x="3810000" y="4294022"/>
            <a:ext cx="1377696"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 Primary</a:t>
            </a:r>
          </a:p>
        </p:txBody>
      </p:sp>
      <p:sp>
        <p:nvSpPr>
          <p:cNvPr id="44" name="Workload label 44"/>
          <p:cNvSpPr/>
          <p:nvPr/>
        </p:nvSpPr>
        <p:spPr>
          <a:xfrm>
            <a:off x="749808" y="4506163"/>
            <a:ext cx="1371600" cy="241402"/>
          </a:xfrm>
          <a:prstGeom prst="rect">
            <a:avLst/>
          </a:prstGeom>
          <a:noFill/>
          <a:ln>
            <a:noFill/>
          </a:ln>
          <a:effectLst/>
        </p:spPr>
        <p:txBody>
          <a:bodyPr wrap="square" lIns="0" tIns="0" rIns="0" bIns="0" anchor="ctr" rtlCol="0">
            <a:noAutofit/>
          </a:bodyPr>
          <a:lstStyle/>
          <a:p>
            <a:pPr algn="l"/>
            <a:r>
              <a:rPr lang="en-US" sz="1000" b="1" i="0" dirty="0">
                <a:solidFill>
                  <a:srgbClr val="202020"/>
                </a:solidFill>
                <a:latin typeface="Segoe UI"/>
                <a:cs typeface="Segoe UI"/>
              </a:rPr>
              <a:t>Workload 3</a:t>
            </a:r>
            <a:r>
              <a:rPr lang="en-US" sz="900" b="0" i="0" dirty="0">
                <a:solidFill>
                  <a:srgbClr val="545460"/>
                </a:solidFill>
                <a:latin typeface="Segoe UI"/>
                <a:cs typeface="Segoe UI"/>
              </a:rPr>
              <a:t xml:space="preserve">  tier 3</a:t>
            </a:r>
          </a:p>
        </p:txBody>
      </p:sp>
      <p:sp>
        <p:nvSpPr>
          <p:cNvPr id="45" name="Then arrow 45"/>
          <p:cNvSpPr/>
          <p:nvPr/>
        </p:nvSpPr>
        <p:spPr>
          <a:xfrm>
            <a:off x="5233416" y="4581144"/>
            <a:ext cx="91440" cy="91440"/>
          </a:xfrm>
          <a:prstGeom prst="rightArrow">
            <a:avLst/>
          </a:prstGeom>
          <a:solidFill>
            <a:srgbClr val="8055C8"/>
          </a:solidFill>
          <a:ln>
            <a:noFill/>
          </a:ln>
          <a:effectLst/>
        </p:spPr>
        <p:txBody>
          <a:bodyPr wrap="square" lIns="0" tIns="0" rIns="0" bIns="0" anchor="t" rtlCol="0">
            <a:noAutofit/>
          </a:bodyPr>
          <a:lstStyle/>
          <a:p>
            <a:endParaRPr lang="en-US" dirty="0"/>
          </a:p>
        </p:txBody>
      </p:sp>
      <p:sp>
        <p:nvSpPr>
          <p:cNvPr id="46" name="Secondary chip 46"/>
          <p:cNvSpPr/>
          <p:nvPr/>
        </p:nvSpPr>
        <p:spPr>
          <a:xfrm>
            <a:off x="3810000" y="4535424"/>
            <a:ext cx="1377696"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Secondary</a:t>
            </a:r>
          </a:p>
        </p:txBody>
      </p:sp>
      <p:sp>
        <p:nvSpPr>
          <p:cNvPr id="47" name="Primary chip 47"/>
          <p:cNvSpPr/>
          <p:nvPr/>
        </p:nvSpPr>
        <p:spPr>
          <a:xfrm>
            <a:off x="5370576" y="4535424"/>
            <a:ext cx="1377696"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 Primary</a:t>
            </a:r>
          </a:p>
        </p:txBody>
      </p:sp>
      <p:sp>
        <p:nvSpPr>
          <p:cNvPr id="48" name="Workload label 48"/>
          <p:cNvSpPr/>
          <p:nvPr/>
        </p:nvSpPr>
        <p:spPr>
          <a:xfrm>
            <a:off x="749808" y="4747565"/>
            <a:ext cx="1371600" cy="241402"/>
          </a:xfrm>
          <a:prstGeom prst="rect">
            <a:avLst/>
          </a:prstGeom>
          <a:noFill/>
          <a:ln>
            <a:noFill/>
          </a:ln>
          <a:effectLst/>
        </p:spPr>
        <p:txBody>
          <a:bodyPr wrap="square" lIns="0" tIns="0" rIns="0" bIns="0" anchor="ctr" rtlCol="0">
            <a:noAutofit/>
          </a:bodyPr>
          <a:lstStyle/>
          <a:p>
            <a:pPr algn="l"/>
            <a:r>
              <a:rPr lang="en-US" sz="1000" b="1" i="0" dirty="0">
                <a:solidFill>
                  <a:srgbClr val="202020"/>
                </a:solidFill>
                <a:latin typeface="Segoe UI"/>
                <a:cs typeface="Segoe UI"/>
              </a:rPr>
              <a:t>Workload 4</a:t>
            </a:r>
            <a:r>
              <a:rPr lang="en-US" sz="900" b="0" i="0" dirty="0">
                <a:solidFill>
                  <a:srgbClr val="545460"/>
                </a:solidFill>
                <a:latin typeface="Segoe UI"/>
                <a:cs typeface="Segoe UI"/>
              </a:rPr>
              <a:t xml:space="preserve">  tier 3</a:t>
            </a:r>
          </a:p>
        </p:txBody>
      </p:sp>
      <p:sp>
        <p:nvSpPr>
          <p:cNvPr id="49" name="Then arrow 49"/>
          <p:cNvSpPr/>
          <p:nvPr/>
        </p:nvSpPr>
        <p:spPr>
          <a:xfrm>
            <a:off x="5233416" y="4822546"/>
            <a:ext cx="91440" cy="91440"/>
          </a:xfrm>
          <a:prstGeom prst="rightArrow">
            <a:avLst/>
          </a:prstGeom>
          <a:solidFill>
            <a:srgbClr val="8055C8"/>
          </a:solidFill>
          <a:ln>
            <a:noFill/>
          </a:ln>
          <a:effectLst/>
        </p:spPr>
        <p:txBody>
          <a:bodyPr wrap="square" lIns="0" tIns="0" rIns="0" bIns="0" anchor="t" rtlCol="0">
            <a:noAutofit/>
          </a:bodyPr>
          <a:lstStyle/>
          <a:p>
            <a:endParaRPr lang="en-US" dirty="0"/>
          </a:p>
        </p:txBody>
      </p:sp>
      <p:sp>
        <p:nvSpPr>
          <p:cNvPr id="50" name="Secondary chip 50"/>
          <p:cNvSpPr/>
          <p:nvPr/>
        </p:nvSpPr>
        <p:spPr>
          <a:xfrm>
            <a:off x="3810000" y="4776826"/>
            <a:ext cx="1377696"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Secondary</a:t>
            </a:r>
          </a:p>
        </p:txBody>
      </p:sp>
      <p:sp>
        <p:nvSpPr>
          <p:cNvPr id="51" name="Primary chip 51"/>
          <p:cNvSpPr/>
          <p:nvPr/>
        </p:nvSpPr>
        <p:spPr>
          <a:xfrm>
            <a:off x="5370576" y="4776826"/>
            <a:ext cx="1377696"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 Primary</a:t>
            </a:r>
          </a:p>
        </p:txBody>
      </p:sp>
      <p:sp>
        <p:nvSpPr>
          <p:cNvPr id="52" name="Workload label 52"/>
          <p:cNvSpPr/>
          <p:nvPr/>
        </p:nvSpPr>
        <p:spPr>
          <a:xfrm>
            <a:off x="749808" y="4988966"/>
            <a:ext cx="1371600" cy="241402"/>
          </a:xfrm>
          <a:prstGeom prst="rect">
            <a:avLst/>
          </a:prstGeom>
          <a:noFill/>
          <a:ln>
            <a:noFill/>
          </a:ln>
          <a:effectLst/>
        </p:spPr>
        <p:txBody>
          <a:bodyPr wrap="square" lIns="0" tIns="0" rIns="0" bIns="0" anchor="ctr" rtlCol="0">
            <a:noAutofit/>
          </a:bodyPr>
          <a:lstStyle/>
          <a:p>
            <a:pPr algn="l"/>
            <a:r>
              <a:rPr lang="en-US" sz="1000" b="1" i="0" dirty="0">
                <a:solidFill>
                  <a:srgbClr val="202020"/>
                </a:solidFill>
                <a:latin typeface="Segoe UI"/>
                <a:cs typeface="Segoe UI"/>
              </a:rPr>
              <a:t>Workload 5</a:t>
            </a:r>
            <a:r>
              <a:rPr lang="en-US" sz="900" b="0" i="0" dirty="0">
                <a:solidFill>
                  <a:srgbClr val="545460"/>
                </a:solidFill>
                <a:latin typeface="Segoe UI"/>
                <a:cs typeface="Segoe UI"/>
              </a:rPr>
              <a:t xml:space="preserve">  tier 2</a:t>
            </a:r>
          </a:p>
        </p:txBody>
      </p:sp>
      <p:sp>
        <p:nvSpPr>
          <p:cNvPr id="53" name="Then arrow 53"/>
          <p:cNvSpPr/>
          <p:nvPr/>
        </p:nvSpPr>
        <p:spPr>
          <a:xfrm>
            <a:off x="6793992" y="5063947"/>
            <a:ext cx="91440" cy="91440"/>
          </a:xfrm>
          <a:prstGeom prst="rightArrow">
            <a:avLst/>
          </a:prstGeom>
          <a:solidFill>
            <a:srgbClr val="8055C8"/>
          </a:solidFill>
          <a:ln>
            <a:noFill/>
          </a:ln>
          <a:effectLst/>
        </p:spPr>
        <p:txBody>
          <a:bodyPr wrap="square" lIns="0" tIns="0" rIns="0" bIns="0" anchor="t" rtlCol="0">
            <a:noAutofit/>
          </a:bodyPr>
          <a:lstStyle/>
          <a:p>
            <a:endParaRPr lang="en-US" dirty="0"/>
          </a:p>
        </p:txBody>
      </p:sp>
      <p:sp>
        <p:nvSpPr>
          <p:cNvPr id="54" name="Secondary chip 54"/>
          <p:cNvSpPr/>
          <p:nvPr/>
        </p:nvSpPr>
        <p:spPr>
          <a:xfrm>
            <a:off x="5370576" y="5018227"/>
            <a:ext cx="1377696"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Secondary</a:t>
            </a:r>
          </a:p>
        </p:txBody>
      </p:sp>
      <p:sp>
        <p:nvSpPr>
          <p:cNvPr id="55" name="Primary chip 55"/>
          <p:cNvSpPr/>
          <p:nvPr/>
        </p:nvSpPr>
        <p:spPr>
          <a:xfrm>
            <a:off x="6931152" y="5018227"/>
            <a:ext cx="1377696"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 Primary</a:t>
            </a:r>
          </a:p>
        </p:txBody>
      </p:sp>
      <p:sp>
        <p:nvSpPr>
          <p:cNvPr id="56" name="Workload label 56"/>
          <p:cNvSpPr/>
          <p:nvPr/>
        </p:nvSpPr>
        <p:spPr>
          <a:xfrm>
            <a:off x="749808" y="5230368"/>
            <a:ext cx="1371600" cy="241402"/>
          </a:xfrm>
          <a:prstGeom prst="rect">
            <a:avLst/>
          </a:prstGeom>
          <a:noFill/>
          <a:ln>
            <a:noFill/>
          </a:ln>
          <a:effectLst/>
        </p:spPr>
        <p:txBody>
          <a:bodyPr wrap="square" lIns="0" tIns="0" rIns="0" bIns="0" anchor="ctr" rtlCol="0">
            <a:noAutofit/>
          </a:bodyPr>
          <a:lstStyle/>
          <a:p>
            <a:pPr algn="l"/>
            <a:r>
              <a:rPr lang="en-US" sz="1000" b="1" i="0" dirty="0">
                <a:solidFill>
                  <a:srgbClr val="202020"/>
                </a:solidFill>
                <a:latin typeface="Segoe UI"/>
                <a:cs typeface="Segoe UI"/>
              </a:rPr>
              <a:t>Workload 6</a:t>
            </a:r>
            <a:r>
              <a:rPr lang="en-US" sz="900" b="0" i="0" dirty="0">
                <a:solidFill>
                  <a:srgbClr val="545460"/>
                </a:solidFill>
                <a:latin typeface="Segoe UI"/>
                <a:cs typeface="Segoe UI"/>
              </a:rPr>
              <a:t xml:space="preserve">  tier 2</a:t>
            </a:r>
          </a:p>
        </p:txBody>
      </p:sp>
      <p:sp>
        <p:nvSpPr>
          <p:cNvPr id="57" name="Then arrow 57"/>
          <p:cNvSpPr/>
          <p:nvPr/>
        </p:nvSpPr>
        <p:spPr>
          <a:xfrm>
            <a:off x="6793992" y="5305349"/>
            <a:ext cx="91440" cy="91440"/>
          </a:xfrm>
          <a:prstGeom prst="rightArrow">
            <a:avLst/>
          </a:prstGeom>
          <a:solidFill>
            <a:srgbClr val="8055C8"/>
          </a:solidFill>
          <a:ln>
            <a:noFill/>
          </a:ln>
          <a:effectLst/>
        </p:spPr>
        <p:txBody>
          <a:bodyPr wrap="square" lIns="0" tIns="0" rIns="0" bIns="0" anchor="t" rtlCol="0">
            <a:noAutofit/>
          </a:bodyPr>
          <a:lstStyle/>
          <a:p>
            <a:endParaRPr lang="en-US" dirty="0"/>
          </a:p>
        </p:txBody>
      </p:sp>
      <p:sp>
        <p:nvSpPr>
          <p:cNvPr id="58" name="Secondary chip 58"/>
          <p:cNvSpPr/>
          <p:nvPr/>
        </p:nvSpPr>
        <p:spPr>
          <a:xfrm>
            <a:off x="5370576" y="5259629"/>
            <a:ext cx="1377696"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Secondary</a:t>
            </a:r>
          </a:p>
        </p:txBody>
      </p:sp>
      <p:sp>
        <p:nvSpPr>
          <p:cNvPr id="59" name="Primary chip 59"/>
          <p:cNvSpPr/>
          <p:nvPr/>
        </p:nvSpPr>
        <p:spPr>
          <a:xfrm>
            <a:off x="6931152" y="5259629"/>
            <a:ext cx="1377696"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 Primary</a:t>
            </a:r>
          </a:p>
        </p:txBody>
      </p:sp>
      <p:sp>
        <p:nvSpPr>
          <p:cNvPr id="60" name="Workload label 60"/>
          <p:cNvSpPr/>
          <p:nvPr/>
        </p:nvSpPr>
        <p:spPr>
          <a:xfrm>
            <a:off x="749808" y="5471770"/>
            <a:ext cx="1371600" cy="241402"/>
          </a:xfrm>
          <a:prstGeom prst="rect">
            <a:avLst/>
          </a:prstGeom>
          <a:noFill/>
          <a:ln>
            <a:noFill/>
          </a:ln>
          <a:effectLst/>
        </p:spPr>
        <p:txBody>
          <a:bodyPr wrap="square" lIns="0" tIns="0" rIns="0" bIns="0" anchor="ctr" rtlCol="0">
            <a:noAutofit/>
          </a:bodyPr>
          <a:lstStyle/>
          <a:p>
            <a:pPr algn="l"/>
            <a:r>
              <a:rPr lang="en-US" sz="1000" b="1" i="0" dirty="0">
                <a:solidFill>
                  <a:srgbClr val="202020"/>
                </a:solidFill>
                <a:latin typeface="Segoe UI"/>
                <a:cs typeface="Segoe UI"/>
              </a:rPr>
              <a:t>Workload 7</a:t>
            </a:r>
            <a:r>
              <a:rPr lang="en-US" sz="900" b="0" i="0" dirty="0">
                <a:solidFill>
                  <a:srgbClr val="545460"/>
                </a:solidFill>
                <a:latin typeface="Segoe UI"/>
                <a:cs typeface="Segoe UI"/>
              </a:rPr>
              <a:t xml:space="preserve">  tier 1</a:t>
            </a:r>
          </a:p>
        </p:txBody>
      </p:sp>
      <p:sp>
        <p:nvSpPr>
          <p:cNvPr id="61" name="Then arrow 61"/>
          <p:cNvSpPr/>
          <p:nvPr/>
        </p:nvSpPr>
        <p:spPr>
          <a:xfrm>
            <a:off x="8354568" y="5546750"/>
            <a:ext cx="91440" cy="91440"/>
          </a:xfrm>
          <a:prstGeom prst="rightArrow">
            <a:avLst/>
          </a:prstGeom>
          <a:solidFill>
            <a:srgbClr val="8055C8"/>
          </a:solidFill>
          <a:ln>
            <a:noFill/>
          </a:ln>
          <a:effectLst/>
        </p:spPr>
        <p:txBody>
          <a:bodyPr wrap="square" lIns="0" tIns="0" rIns="0" bIns="0" anchor="t" rtlCol="0">
            <a:noAutofit/>
          </a:bodyPr>
          <a:lstStyle/>
          <a:p>
            <a:endParaRPr lang="en-US" dirty="0"/>
          </a:p>
        </p:txBody>
      </p:sp>
      <p:sp>
        <p:nvSpPr>
          <p:cNvPr id="62" name="Secondary chip 62"/>
          <p:cNvSpPr/>
          <p:nvPr/>
        </p:nvSpPr>
        <p:spPr>
          <a:xfrm>
            <a:off x="6931152" y="5501030"/>
            <a:ext cx="1377696"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Secondary</a:t>
            </a:r>
          </a:p>
        </p:txBody>
      </p:sp>
      <p:sp>
        <p:nvSpPr>
          <p:cNvPr id="63" name="Primary chip 63"/>
          <p:cNvSpPr/>
          <p:nvPr/>
        </p:nvSpPr>
        <p:spPr>
          <a:xfrm>
            <a:off x="8491728" y="5501030"/>
            <a:ext cx="1377696"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 Primary</a:t>
            </a:r>
          </a:p>
        </p:txBody>
      </p:sp>
      <p:sp>
        <p:nvSpPr>
          <p:cNvPr id="64" name="Workload label 64"/>
          <p:cNvSpPr/>
          <p:nvPr/>
        </p:nvSpPr>
        <p:spPr>
          <a:xfrm>
            <a:off x="749808" y="5713171"/>
            <a:ext cx="1371600" cy="241402"/>
          </a:xfrm>
          <a:prstGeom prst="rect">
            <a:avLst/>
          </a:prstGeom>
          <a:noFill/>
          <a:ln>
            <a:noFill/>
          </a:ln>
          <a:effectLst/>
        </p:spPr>
        <p:txBody>
          <a:bodyPr wrap="square" lIns="0" tIns="0" rIns="0" bIns="0" anchor="ctr" rtlCol="0">
            <a:noAutofit/>
          </a:bodyPr>
          <a:lstStyle/>
          <a:p>
            <a:pPr algn="l"/>
            <a:r>
              <a:rPr lang="en-US" sz="1000" b="1" i="0" dirty="0">
                <a:solidFill>
                  <a:srgbClr val="202020"/>
                </a:solidFill>
                <a:latin typeface="Segoe UI"/>
                <a:cs typeface="Segoe UI"/>
              </a:rPr>
              <a:t>Workload 8</a:t>
            </a:r>
            <a:r>
              <a:rPr lang="en-US" sz="900" b="0" i="0" dirty="0">
                <a:solidFill>
                  <a:srgbClr val="545460"/>
                </a:solidFill>
                <a:latin typeface="Segoe UI"/>
                <a:cs typeface="Segoe UI"/>
              </a:rPr>
              <a:t xml:space="preserve">  tier 1</a:t>
            </a:r>
          </a:p>
        </p:txBody>
      </p:sp>
      <p:sp>
        <p:nvSpPr>
          <p:cNvPr id="65" name="Then arrow 65"/>
          <p:cNvSpPr/>
          <p:nvPr/>
        </p:nvSpPr>
        <p:spPr>
          <a:xfrm>
            <a:off x="8354568" y="5788152"/>
            <a:ext cx="91440" cy="91440"/>
          </a:xfrm>
          <a:prstGeom prst="rightArrow">
            <a:avLst/>
          </a:prstGeom>
          <a:solidFill>
            <a:srgbClr val="8055C8"/>
          </a:solidFill>
          <a:ln>
            <a:noFill/>
          </a:ln>
          <a:effectLst/>
        </p:spPr>
        <p:txBody>
          <a:bodyPr wrap="square" lIns="0" tIns="0" rIns="0" bIns="0" anchor="t" rtlCol="0">
            <a:noAutofit/>
          </a:bodyPr>
          <a:lstStyle/>
          <a:p>
            <a:endParaRPr lang="en-US" dirty="0"/>
          </a:p>
        </p:txBody>
      </p:sp>
      <p:sp>
        <p:nvSpPr>
          <p:cNvPr id="66" name="Secondary chip 66"/>
          <p:cNvSpPr/>
          <p:nvPr/>
        </p:nvSpPr>
        <p:spPr>
          <a:xfrm>
            <a:off x="6931152" y="5742432"/>
            <a:ext cx="1377696" cy="182880"/>
          </a:xfrm>
          <a:prstGeom prst="roundRect">
            <a:avLst>
              <a:gd name="adj" fmla="val 50000"/>
            </a:avLst>
          </a:prstGeom>
          <a:solidFill>
            <a:srgbClr val="008F99"/>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Secondary</a:t>
            </a:r>
          </a:p>
        </p:txBody>
      </p:sp>
      <p:sp>
        <p:nvSpPr>
          <p:cNvPr id="67" name="Primary chip 67"/>
          <p:cNvSpPr/>
          <p:nvPr/>
        </p:nvSpPr>
        <p:spPr>
          <a:xfrm>
            <a:off x="8491728" y="5742432"/>
            <a:ext cx="1377696" cy="182880"/>
          </a:xfrm>
          <a:prstGeom prst="roundRect">
            <a:avLst>
              <a:gd name="adj" fmla="val 50000"/>
            </a:avLst>
          </a:prstGeom>
          <a:solidFill>
            <a:srgbClr val="0078D4"/>
          </a:solidFill>
          <a:ln>
            <a:noFill/>
          </a:ln>
          <a:effectLst/>
        </p:spPr>
        <p:txBody>
          <a:bodyPr wrap="square" lIns="0" tIns="0" rIns="0" bIns="0" anchor="ctr" rtlCol="0">
            <a:noAutofit/>
          </a:bodyPr>
          <a:lstStyle/>
          <a:p>
            <a:pPr algn="ctr"/>
            <a:r>
              <a:rPr lang="en-US" sz="900" b="1" i="0" dirty="0">
                <a:solidFill>
                  <a:srgbClr val="FFFFFF"/>
                </a:solidFill>
                <a:latin typeface="Segoe UI"/>
                <a:cs typeface="Segoe UI"/>
              </a:rPr>
              <a:t>⇄ Primary</a:t>
            </a:r>
          </a:p>
        </p:txBody>
      </p:sp>
      <p:sp>
        <p:nvSpPr>
          <p:cNvPr id="68" name="Summary separator 68"/>
          <p:cNvSpPr/>
          <p:nvPr/>
        </p:nvSpPr>
        <p:spPr>
          <a:xfrm>
            <a:off x="694944" y="5982005"/>
            <a:ext cx="10808208" cy="9144"/>
          </a:xfrm>
          <a:prstGeom prst="rect">
            <a:avLst/>
          </a:prstGeom>
          <a:solidFill>
            <a:srgbClr val="D5D5DD"/>
          </a:solidFill>
          <a:ln>
            <a:noFill/>
          </a:ln>
          <a:effectLst/>
        </p:spPr>
        <p:txBody>
          <a:bodyPr wrap="square" lIns="0" tIns="0" rIns="0" bIns="0" anchor="t" rtlCol="0">
            <a:noAutofit/>
          </a:bodyPr>
          <a:lstStyle/>
          <a:p>
            <a:endParaRPr lang="en-US" dirty="0"/>
          </a:p>
        </p:txBody>
      </p:sp>
      <p:sp>
        <p:nvSpPr>
          <p:cNvPr id="69" name="Summary label 69"/>
          <p:cNvSpPr/>
          <p:nvPr/>
        </p:nvSpPr>
        <p:spPr>
          <a:xfrm>
            <a:off x="749808" y="6009437"/>
            <a:ext cx="1371600" cy="237744"/>
          </a:xfrm>
          <a:prstGeom prst="rect">
            <a:avLst/>
          </a:prstGeom>
          <a:noFill/>
          <a:ln>
            <a:noFill/>
          </a:ln>
          <a:effectLst/>
        </p:spPr>
        <p:txBody>
          <a:bodyPr wrap="square" lIns="0" tIns="0" rIns="0" bIns="0" anchor="ctr" rtlCol="0">
            <a:noAutofit/>
          </a:bodyPr>
          <a:lstStyle/>
          <a:p>
            <a:pPr algn="l"/>
            <a:r>
              <a:rPr lang="en-US" sz="950" b="1" i="0" dirty="0">
                <a:solidFill>
                  <a:srgbClr val="545460"/>
                </a:solidFill>
                <a:latin typeface="Segoe UI"/>
                <a:cs typeface="Segoe UI"/>
              </a:rPr>
              <a:t>Per wave</a:t>
            </a:r>
          </a:p>
        </p:txBody>
      </p:sp>
      <p:sp>
        <p:nvSpPr>
          <p:cNvPr id="70" name="Summary 70"/>
          <p:cNvSpPr/>
          <p:nvPr/>
        </p:nvSpPr>
        <p:spPr>
          <a:xfrm>
            <a:off x="2249424" y="6009437"/>
            <a:ext cx="1377696" cy="237744"/>
          </a:xfrm>
          <a:prstGeom prst="rect">
            <a:avLst/>
          </a:prstGeom>
          <a:noFill/>
          <a:ln>
            <a:noFill/>
          </a:ln>
          <a:effectLst/>
        </p:spPr>
        <p:txBody>
          <a:bodyPr wrap="square" lIns="0" tIns="0" rIns="0" bIns="0" anchor="ctr" rtlCol="0">
            <a:noAutofit/>
          </a:bodyPr>
          <a:lstStyle/>
          <a:p>
            <a:pPr algn="ctr"/>
            <a:r>
              <a:rPr lang="en-US" sz="950" b="1" i="0" dirty="0">
                <a:solidFill>
                  <a:srgbClr val="202020"/>
                </a:solidFill>
                <a:latin typeface="Segoe UI"/>
                <a:cs typeface="Segoe UI"/>
              </a:rPr>
              <a:t>2 nodes</a:t>
            </a:r>
            <a:r>
              <a:rPr lang="en-US" sz="900" b="0" i="0" dirty="0">
                <a:solidFill>
                  <a:srgbClr val="545460"/>
                </a:solidFill>
                <a:latin typeface="Segoe UI"/>
                <a:cs typeface="Segoe UI"/>
              </a:rPr>
              <a:t xml:space="preserve"> · no failover</a:t>
            </a:r>
          </a:p>
        </p:txBody>
      </p:sp>
      <p:sp>
        <p:nvSpPr>
          <p:cNvPr id="71" name="Summary 71"/>
          <p:cNvSpPr/>
          <p:nvPr/>
        </p:nvSpPr>
        <p:spPr>
          <a:xfrm>
            <a:off x="3810000" y="6009437"/>
            <a:ext cx="1377696" cy="237744"/>
          </a:xfrm>
          <a:prstGeom prst="rect">
            <a:avLst/>
          </a:prstGeom>
          <a:noFill/>
          <a:ln>
            <a:noFill/>
          </a:ln>
          <a:effectLst/>
        </p:spPr>
        <p:txBody>
          <a:bodyPr wrap="square" lIns="0" tIns="0" rIns="0" bIns="0" anchor="ctr" rtlCol="0">
            <a:noAutofit/>
          </a:bodyPr>
          <a:lstStyle/>
          <a:p>
            <a:pPr algn="ctr"/>
            <a:r>
              <a:rPr lang="en-US" sz="950" b="1" i="0" dirty="0">
                <a:solidFill>
                  <a:srgbClr val="202020"/>
                </a:solidFill>
                <a:latin typeface="Segoe UI"/>
                <a:cs typeface="Segoe UI"/>
              </a:rPr>
              <a:t>4 nodes</a:t>
            </a:r>
            <a:r>
              <a:rPr lang="en-US" sz="900" b="0" i="0" dirty="0">
                <a:solidFill>
                  <a:srgbClr val="545460"/>
                </a:solidFill>
                <a:latin typeface="Segoe UI"/>
                <a:cs typeface="Segoe UI"/>
              </a:rPr>
              <a:t xml:space="preserve"> · 2 failovers</a:t>
            </a:r>
          </a:p>
        </p:txBody>
      </p:sp>
      <p:sp>
        <p:nvSpPr>
          <p:cNvPr id="72" name="Summary 72"/>
          <p:cNvSpPr/>
          <p:nvPr/>
        </p:nvSpPr>
        <p:spPr>
          <a:xfrm>
            <a:off x="5370576" y="6009437"/>
            <a:ext cx="1377696" cy="237744"/>
          </a:xfrm>
          <a:prstGeom prst="rect">
            <a:avLst/>
          </a:prstGeom>
          <a:noFill/>
          <a:ln>
            <a:noFill/>
          </a:ln>
          <a:effectLst/>
        </p:spPr>
        <p:txBody>
          <a:bodyPr wrap="square" lIns="0" tIns="0" rIns="0" bIns="0" anchor="ctr" rtlCol="0">
            <a:noAutofit/>
          </a:bodyPr>
          <a:lstStyle/>
          <a:p>
            <a:pPr algn="ctr"/>
            <a:r>
              <a:rPr lang="en-US" sz="950" b="1" i="0" dirty="0">
                <a:solidFill>
                  <a:srgbClr val="202020"/>
                </a:solidFill>
                <a:latin typeface="Segoe UI"/>
                <a:cs typeface="Segoe UI"/>
              </a:rPr>
              <a:t>4 nodes</a:t>
            </a:r>
            <a:r>
              <a:rPr lang="en-US" sz="900" b="0" i="0" dirty="0">
                <a:solidFill>
                  <a:srgbClr val="545460"/>
                </a:solidFill>
                <a:latin typeface="Segoe UI"/>
                <a:cs typeface="Segoe UI"/>
              </a:rPr>
              <a:t xml:space="preserve"> · 2 failovers</a:t>
            </a:r>
          </a:p>
        </p:txBody>
      </p:sp>
      <p:sp>
        <p:nvSpPr>
          <p:cNvPr id="73" name="Summary 73"/>
          <p:cNvSpPr/>
          <p:nvPr/>
        </p:nvSpPr>
        <p:spPr>
          <a:xfrm>
            <a:off x="6931152" y="6009437"/>
            <a:ext cx="1377696" cy="237744"/>
          </a:xfrm>
          <a:prstGeom prst="rect">
            <a:avLst/>
          </a:prstGeom>
          <a:noFill/>
          <a:ln>
            <a:noFill/>
          </a:ln>
          <a:effectLst/>
        </p:spPr>
        <p:txBody>
          <a:bodyPr wrap="square" lIns="0" tIns="0" rIns="0" bIns="0" anchor="ctr" rtlCol="0">
            <a:noAutofit/>
          </a:bodyPr>
          <a:lstStyle/>
          <a:p>
            <a:pPr algn="ctr"/>
            <a:r>
              <a:rPr lang="en-US" sz="950" b="1" i="0" dirty="0">
                <a:solidFill>
                  <a:srgbClr val="202020"/>
                </a:solidFill>
                <a:latin typeface="Segoe UI"/>
                <a:cs typeface="Segoe UI"/>
              </a:rPr>
              <a:t>4 nodes</a:t>
            </a:r>
            <a:r>
              <a:rPr lang="en-US" sz="900" b="0" i="0" dirty="0">
                <a:solidFill>
                  <a:srgbClr val="545460"/>
                </a:solidFill>
                <a:latin typeface="Segoe UI"/>
                <a:cs typeface="Segoe UI"/>
              </a:rPr>
              <a:t xml:space="preserve"> · 2 failovers</a:t>
            </a:r>
          </a:p>
        </p:txBody>
      </p:sp>
      <p:sp>
        <p:nvSpPr>
          <p:cNvPr id="74" name="Summary 74"/>
          <p:cNvSpPr/>
          <p:nvPr/>
        </p:nvSpPr>
        <p:spPr>
          <a:xfrm>
            <a:off x="8491728" y="6009437"/>
            <a:ext cx="1377696" cy="237744"/>
          </a:xfrm>
          <a:prstGeom prst="rect">
            <a:avLst/>
          </a:prstGeom>
          <a:noFill/>
          <a:ln>
            <a:noFill/>
          </a:ln>
          <a:effectLst/>
        </p:spPr>
        <p:txBody>
          <a:bodyPr wrap="square" lIns="0" tIns="0" rIns="0" bIns="0" anchor="ctr" rtlCol="0">
            <a:noAutofit/>
          </a:bodyPr>
          <a:lstStyle/>
          <a:p>
            <a:pPr algn="ctr"/>
            <a:r>
              <a:rPr lang="en-US" sz="950" b="1" i="0" dirty="0">
                <a:solidFill>
                  <a:srgbClr val="202020"/>
                </a:solidFill>
                <a:latin typeface="Segoe UI"/>
                <a:cs typeface="Segoe UI"/>
              </a:rPr>
              <a:t>2 nodes</a:t>
            </a:r>
            <a:r>
              <a:rPr lang="en-US" sz="900" b="0" i="0" dirty="0">
                <a:solidFill>
                  <a:srgbClr val="545460"/>
                </a:solidFill>
                <a:latin typeface="Segoe UI"/>
                <a:cs typeface="Segoe UI"/>
              </a:rPr>
              <a:t xml:space="preserve"> · 2 failovers</a:t>
            </a:r>
          </a:p>
        </p:txBody>
      </p:sp>
      <p:sp>
        <p:nvSpPr>
          <p:cNvPr id="75" name="Summary 75"/>
          <p:cNvSpPr/>
          <p:nvPr/>
        </p:nvSpPr>
        <p:spPr>
          <a:xfrm>
            <a:off x="10052304" y="6009437"/>
            <a:ext cx="1377696" cy="237744"/>
          </a:xfrm>
          <a:prstGeom prst="rect">
            <a:avLst/>
          </a:prstGeom>
          <a:noFill/>
          <a:ln>
            <a:noFill/>
          </a:ln>
          <a:effectLst/>
        </p:spPr>
        <p:txBody>
          <a:bodyPr wrap="square" lIns="0" tIns="0" rIns="0" bIns="0" anchor="ctr" rtlCol="0">
            <a:noAutofit/>
          </a:bodyPr>
          <a:lstStyle/>
          <a:p>
            <a:pPr algn="ctr"/>
            <a:r>
              <a:rPr lang="en-US" sz="950" b="1" i="0" dirty="0">
                <a:solidFill>
                  <a:srgbClr val="202020"/>
                </a:solidFill>
                <a:latin typeface="Segoe UI"/>
                <a:cs typeface="Segoe UI"/>
              </a:rPr>
              <a:t>as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08  |  Waves in practice</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Waves are computed from Arc inventory. The same two runbooks serve every wave.</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3813048" y="6492240"/>
            <a:ext cx="4572000" cy="265176"/>
          </a:xfrm>
          <a:prstGeom prst="rect">
            <a:avLst/>
          </a:prstGeom>
          <a:noFill/>
        </p:spPr>
        <p:txBody>
          <a:bodyPr wrap="square" anchor="t" lIns="0" rIns="0" tIns="0" bIns="0">
            <a:spAutoFit/>
          </a:bodyPr>
          <a:lstStyle/>
          <a:p>
            <a:pPr algn="ctr"/>
            <a:r>
              <a:rPr sz="1000" b="0" i="0">
                <a:solidFill>
                  <a:srgbClr val="0078D4"/>
                </a:solidFill>
                <a:latin typeface="Segoe UI"/>
              </a:rPr>
              <a:t>Design: not yet implemented</a:t>
            </a:r>
          </a:p>
        </p:txBody>
      </p:sp>
      <p:sp>
        <p:nvSpPr>
          <p:cNvPr id="6" name="TextBox 5"/>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11</a:t>
            </a:r>
          </a:p>
        </p:txBody>
      </p:sp>
      <p:sp>
        <p:nvSpPr>
          <p:cNvPr id="7" name="TextBox 6"/>
          <p:cNvSpPr txBox="1"/>
          <p:nvPr/>
        </p:nvSpPr>
        <p:spPr>
          <a:xfrm>
            <a:off x="612648" y="1783080"/>
            <a:ext cx="5394960" cy="365760"/>
          </a:xfrm>
          <a:prstGeom prst="rect">
            <a:avLst/>
          </a:prstGeom>
          <a:noFill/>
        </p:spPr>
        <p:txBody>
          <a:bodyPr wrap="square" anchor="t" lIns="0" rIns="0" tIns="0" bIns="0">
            <a:spAutoFit/>
          </a:bodyPr>
          <a:lstStyle/>
          <a:p>
            <a:pPr algn="l"/>
            <a:r>
              <a:rPr sz="1900" b="1" i="0">
                <a:solidFill>
                  <a:srgbClr val="0078D4"/>
                </a:solidFill>
                <a:latin typeface="Segoe UI"/>
              </a:rPr>
              <a:t>Assign waves automatically</a:t>
            </a:r>
          </a:p>
        </p:txBody>
      </p:sp>
      <p:sp>
        <p:nvSpPr>
          <p:cNvPr id="8" name="Oval 7"/>
          <p:cNvSpPr/>
          <p:nvPr/>
        </p:nvSpPr>
        <p:spPr>
          <a:xfrm>
            <a:off x="612648" y="2322576"/>
            <a:ext cx="384048" cy="384048"/>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egoe UI"/>
              </a:rPr>
              <a:t>1</a:t>
            </a:r>
          </a:p>
        </p:txBody>
      </p:sp>
      <p:sp>
        <p:nvSpPr>
          <p:cNvPr id="9" name="TextBox 8"/>
          <p:cNvSpPr txBox="1"/>
          <p:nvPr/>
        </p:nvSpPr>
        <p:spPr>
          <a:xfrm>
            <a:off x="1170432" y="2286000"/>
            <a:ext cx="4572000" cy="292608"/>
          </a:xfrm>
          <a:prstGeom prst="rect">
            <a:avLst/>
          </a:prstGeom>
          <a:noFill/>
        </p:spPr>
        <p:txBody>
          <a:bodyPr wrap="square" anchor="t" lIns="0" rIns="0" tIns="0" bIns="0">
            <a:spAutoFit/>
          </a:bodyPr>
          <a:lstStyle/>
          <a:p>
            <a:pPr algn="l"/>
            <a:r>
              <a:rPr sz="1500" b="1" i="0">
                <a:solidFill>
                  <a:srgbClr val="202020"/>
                </a:solidFill>
                <a:latin typeface="Segoe UI"/>
              </a:rPr>
              <a:t>Discover</a:t>
            </a:r>
          </a:p>
        </p:txBody>
      </p:sp>
      <p:sp>
        <p:nvSpPr>
          <p:cNvPr id="10" name="TextBox 9"/>
          <p:cNvSpPr txBox="1"/>
          <p:nvPr/>
        </p:nvSpPr>
        <p:spPr>
          <a:xfrm>
            <a:off x="1170432" y="2587752"/>
            <a:ext cx="4754880" cy="365760"/>
          </a:xfrm>
          <a:prstGeom prst="rect">
            <a:avLst/>
          </a:prstGeom>
          <a:noFill/>
        </p:spPr>
        <p:txBody>
          <a:bodyPr wrap="square" anchor="t" lIns="0" rIns="0" tIns="0" bIns="0">
            <a:spAutoFit/>
          </a:bodyPr>
          <a:lstStyle/>
          <a:p>
            <a:pPr algn="l"/>
            <a:r>
              <a:rPr sz="1200" b="0" i="0">
                <a:solidFill>
                  <a:srgbClr val="545460"/>
                </a:solidFill>
                <a:latin typeface="Segoe UI"/>
              </a:rPr>
              <a:t>Resource Graph lists every AG and its replica machines.</a:t>
            </a:r>
          </a:p>
        </p:txBody>
      </p:sp>
      <p:sp>
        <p:nvSpPr>
          <p:cNvPr id="11" name="Oval 10"/>
          <p:cNvSpPr/>
          <p:nvPr/>
        </p:nvSpPr>
        <p:spPr>
          <a:xfrm>
            <a:off x="612648" y="3099816"/>
            <a:ext cx="384048" cy="384048"/>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egoe UI"/>
              </a:rPr>
              <a:t>2</a:t>
            </a:r>
          </a:p>
        </p:txBody>
      </p:sp>
      <p:sp>
        <p:nvSpPr>
          <p:cNvPr id="12" name="TextBox 11"/>
          <p:cNvSpPr txBox="1"/>
          <p:nvPr/>
        </p:nvSpPr>
        <p:spPr>
          <a:xfrm>
            <a:off x="1170432" y="3063240"/>
            <a:ext cx="4572000" cy="292608"/>
          </a:xfrm>
          <a:prstGeom prst="rect">
            <a:avLst/>
          </a:prstGeom>
          <a:noFill/>
        </p:spPr>
        <p:txBody>
          <a:bodyPr wrap="square" anchor="t" lIns="0" rIns="0" tIns="0" bIns="0">
            <a:spAutoFit/>
          </a:bodyPr>
          <a:lstStyle/>
          <a:p>
            <a:pPr algn="l"/>
            <a:r>
              <a:rPr sz="1500" b="1" i="0">
                <a:solidFill>
                  <a:srgbClr val="202020"/>
                </a:solidFill>
                <a:latin typeface="Segoe UI"/>
              </a:rPr>
              <a:t>Color the graph</a:t>
            </a:r>
          </a:p>
        </p:txBody>
      </p:sp>
      <p:sp>
        <p:nvSpPr>
          <p:cNvPr id="13" name="TextBox 12"/>
          <p:cNvSpPr txBox="1"/>
          <p:nvPr/>
        </p:nvSpPr>
        <p:spPr>
          <a:xfrm>
            <a:off x="1170432" y="3364992"/>
            <a:ext cx="4754880" cy="365760"/>
          </a:xfrm>
          <a:prstGeom prst="rect">
            <a:avLst/>
          </a:prstGeom>
          <a:noFill/>
        </p:spPr>
        <p:txBody>
          <a:bodyPr wrap="square" anchor="t" lIns="0" rIns="0" tIns="0" bIns="0">
            <a:spAutoFit/>
          </a:bodyPr>
          <a:lstStyle/>
          <a:p>
            <a:pPr algn="l"/>
            <a:r>
              <a:rPr sz="1200" b="0" i="0">
                <a:solidFill>
                  <a:srgbClr val="545460"/>
                </a:solidFill>
                <a:latin typeface="Segoe UI"/>
              </a:rPr>
              <a:t>Machines that share an AG get different waves.</a:t>
            </a:r>
          </a:p>
        </p:txBody>
      </p:sp>
      <p:sp>
        <p:nvSpPr>
          <p:cNvPr id="14" name="Oval 13"/>
          <p:cNvSpPr/>
          <p:nvPr/>
        </p:nvSpPr>
        <p:spPr>
          <a:xfrm>
            <a:off x="612648" y="3877056"/>
            <a:ext cx="384048" cy="384048"/>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egoe UI"/>
              </a:rPr>
              <a:t>3</a:t>
            </a:r>
          </a:p>
        </p:txBody>
      </p:sp>
      <p:sp>
        <p:nvSpPr>
          <p:cNvPr id="15" name="TextBox 14"/>
          <p:cNvSpPr txBox="1"/>
          <p:nvPr/>
        </p:nvSpPr>
        <p:spPr>
          <a:xfrm>
            <a:off x="1170432" y="3840480"/>
            <a:ext cx="4572000" cy="292608"/>
          </a:xfrm>
          <a:prstGeom prst="rect">
            <a:avLst/>
          </a:prstGeom>
          <a:noFill/>
        </p:spPr>
        <p:txBody>
          <a:bodyPr wrap="square" anchor="t" lIns="0" rIns="0" tIns="0" bIns="0">
            <a:spAutoFit/>
          </a:bodyPr>
          <a:lstStyle/>
          <a:p>
            <a:pPr algn="l"/>
            <a:r>
              <a:rPr sz="1500" b="1" i="0">
                <a:solidFill>
                  <a:srgbClr val="202020"/>
                </a:solidFill>
                <a:latin typeface="Segoe UI"/>
              </a:rPr>
              <a:t>Pin preferences</a:t>
            </a:r>
          </a:p>
        </p:txBody>
      </p:sp>
      <p:sp>
        <p:nvSpPr>
          <p:cNvPr id="16" name="TextBox 15"/>
          <p:cNvSpPr txBox="1"/>
          <p:nvPr/>
        </p:nvSpPr>
        <p:spPr>
          <a:xfrm>
            <a:off x="1170432" y="4142232"/>
            <a:ext cx="4754880" cy="365760"/>
          </a:xfrm>
          <a:prstGeom prst="rect">
            <a:avLst/>
          </a:prstGeom>
          <a:noFill/>
        </p:spPr>
        <p:txBody>
          <a:bodyPr wrap="square" anchor="t" lIns="0" rIns="0" tIns="0" bIns="0">
            <a:spAutoFit/>
          </a:bodyPr>
          <a:lstStyle/>
          <a:p>
            <a:pPr algn="l"/>
            <a:r>
              <a:rPr sz="1200" b="0" i="0">
                <a:solidFill>
                  <a:srgbClr val="545460"/>
                </a:solidFill>
                <a:latin typeface="Segoe UI"/>
              </a:rPr>
              <a:t>Usual primary in the last wave; async replicas in AG-DR.</a:t>
            </a:r>
          </a:p>
        </p:txBody>
      </p:sp>
      <p:sp>
        <p:nvSpPr>
          <p:cNvPr id="17" name="Oval 16"/>
          <p:cNvSpPr/>
          <p:nvPr/>
        </p:nvSpPr>
        <p:spPr>
          <a:xfrm>
            <a:off x="612648" y="4654296"/>
            <a:ext cx="384048" cy="384048"/>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egoe UI"/>
              </a:rPr>
              <a:t>4</a:t>
            </a:r>
          </a:p>
        </p:txBody>
      </p:sp>
      <p:sp>
        <p:nvSpPr>
          <p:cNvPr id="18" name="TextBox 17"/>
          <p:cNvSpPr txBox="1"/>
          <p:nvPr/>
        </p:nvSpPr>
        <p:spPr>
          <a:xfrm>
            <a:off x="1170432" y="4617720"/>
            <a:ext cx="4572000" cy="292608"/>
          </a:xfrm>
          <a:prstGeom prst="rect">
            <a:avLst/>
          </a:prstGeom>
          <a:noFill/>
        </p:spPr>
        <p:txBody>
          <a:bodyPr wrap="square" anchor="t" lIns="0" rIns="0" tIns="0" bIns="0">
            <a:spAutoFit/>
          </a:bodyPr>
          <a:lstStyle/>
          <a:p>
            <a:pPr algn="l"/>
            <a:r>
              <a:rPr sz="1500" b="1" i="0">
                <a:solidFill>
                  <a:srgbClr val="202020"/>
                </a:solidFill>
                <a:latin typeface="Segoe UI"/>
              </a:rPr>
              <a:t>Write tags</a:t>
            </a:r>
          </a:p>
        </p:txBody>
      </p:sp>
      <p:sp>
        <p:nvSpPr>
          <p:cNvPr id="19" name="TextBox 18"/>
          <p:cNvSpPr txBox="1"/>
          <p:nvPr/>
        </p:nvSpPr>
        <p:spPr>
          <a:xfrm>
            <a:off x="1170432" y="4919472"/>
            <a:ext cx="4754880" cy="365760"/>
          </a:xfrm>
          <a:prstGeom prst="rect">
            <a:avLst/>
          </a:prstGeom>
          <a:noFill/>
        </p:spPr>
        <p:txBody>
          <a:bodyPr wrap="square" anchor="t" lIns="0" rIns="0" tIns="0" bIns="0">
            <a:spAutoFit/>
          </a:bodyPr>
          <a:lstStyle/>
          <a:p>
            <a:pPr algn="l"/>
            <a:r>
              <a:rPr sz="1200" b="0" i="0">
                <a:solidFill>
                  <a:srgbClr val="545460"/>
                </a:solidFill>
                <a:latin typeface="Segoe UI"/>
              </a:rPr>
              <a:t>PatchWave tag on each Arc machine; overrides honored.</a:t>
            </a:r>
          </a:p>
        </p:txBody>
      </p:sp>
      <p:sp>
        <p:nvSpPr>
          <p:cNvPr id="20" name="Oval 19"/>
          <p:cNvSpPr/>
          <p:nvPr/>
        </p:nvSpPr>
        <p:spPr>
          <a:xfrm>
            <a:off x="612648" y="5431536"/>
            <a:ext cx="384048" cy="384048"/>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Segoe UI"/>
              </a:rPr>
              <a:t>5</a:t>
            </a:r>
          </a:p>
        </p:txBody>
      </p:sp>
      <p:sp>
        <p:nvSpPr>
          <p:cNvPr id="21" name="TextBox 20"/>
          <p:cNvSpPr txBox="1"/>
          <p:nvPr/>
        </p:nvSpPr>
        <p:spPr>
          <a:xfrm>
            <a:off x="1170432" y="5394960"/>
            <a:ext cx="4572000" cy="292608"/>
          </a:xfrm>
          <a:prstGeom prst="rect">
            <a:avLst/>
          </a:prstGeom>
          <a:noFill/>
        </p:spPr>
        <p:txBody>
          <a:bodyPr wrap="square" anchor="t" lIns="0" rIns="0" tIns="0" bIns="0">
            <a:spAutoFit/>
          </a:bodyPr>
          <a:lstStyle/>
          <a:p>
            <a:pPr algn="l"/>
            <a:r>
              <a:rPr sz="1500" b="1" i="0">
                <a:solidFill>
                  <a:srgbClr val="202020"/>
                </a:solidFill>
                <a:latin typeface="Segoe UI"/>
              </a:rPr>
              <a:t>Re-run daily</a:t>
            </a:r>
          </a:p>
        </p:txBody>
      </p:sp>
      <p:sp>
        <p:nvSpPr>
          <p:cNvPr id="22" name="TextBox 21"/>
          <p:cNvSpPr txBox="1"/>
          <p:nvPr/>
        </p:nvSpPr>
        <p:spPr>
          <a:xfrm>
            <a:off x="1170432" y="5696712"/>
            <a:ext cx="4754880" cy="365760"/>
          </a:xfrm>
          <a:prstGeom prst="rect">
            <a:avLst/>
          </a:prstGeom>
          <a:noFill/>
        </p:spPr>
        <p:txBody>
          <a:bodyPr wrap="square" anchor="t" lIns="0" rIns="0" tIns="0" bIns="0">
            <a:spAutoFit/>
          </a:bodyPr>
          <a:lstStyle/>
          <a:p>
            <a:pPr algn="l"/>
            <a:r>
              <a:rPr sz="1200" b="0" i="0">
                <a:solidFill>
                  <a:srgbClr val="545460"/>
                </a:solidFill>
                <a:latin typeface="Segoe UI"/>
              </a:rPr>
              <a:t>New or changed AGs are picked up before patch day.</a:t>
            </a:r>
          </a:p>
        </p:txBody>
      </p:sp>
      <p:sp>
        <p:nvSpPr>
          <p:cNvPr id="23" name="Rounded Rectangle 22"/>
          <p:cNvSpPr/>
          <p:nvPr/>
        </p:nvSpPr>
        <p:spPr>
          <a:xfrm>
            <a:off x="6309360" y="1783080"/>
            <a:ext cx="5303520" cy="4526280"/>
          </a:xfrm>
          <a:prstGeom prst="roundRect">
            <a:avLst>
              <a:gd name="adj" fmla="val 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1920240"/>
            <a:ext cx="4846320" cy="365760"/>
          </a:xfrm>
          <a:prstGeom prst="rect">
            <a:avLst/>
          </a:prstGeom>
          <a:noFill/>
        </p:spPr>
        <p:txBody>
          <a:bodyPr wrap="square" anchor="t" lIns="0" rIns="0" tIns="0" bIns="0">
            <a:spAutoFit/>
          </a:bodyPr>
          <a:lstStyle/>
          <a:p>
            <a:pPr algn="l"/>
            <a:r>
              <a:rPr sz="1900" b="1" i="0">
                <a:solidFill>
                  <a:srgbClr val="8055C8"/>
                </a:solidFill>
                <a:latin typeface="Segoe UI"/>
              </a:rPr>
              <a:t>Wave-aware runbooks</a:t>
            </a:r>
          </a:p>
        </p:txBody>
      </p:sp>
      <p:sp>
        <p:nvSpPr>
          <p:cNvPr id="25" name="TextBox 24"/>
          <p:cNvSpPr txBox="1"/>
          <p:nvPr/>
        </p:nvSpPr>
        <p:spPr>
          <a:xfrm>
            <a:off x="6537960" y="2423160"/>
            <a:ext cx="4892040" cy="3749039"/>
          </a:xfrm>
          <a:prstGeom prst="rect">
            <a:avLst/>
          </a:prstGeom>
          <a:noFill/>
        </p:spPr>
        <p:txBody>
          <a:bodyPr wrap="square" anchor="t" lIns="0" rIns="0" tIns="0" bIns="0">
            <a:spAutoFit/>
          </a:bodyPr>
          <a:lstStyle/>
          <a:p>
            <a:pPr algn="l">
              <a:spcAft>
                <a:spcPts val="1100"/>
              </a:spcAft>
            </a:pPr>
            <a:r>
              <a:rPr sz="1300" b="1" i="0">
                <a:solidFill>
                  <a:srgbClr val="202020"/>
                </a:solidFill>
                <a:latin typeface="Segoe UI"/>
              </a:rPr>
              <a:t xml:space="preserve">Find the run. </a:t>
            </a:r>
            <a:r>
              <a:rPr sz="1300" b="0" i="0">
                <a:solidFill>
                  <a:srgbClr val="545460"/>
                </a:solidFill>
                <a:latin typeface="Segoe UI"/>
              </a:rPr>
              <a:t>Resource Graph maps the run's correlation ID to its machines.</a:t>
            </a:r>
          </a:p>
          <a:p>
            <a:pPr algn="l">
              <a:spcAft>
                <a:spcPts val="1100"/>
              </a:spcAft>
            </a:pPr>
            <a:r>
              <a:rPr sz="1300" b="1" i="0">
                <a:solidFill>
                  <a:srgbClr val="202020"/>
                </a:solidFill>
                <a:latin typeface="Segoe UI"/>
              </a:rPr>
              <a:t xml:space="preserve">Plan. </a:t>
            </a:r>
            <a:r>
              <a:rPr sz="1300" b="0" i="0">
                <a:solidFill>
                  <a:srgbClr val="545460"/>
                </a:solidFill>
                <a:latin typeface="Segoe UI"/>
              </a:rPr>
              <a:t>For each AG whose primary is in the run, pick a synchronized partner outside it.</a:t>
            </a:r>
          </a:p>
          <a:p>
            <a:pPr algn="l">
              <a:spcAft>
                <a:spcPts val="1100"/>
              </a:spcAft>
            </a:pPr>
            <a:r>
              <a:rPr sz="1300" b="1" i="0">
                <a:solidFill>
                  <a:srgbClr val="202020"/>
                </a:solidFill>
                <a:latin typeface="Segoe UI"/>
              </a:rPr>
              <a:t xml:space="preserve">Fail over in parallel. </a:t>
            </a:r>
            <a:r>
              <a:rPr sz="1300" b="0" i="0">
                <a:solidFill>
                  <a:srgbClr val="545460"/>
                </a:solidFill>
                <a:latin typeface="Segoe UI"/>
              </a:rPr>
              <a:t>About 1 minute for 100+ AGs (PowerShell 7 parallel).</a:t>
            </a:r>
          </a:p>
          <a:p>
            <a:pPr algn="l">
              <a:spcAft>
                <a:spcPts val="1100"/>
              </a:spcAft>
            </a:pPr>
            <a:r>
              <a:rPr sz="1300" b="1" i="0">
                <a:solidFill>
                  <a:srgbClr val="202020"/>
                </a:solidFill>
                <a:latin typeface="Segoe UI"/>
              </a:rPr>
              <a:t xml:space="preserve">Unsafe machine. </a:t>
            </a:r>
            <a:r>
              <a:rPr sz="1300" b="0" i="0">
                <a:solidFill>
                  <a:srgbClr val="545460"/>
                </a:solidFill>
                <a:latin typeface="Segoe UI"/>
              </a:rPr>
              <a:t>Move it out of the wave; cancel the run only as a fallback.</a:t>
            </a:r>
          </a:p>
          <a:p>
            <a:pPr algn="l">
              <a:spcAft>
                <a:spcPts val="1100"/>
              </a:spcAft>
            </a:pPr>
            <a:r>
              <a:rPr sz="1300" b="1" i="0">
                <a:solidFill>
                  <a:srgbClr val="202020"/>
                </a:solidFill>
                <a:latin typeface="Segoe UI"/>
              </a:rPr>
              <a:t xml:space="preserve">Post. </a:t>
            </a:r>
            <a:r>
              <a:rPr sz="1300" b="0" i="0">
                <a:solidFill>
                  <a:srgbClr val="545460"/>
                </a:solidFill>
                <a:latin typeface="Segoe UI"/>
              </a:rPr>
              <a:t>Validate in parallel, fail back, write one summary per wave.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09  |  Monitoring SQL Server on AWS from Azure</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One place for patch compliance, AG health, performance and security.</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12</a:t>
            </a:r>
          </a:p>
        </p:txBody>
      </p:sp>
      <p:sp>
        <p:nvSpPr>
          <p:cNvPr id="6" name="Rounded Rectangle 5"/>
          <p:cNvSpPr/>
          <p:nvPr/>
        </p:nvSpPr>
        <p:spPr>
          <a:xfrm>
            <a:off x="585216" y="1783080"/>
            <a:ext cx="3529584" cy="1755648"/>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1965960"/>
            <a:ext cx="3108960" cy="365760"/>
          </a:xfrm>
          <a:prstGeom prst="rect">
            <a:avLst/>
          </a:prstGeom>
          <a:noFill/>
        </p:spPr>
        <p:txBody>
          <a:bodyPr wrap="square" anchor="t" lIns="0" rIns="0" tIns="0" bIns="0">
            <a:spAutoFit/>
          </a:bodyPr>
          <a:lstStyle/>
          <a:p>
            <a:pPr algn="l"/>
            <a:r>
              <a:rPr sz="1800" b="1" i="0">
                <a:solidFill>
                  <a:srgbClr val="0078D4"/>
                </a:solidFill>
                <a:latin typeface="Segoe UI"/>
              </a:rPr>
              <a:t>Patch compliance</a:t>
            </a:r>
          </a:p>
        </p:txBody>
      </p:sp>
      <p:sp>
        <p:nvSpPr>
          <p:cNvPr id="8" name="TextBox 7"/>
          <p:cNvSpPr txBox="1"/>
          <p:nvPr/>
        </p:nvSpPr>
        <p:spPr>
          <a:xfrm>
            <a:off x="813816" y="2423160"/>
            <a:ext cx="3108960" cy="1051560"/>
          </a:xfrm>
          <a:prstGeom prst="rect">
            <a:avLst/>
          </a:prstGeom>
          <a:noFill/>
        </p:spPr>
        <p:txBody>
          <a:bodyPr wrap="square" anchor="t" lIns="0" rIns="0" tIns="0" bIns="0">
            <a:spAutoFit/>
          </a:bodyPr>
          <a:lstStyle/>
          <a:p>
            <a:pPr algn="l"/>
            <a:r>
              <a:rPr sz="1300" b="0" i="0">
                <a:solidFill>
                  <a:srgbClr val="202020"/>
                </a:solidFill>
                <a:latin typeface="Segoe UI"/>
              </a:rPr>
              <a:t>Update Manager assesses every machine every 24 h. History shows each run, per machine.</a:t>
            </a:r>
          </a:p>
        </p:txBody>
      </p:sp>
      <p:sp>
        <p:nvSpPr>
          <p:cNvPr id="9" name="Rounded Rectangle 8"/>
          <p:cNvSpPr/>
          <p:nvPr/>
        </p:nvSpPr>
        <p:spPr>
          <a:xfrm>
            <a:off x="4334255" y="1783080"/>
            <a:ext cx="3529584" cy="1755648"/>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5" y="1965960"/>
            <a:ext cx="3108960" cy="365760"/>
          </a:xfrm>
          <a:prstGeom prst="rect">
            <a:avLst/>
          </a:prstGeom>
          <a:noFill/>
        </p:spPr>
        <p:txBody>
          <a:bodyPr wrap="square" anchor="t" lIns="0" rIns="0" tIns="0" bIns="0">
            <a:spAutoFit/>
          </a:bodyPr>
          <a:lstStyle/>
          <a:p>
            <a:pPr algn="l"/>
            <a:r>
              <a:rPr sz="1800" b="1" i="0">
                <a:solidFill>
                  <a:srgbClr val="8055C8"/>
                </a:solidFill>
                <a:latin typeface="Segoe UI"/>
              </a:rPr>
              <a:t>AG health</a:t>
            </a:r>
          </a:p>
        </p:txBody>
      </p:sp>
      <p:sp>
        <p:nvSpPr>
          <p:cNvPr id="11" name="TextBox 10"/>
          <p:cNvSpPr txBox="1"/>
          <p:nvPr/>
        </p:nvSpPr>
        <p:spPr>
          <a:xfrm>
            <a:off x="4562855" y="2423160"/>
            <a:ext cx="3108960" cy="1051560"/>
          </a:xfrm>
          <a:prstGeom prst="rect">
            <a:avLst/>
          </a:prstGeom>
          <a:noFill/>
        </p:spPr>
        <p:txBody>
          <a:bodyPr wrap="square" anchor="t" lIns="0" rIns="0" tIns="0" bIns="0">
            <a:spAutoFit/>
          </a:bodyPr>
          <a:lstStyle/>
          <a:p>
            <a:pPr algn="l"/>
            <a:r>
              <a:rPr sz="1300" b="0" i="0">
                <a:solidFill>
                  <a:srgbClr val="202020"/>
                </a:solidFill>
                <a:latin typeface="Segoe UI"/>
              </a:rPr>
              <a:t>Arc AG view and Resource Graph: current primary and sync health for every AG.</a:t>
            </a:r>
          </a:p>
        </p:txBody>
      </p:sp>
      <p:sp>
        <p:nvSpPr>
          <p:cNvPr id="12" name="Rounded Rectangle 11"/>
          <p:cNvSpPr/>
          <p:nvPr/>
        </p:nvSpPr>
        <p:spPr>
          <a:xfrm>
            <a:off x="8083296" y="1783080"/>
            <a:ext cx="3529584" cy="1755648"/>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965960"/>
            <a:ext cx="3108960" cy="365760"/>
          </a:xfrm>
          <a:prstGeom prst="rect">
            <a:avLst/>
          </a:prstGeom>
          <a:noFill/>
        </p:spPr>
        <p:txBody>
          <a:bodyPr wrap="square" anchor="t" lIns="0" rIns="0" tIns="0" bIns="0">
            <a:spAutoFit/>
          </a:bodyPr>
          <a:lstStyle/>
          <a:p>
            <a:pPr algn="l"/>
            <a:r>
              <a:rPr sz="1800" b="1" i="0">
                <a:solidFill>
                  <a:srgbClr val="008F99"/>
                </a:solidFill>
                <a:latin typeface="Segoe UI"/>
              </a:rPr>
              <a:t>Runbook jobs</a:t>
            </a:r>
          </a:p>
        </p:txBody>
      </p:sp>
      <p:sp>
        <p:nvSpPr>
          <p:cNvPr id="14" name="TextBox 13"/>
          <p:cNvSpPr txBox="1"/>
          <p:nvPr/>
        </p:nvSpPr>
        <p:spPr>
          <a:xfrm>
            <a:off x="8311896" y="2423160"/>
            <a:ext cx="3108960" cy="1051560"/>
          </a:xfrm>
          <a:prstGeom prst="rect">
            <a:avLst/>
          </a:prstGeom>
          <a:noFill/>
        </p:spPr>
        <p:txBody>
          <a:bodyPr wrap="square" anchor="t" lIns="0" rIns="0" tIns="0" bIns="0">
            <a:spAutoFit/>
          </a:bodyPr>
          <a:lstStyle/>
          <a:p>
            <a:pPr algn="l"/>
            <a:r>
              <a:rPr sz="1300" b="0" i="0">
                <a:solidFill>
                  <a:srgbClr val="202020"/>
                </a:solidFill>
                <a:latin typeface="Segoe UI"/>
              </a:rPr>
              <a:t>Automation keeps every pre/post job's output. Alert on failed jobs.</a:t>
            </a:r>
          </a:p>
        </p:txBody>
      </p:sp>
      <p:sp>
        <p:nvSpPr>
          <p:cNvPr id="15" name="Rounded Rectangle 14"/>
          <p:cNvSpPr/>
          <p:nvPr/>
        </p:nvSpPr>
        <p:spPr>
          <a:xfrm>
            <a:off x="585216" y="3703320"/>
            <a:ext cx="3529584" cy="1755648"/>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 y="3886200"/>
            <a:ext cx="3108960" cy="365760"/>
          </a:xfrm>
          <a:prstGeom prst="rect">
            <a:avLst/>
          </a:prstGeom>
          <a:noFill/>
        </p:spPr>
        <p:txBody>
          <a:bodyPr wrap="square" anchor="t" lIns="0" rIns="0" tIns="0" bIns="0">
            <a:spAutoFit/>
          </a:bodyPr>
          <a:lstStyle/>
          <a:p>
            <a:pPr algn="l"/>
            <a:r>
              <a:rPr sz="1800" b="1" i="0">
                <a:solidFill>
                  <a:srgbClr val="167447"/>
                </a:solidFill>
                <a:latin typeface="Segoe UI"/>
              </a:rPr>
              <a:t>SQL performance</a:t>
            </a:r>
          </a:p>
        </p:txBody>
      </p:sp>
      <p:sp>
        <p:nvSpPr>
          <p:cNvPr id="17" name="TextBox 16"/>
          <p:cNvSpPr txBox="1"/>
          <p:nvPr/>
        </p:nvSpPr>
        <p:spPr>
          <a:xfrm>
            <a:off x="813816" y="4343400"/>
            <a:ext cx="3108960" cy="1051560"/>
          </a:xfrm>
          <a:prstGeom prst="rect">
            <a:avLst/>
          </a:prstGeom>
          <a:noFill/>
        </p:spPr>
        <p:txBody>
          <a:bodyPr wrap="square" anchor="t" lIns="0" rIns="0" tIns="0" bIns="0">
            <a:spAutoFit/>
          </a:bodyPr>
          <a:lstStyle/>
          <a:p>
            <a:pPr algn="l"/>
            <a:r>
              <a:rPr sz="1300" b="0" i="0">
                <a:solidFill>
                  <a:srgbClr val="202020"/>
                </a:solidFill>
                <a:latin typeface="Segoe UI"/>
              </a:rPr>
              <a:t>Arc dashboard: CPU, memory, I/O, waits, sessions. Preview; needs Paid or PAYG.</a:t>
            </a:r>
          </a:p>
        </p:txBody>
      </p:sp>
      <p:sp>
        <p:nvSpPr>
          <p:cNvPr id="18" name="Rounded Rectangle 17"/>
          <p:cNvSpPr/>
          <p:nvPr/>
        </p:nvSpPr>
        <p:spPr>
          <a:xfrm>
            <a:off x="4334255" y="3703320"/>
            <a:ext cx="3529584" cy="1755648"/>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2855" y="3886200"/>
            <a:ext cx="3108960" cy="365760"/>
          </a:xfrm>
          <a:prstGeom prst="rect">
            <a:avLst/>
          </a:prstGeom>
          <a:noFill/>
        </p:spPr>
        <p:txBody>
          <a:bodyPr wrap="square" anchor="t" lIns="0" rIns="0" tIns="0" bIns="0">
            <a:spAutoFit/>
          </a:bodyPr>
          <a:lstStyle/>
          <a:p>
            <a:pPr algn="l"/>
            <a:r>
              <a:rPr sz="1800" b="1" i="0">
                <a:solidFill>
                  <a:srgbClr val="0078D4"/>
                </a:solidFill>
                <a:latin typeface="Segoe UI"/>
              </a:rPr>
              <a:t>Host &amp; logs</a:t>
            </a:r>
          </a:p>
        </p:txBody>
      </p:sp>
      <p:sp>
        <p:nvSpPr>
          <p:cNvPr id="20" name="TextBox 19"/>
          <p:cNvSpPr txBox="1"/>
          <p:nvPr/>
        </p:nvSpPr>
        <p:spPr>
          <a:xfrm>
            <a:off x="4562855" y="4343400"/>
            <a:ext cx="3108960" cy="1051560"/>
          </a:xfrm>
          <a:prstGeom prst="rect">
            <a:avLst/>
          </a:prstGeom>
          <a:noFill/>
        </p:spPr>
        <p:txBody>
          <a:bodyPr wrap="square" anchor="t" lIns="0" rIns="0" tIns="0" bIns="0">
            <a:spAutoFit/>
          </a:bodyPr>
          <a:lstStyle/>
          <a:p>
            <a:pPr algn="l"/>
            <a:r>
              <a:rPr sz="1300" b="0" i="0">
                <a:solidFill>
                  <a:srgbClr val="202020"/>
                </a:solidFill>
                <a:latin typeface="Segoe UI"/>
              </a:rPr>
              <a:t>Azure Monitor Agent sends Windows events and counters to Log Analytics. Any license.</a:t>
            </a:r>
          </a:p>
        </p:txBody>
      </p:sp>
      <p:sp>
        <p:nvSpPr>
          <p:cNvPr id="21" name="Rounded Rectangle 20"/>
          <p:cNvSpPr/>
          <p:nvPr/>
        </p:nvSpPr>
        <p:spPr>
          <a:xfrm>
            <a:off x="8083296" y="3703320"/>
            <a:ext cx="3529584" cy="1755648"/>
          </a:xfrm>
          <a:prstGeom prst="roundRect">
            <a:avLst>
              <a:gd name="adj" fmla="val 12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1896" y="3886200"/>
            <a:ext cx="3108960" cy="365760"/>
          </a:xfrm>
          <a:prstGeom prst="rect">
            <a:avLst/>
          </a:prstGeom>
          <a:noFill/>
        </p:spPr>
        <p:txBody>
          <a:bodyPr wrap="square" anchor="t" lIns="0" rIns="0" tIns="0" bIns="0">
            <a:spAutoFit/>
          </a:bodyPr>
          <a:lstStyle/>
          <a:p>
            <a:pPr algn="l"/>
            <a:r>
              <a:rPr sz="1800" b="1" i="0">
                <a:solidFill>
                  <a:srgbClr val="8055C8"/>
                </a:solidFill>
                <a:latin typeface="Segoe UI"/>
              </a:rPr>
              <a:t>Security</a:t>
            </a:r>
          </a:p>
        </p:txBody>
      </p:sp>
      <p:sp>
        <p:nvSpPr>
          <p:cNvPr id="23" name="TextBox 22"/>
          <p:cNvSpPr txBox="1"/>
          <p:nvPr/>
        </p:nvSpPr>
        <p:spPr>
          <a:xfrm>
            <a:off x="8311896" y="4343400"/>
            <a:ext cx="3108960" cy="1051560"/>
          </a:xfrm>
          <a:prstGeom prst="rect">
            <a:avLst/>
          </a:prstGeom>
          <a:noFill/>
        </p:spPr>
        <p:txBody>
          <a:bodyPr wrap="square" anchor="t" lIns="0" rIns="0" tIns="0" bIns="0">
            <a:spAutoFit/>
          </a:bodyPr>
          <a:lstStyle/>
          <a:p>
            <a:pPr algn="l"/>
            <a:r>
              <a:rPr sz="1300" b="0" i="0">
                <a:solidFill>
                  <a:srgbClr val="202020"/>
                </a:solidFill>
                <a:latin typeface="Segoe UI"/>
              </a:rPr>
              <a:t>Defender for SQL on Arc: vulnerability assessment and threat alerts.</a:t>
            </a:r>
          </a:p>
        </p:txBody>
      </p:sp>
      <p:sp>
        <p:nvSpPr>
          <p:cNvPr id="24" name="Rounded Rectangle 23"/>
          <p:cNvSpPr/>
          <p:nvPr/>
        </p:nvSpPr>
        <p:spPr>
          <a:xfrm>
            <a:off x="585216" y="5760720"/>
            <a:ext cx="11027664" cy="502920"/>
          </a:xfrm>
          <a:prstGeom prst="roundRect">
            <a:avLst>
              <a:gd name="adj" fmla="val 15000"/>
            </a:avLst>
          </a:prstGeom>
          <a:solidFill>
            <a:srgbClr val="E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5760720"/>
            <a:ext cx="10607040" cy="502920"/>
          </a:xfrm>
          <a:prstGeom prst="rect">
            <a:avLst/>
          </a:prstGeom>
          <a:noFill/>
        </p:spPr>
        <p:txBody>
          <a:bodyPr wrap="square" anchor="ctr" lIns="0" rIns="0" tIns="0" bIns="0">
            <a:spAutoFit/>
          </a:bodyPr>
          <a:lstStyle/>
          <a:p>
            <a:pPr algn="l"/>
            <a:r>
              <a:rPr sz="1500" b="1" i="0">
                <a:solidFill>
                  <a:srgbClr val="0078D4"/>
                </a:solidFill>
                <a:latin typeface="Segoe UI"/>
              </a:rPr>
              <a:t>License-only instances: use Azure Monitor Agent + Log Analytics for performance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10  |  Watching a patch cycle</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What to alert on, and where the data comes from.</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13</a:t>
            </a:r>
          </a:p>
        </p:txBody>
      </p:sp>
      <p:sp>
        <p:nvSpPr>
          <p:cNvPr id="6" name="Rounded Rectangle 5"/>
          <p:cNvSpPr/>
          <p:nvPr/>
        </p:nvSpPr>
        <p:spPr>
          <a:xfrm>
            <a:off x="585216" y="1783080"/>
            <a:ext cx="6080760" cy="3931920"/>
          </a:xfrm>
          <a:prstGeom prst="roundRect">
            <a:avLst>
              <a:gd name="adj" fmla="val 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92807"/>
            <a:ext cx="2743200" cy="274320"/>
          </a:xfrm>
          <a:prstGeom prst="rect">
            <a:avLst/>
          </a:prstGeom>
          <a:noFill/>
        </p:spPr>
        <p:txBody>
          <a:bodyPr wrap="square" anchor="t" lIns="0" rIns="0" tIns="0" bIns="0">
            <a:spAutoFit/>
          </a:bodyPr>
          <a:lstStyle/>
          <a:p>
            <a:pPr algn="l"/>
            <a:r>
              <a:rPr sz="1250" b="1" i="0">
                <a:solidFill>
                  <a:srgbClr val="0078D4"/>
                </a:solidFill>
                <a:latin typeface="Segoe UI"/>
              </a:rPr>
              <a:t>Signal</a:t>
            </a:r>
          </a:p>
        </p:txBody>
      </p:sp>
      <p:sp>
        <p:nvSpPr>
          <p:cNvPr id="8" name="TextBox 7"/>
          <p:cNvSpPr txBox="1"/>
          <p:nvPr/>
        </p:nvSpPr>
        <p:spPr>
          <a:xfrm>
            <a:off x="3657600" y="1892807"/>
            <a:ext cx="2834640" cy="274320"/>
          </a:xfrm>
          <a:prstGeom prst="rect">
            <a:avLst/>
          </a:prstGeom>
          <a:noFill/>
        </p:spPr>
        <p:txBody>
          <a:bodyPr wrap="square" anchor="t" lIns="0" rIns="0" tIns="0" bIns="0">
            <a:spAutoFit/>
          </a:bodyPr>
          <a:lstStyle/>
          <a:p>
            <a:pPr algn="l"/>
            <a:r>
              <a:rPr sz="1250" b="1" i="0">
                <a:solidFill>
                  <a:srgbClr val="0078D4"/>
                </a:solidFill>
                <a:latin typeface="Segoe UI"/>
              </a:rPr>
              <a:t>Source</a:t>
            </a:r>
          </a:p>
        </p:txBody>
      </p:sp>
      <p:cxnSp>
        <p:nvCxnSpPr>
          <p:cNvPr id="9" name="Connector 8"/>
          <p:cNvCxnSpPr/>
          <p:nvPr/>
        </p:nvCxnSpPr>
        <p:spPr>
          <a:xfrm>
            <a:off x="804672" y="2212848"/>
            <a:ext cx="5641848"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04672" y="2359152"/>
            <a:ext cx="146304" cy="146304"/>
          </a:xfrm>
          <a:prstGeom prst="ellipse">
            <a:avLst/>
          </a:prstGeom>
          <a:solidFill>
            <a:srgbClr val="C5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2286000"/>
            <a:ext cx="2606040" cy="457200"/>
          </a:xfrm>
          <a:prstGeom prst="rect">
            <a:avLst/>
          </a:prstGeom>
          <a:noFill/>
        </p:spPr>
        <p:txBody>
          <a:bodyPr wrap="square" anchor="t" lIns="0" rIns="0" tIns="0" bIns="0">
            <a:spAutoFit/>
          </a:bodyPr>
          <a:lstStyle/>
          <a:p>
            <a:pPr algn="l"/>
            <a:r>
              <a:rPr sz="1200" b="1" i="0">
                <a:solidFill>
                  <a:srgbClr val="202020"/>
                </a:solidFill>
                <a:latin typeface="Segoe UI"/>
              </a:rPr>
              <a:t>Pre or post runbook job failed</a:t>
            </a:r>
          </a:p>
        </p:txBody>
      </p:sp>
      <p:sp>
        <p:nvSpPr>
          <p:cNvPr id="12" name="TextBox 11"/>
          <p:cNvSpPr txBox="1"/>
          <p:nvPr/>
        </p:nvSpPr>
        <p:spPr>
          <a:xfrm>
            <a:off x="3657600" y="2286000"/>
            <a:ext cx="2834640" cy="457200"/>
          </a:xfrm>
          <a:prstGeom prst="rect">
            <a:avLst/>
          </a:prstGeom>
          <a:noFill/>
        </p:spPr>
        <p:txBody>
          <a:bodyPr wrap="square" anchor="t" lIns="0" rIns="0" tIns="0" bIns="0">
            <a:spAutoFit/>
          </a:bodyPr>
          <a:lstStyle/>
          <a:p>
            <a:pPr algn="l"/>
            <a:r>
              <a:rPr sz="1200" b="0" i="0">
                <a:solidFill>
                  <a:srgbClr val="545460"/>
                </a:solidFill>
                <a:latin typeface="Segoe UI"/>
              </a:rPr>
              <a:t>Automation jobs</a:t>
            </a:r>
          </a:p>
        </p:txBody>
      </p:sp>
      <p:cxnSp>
        <p:nvCxnSpPr>
          <p:cNvPr id="13" name="Connector 12"/>
          <p:cNvCxnSpPr/>
          <p:nvPr/>
        </p:nvCxnSpPr>
        <p:spPr>
          <a:xfrm>
            <a:off x="804672" y="2761488"/>
            <a:ext cx="5641848"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04672" y="2907792"/>
            <a:ext cx="146304" cy="146304"/>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0704" y="2834640"/>
            <a:ext cx="2606040" cy="457200"/>
          </a:xfrm>
          <a:prstGeom prst="rect">
            <a:avLst/>
          </a:prstGeom>
          <a:noFill/>
        </p:spPr>
        <p:txBody>
          <a:bodyPr wrap="square" anchor="t" lIns="0" rIns="0" tIns="0" bIns="0">
            <a:spAutoFit/>
          </a:bodyPr>
          <a:lstStyle/>
          <a:p>
            <a:pPr algn="l"/>
            <a:r>
              <a:rPr sz="1200" b="1" i="0">
                <a:solidFill>
                  <a:srgbClr val="202020"/>
                </a:solidFill>
                <a:latin typeface="Segoe UI"/>
              </a:rPr>
              <a:t>Maintenance run cancelled</a:t>
            </a:r>
          </a:p>
        </p:txBody>
      </p:sp>
      <p:sp>
        <p:nvSpPr>
          <p:cNvPr id="16" name="TextBox 15"/>
          <p:cNvSpPr txBox="1"/>
          <p:nvPr/>
        </p:nvSpPr>
        <p:spPr>
          <a:xfrm>
            <a:off x="3657600" y="2834640"/>
            <a:ext cx="2834640" cy="457200"/>
          </a:xfrm>
          <a:prstGeom prst="rect">
            <a:avLst/>
          </a:prstGeom>
          <a:noFill/>
        </p:spPr>
        <p:txBody>
          <a:bodyPr wrap="square" anchor="t" lIns="0" rIns="0" tIns="0" bIns="0">
            <a:spAutoFit/>
          </a:bodyPr>
          <a:lstStyle/>
          <a:p>
            <a:pPr algn="l"/>
            <a:r>
              <a:rPr sz="1200" b="0" i="0">
                <a:solidFill>
                  <a:srgbClr val="545460"/>
                </a:solidFill>
                <a:latin typeface="Segoe UI"/>
              </a:rPr>
              <a:t>Runbook output, Update Manager history</a:t>
            </a:r>
          </a:p>
        </p:txBody>
      </p:sp>
      <p:cxnSp>
        <p:nvCxnSpPr>
          <p:cNvPr id="17" name="Connector 16"/>
          <p:cNvCxnSpPr/>
          <p:nvPr/>
        </p:nvCxnSpPr>
        <p:spPr>
          <a:xfrm>
            <a:off x="804672" y="3310128"/>
            <a:ext cx="5641848"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804672" y="3456432"/>
            <a:ext cx="146304" cy="146304"/>
          </a:xfrm>
          <a:prstGeom prst="ellipse">
            <a:avLst/>
          </a:prstGeom>
          <a:solidFill>
            <a:srgbClr val="C50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 y="3383280"/>
            <a:ext cx="2606040" cy="457200"/>
          </a:xfrm>
          <a:prstGeom prst="rect">
            <a:avLst/>
          </a:prstGeom>
          <a:noFill/>
        </p:spPr>
        <p:txBody>
          <a:bodyPr wrap="square" anchor="t" lIns="0" rIns="0" tIns="0" bIns="0">
            <a:spAutoFit/>
          </a:bodyPr>
          <a:lstStyle/>
          <a:p>
            <a:pPr algn="l"/>
            <a:r>
              <a:rPr sz="1200" b="1" i="0">
                <a:solidFill>
                  <a:srgbClr val="202020"/>
                </a:solidFill>
                <a:latin typeface="Segoe UI"/>
              </a:rPr>
              <a:t>Update failed or reboot pending</a:t>
            </a:r>
          </a:p>
        </p:txBody>
      </p:sp>
      <p:sp>
        <p:nvSpPr>
          <p:cNvPr id="20" name="TextBox 19"/>
          <p:cNvSpPr txBox="1"/>
          <p:nvPr/>
        </p:nvSpPr>
        <p:spPr>
          <a:xfrm>
            <a:off x="3657600" y="3383280"/>
            <a:ext cx="2834640" cy="457200"/>
          </a:xfrm>
          <a:prstGeom prst="rect">
            <a:avLst/>
          </a:prstGeom>
          <a:noFill/>
        </p:spPr>
        <p:txBody>
          <a:bodyPr wrap="square" anchor="t" lIns="0" rIns="0" tIns="0" bIns="0">
            <a:spAutoFit/>
          </a:bodyPr>
          <a:lstStyle/>
          <a:p>
            <a:pPr algn="l"/>
            <a:r>
              <a:rPr sz="1200" b="0" i="0">
                <a:solidFill>
                  <a:srgbClr val="545460"/>
                </a:solidFill>
                <a:latin typeface="Segoe UI"/>
              </a:rPr>
              <a:t>Resource Graph: patch results</a:t>
            </a:r>
          </a:p>
        </p:txBody>
      </p:sp>
      <p:cxnSp>
        <p:nvCxnSpPr>
          <p:cNvPr id="21" name="Connector 20"/>
          <p:cNvCxnSpPr/>
          <p:nvPr/>
        </p:nvCxnSpPr>
        <p:spPr>
          <a:xfrm>
            <a:off x="804672" y="3858768"/>
            <a:ext cx="5641848"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04672" y="4005072"/>
            <a:ext cx="146304" cy="146304"/>
          </a:xfrm>
          <a:prstGeom prst="ellipse">
            <a:avLst/>
          </a:prstGeom>
          <a:solidFill>
            <a:srgbClr val="805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0704" y="3931920"/>
            <a:ext cx="2606040" cy="457200"/>
          </a:xfrm>
          <a:prstGeom prst="rect">
            <a:avLst/>
          </a:prstGeom>
          <a:noFill/>
        </p:spPr>
        <p:txBody>
          <a:bodyPr wrap="square" anchor="t" lIns="0" rIns="0" tIns="0" bIns="0">
            <a:spAutoFit/>
          </a:bodyPr>
          <a:lstStyle/>
          <a:p>
            <a:pPr algn="l"/>
            <a:r>
              <a:rPr sz="1200" b="1" i="0">
                <a:solidFill>
                  <a:srgbClr val="202020"/>
                </a:solidFill>
                <a:latin typeface="Segoe UI"/>
              </a:rPr>
              <a:t>AG not healthy after a wave</a:t>
            </a:r>
          </a:p>
        </p:txBody>
      </p:sp>
      <p:sp>
        <p:nvSpPr>
          <p:cNvPr id="24" name="TextBox 23"/>
          <p:cNvSpPr txBox="1"/>
          <p:nvPr/>
        </p:nvSpPr>
        <p:spPr>
          <a:xfrm>
            <a:off x="3657600" y="3931920"/>
            <a:ext cx="2834640" cy="457200"/>
          </a:xfrm>
          <a:prstGeom prst="rect">
            <a:avLst/>
          </a:prstGeom>
          <a:noFill/>
        </p:spPr>
        <p:txBody>
          <a:bodyPr wrap="square" anchor="t" lIns="0" rIns="0" tIns="0" bIns="0">
            <a:spAutoFit/>
          </a:bodyPr>
          <a:lstStyle/>
          <a:p>
            <a:pPr algn="l"/>
            <a:r>
              <a:rPr sz="1200" b="0" i="0">
                <a:solidFill>
                  <a:srgbClr val="545460"/>
                </a:solidFill>
                <a:latin typeface="Segoe UI"/>
              </a:rPr>
              <a:t>Resource Graph: AG sync health</a:t>
            </a:r>
          </a:p>
        </p:txBody>
      </p:sp>
      <p:cxnSp>
        <p:nvCxnSpPr>
          <p:cNvPr id="25" name="Connector 24"/>
          <p:cNvCxnSpPr/>
          <p:nvPr/>
        </p:nvCxnSpPr>
        <p:spPr>
          <a:xfrm>
            <a:off x="804672" y="4407408"/>
            <a:ext cx="5641848"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04672" y="4553712"/>
            <a:ext cx="146304" cy="146304"/>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0704" y="4480560"/>
            <a:ext cx="2606040" cy="457200"/>
          </a:xfrm>
          <a:prstGeom prst="rect">
            <a:avLst/>
          </a:prstGeom>
          <a:noFill/>
        </p:spPr>
        <p:txBody>
          <a:bodyPr wrap="square" anchor="t" lIns="0" rIns="0" tIns="0" bIns="0">
            <a:spAutoFit/>
          </a:bodyPr>
          <a:lstStyle/>
          <a:p>
            <a:pPr algn="l"/>
            <a:r>
              <a:rPr sz="1200" b="1" i="0">
                <a:solidFill>
                  <a:srgbClr val="202020"/>
                </a:solidFill>
                <a:latin typeface="Segoe UI"/>
              </a:rPr>
              <a:t>Arc agent disconnected</a:t>
            </a:r>
          </a:p>
        </p:txBody>
      </p:sp>
      <p:sp>
        <p:nvSpPr>
          <p:cNvPr id="28" name="TextBox 27"/>
          <p:cNvSpPr txBox="1"/>
          <p:nvPr/>
        </p:nvSpPr>
        <p:spPr>
          <a:xfrm>
            <a:off x="3657600" y="4480560"/>
            <a:ext cx="2834640" cy="457200"/>
          </a:xfrm>
          <a:prstGeom prst="rect">
            <a:avLst/>
          </a:prstGeom>
          <a:noFill/>
        </p:spPr>
        <p:txBody>
          <a:bodyPr wrap="square" anchor="t" lIns="0" rIns="0" tIns="0" bIns="0">
            <a:spAutoFit/>
          </a:bodyPr>
          <a:lstStyle/>
          <a:p>
            <a:pPr algn="l"/>
            <a:r>
              <a:rPr sz="1200" b="0" i="0">
                <a:solidFill>
                  <a:srgbClr val="545460"/>
                </a:solidFill>
                <a:latin typeface="Segoe UI"/>
              </a:rPr>
              <a:t>Resource Graph: machine status</a:t>
            </a:r>
          </a:p>
        </p:txBody>
      </p:sp>
      <p:cxnSp>
        <p:nvCxnSpPr>
          <p:cNvPr id="29" name="Connector 28"/>
          <p:cNvCxnSpPr/>
          <p:nvPr/>
        </p:nvCxnSpPr>
        <p:spPr>
          <a:xfrm>
            <a:off x="804672" y="4956048"/>
            <a:ext cx="5641848" cy="0"/>
          </a:xfrm>
          <a:prstGeom prst="line">
            <a:avLst/>
          </a:prstGeom>
          <a:ln w="9525">
            <a:solidFill>
              <a:srgbClr val="E6E6E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04672" y="5102352"/>
            <a:ext cx="146304" cy="146304"/>
          </a:xfrm>
          <a:prstGeom prst="ellipse">
            <a:avLst/>
          </a:prstGeom>
          <a:solidFill>
            <a:srgbClr val="545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0704" y="5029200"/>
            <a:ext cx="2606040" cy="457200"/>
          </a:xfrm>
          <a:prstGeom prst="rect">
            <a:avLst/>
          </a:prstGeom>
          <a:noFill/>
        </p:spPr>
        <p:txBody>
          <a:bodyPr wrap="square" anchor="t" lIns="0" rIns="0" tIns="0" bIns="0">
            <a:spAutoFit/>
          </a:bodyPr>
          <a:lstStyle/>
          <a:p>
            <a:pPr algn="l"/>
            <a:r>
              <a:rPr sz="1200" b="1" i="0">
                <a:solidFill>
                  <a:srgbClr val="202020"/>
                </a:solidFill>
                <a:latin typeface="Segoe UI"/>
              </a:rPr>
              <a:t>Machine skipped &gt; 1 cycle</a:t>
            </a:r>
          </a:p>
        </p:txBody>
      </p:sp>
      <p:sp>
        <p:nvSpPr>
          <p:cNvPr id="32" name="TextBox 31"/>
          <p:cNvSpPr txBox="1"/>
          <p:nvPr/>
        </p:nvSpPr>
        <p:spPr>
          <a:xfrm>
            <a:off x="3657600" y="5029200"/>
            <a:ext cx="2834640" cy="457200"/>
          </a:xfrm>
          <a:prstGeom prst="rect">
            <a:avLst/>
          </a:prstGeom>
          <a:noFill/>
        </p:spPr>
        <p:txBody>
          <a:bodyPr wrap="square" anchor="t" lIns="0" rIns="0" tIns="0" bIns="0">
            <a:spAutoFit/>
          </a:bodyPr>
          <a:lstStyle/>
          <a:p>
            <a:pPr algn="l"/>
            <a:r>
              <a:rPr sz="1200" b="0" i="0">
                <a:solidFill>
                  <a:srgbClr val="545460"/>
                </a:solidFill>
                <a:latin typeface="Segoe UI"/>
              </a:rPr>
              <a:t>PatchWave = Skipped-* tag</a:t>
            </a:r>
          </a:p>
        </p:txBody>
      </p:sp>
      <p:sp>
        <p:nvSpPr>
          <p:cNvPr id="33" name="Rounded Rectangle 32"/>
          <p:cNvSpPr/>
          <p:nvPr/>
        </p:nvSpPr>
        <p:spPr>
          <a:xfrm>
            <a:off x="6903720" y="1783080"/>
            <a:ext cx="4709160" cy="3931920"/>
          </a:xfrm>
          <a:prstGeom prst="roundRect">
            <a:avLst>
              <a:gd name="adj" fmla="val 5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0" y="1892807"/>
            <a:ext cx="4297680" cy="274320"/>
          </a:xfrm>
          <a:prstGeom prst="rect">
            <a:avLst/>
          </a:prstGeom>
          <a:noFill/>
        </p:spPr>
        <p:txBody>
          <a:bodyPr wrap="square" anchor="t" lIns="0" rIns="0" tIns="0" bIns="0">
            <a:spAutoFit/>
          </a:bodyPr>
          <a:lstStyle/>
          <a:p>
            <a:pPr algn="l"/>
            <a:r>
              <a:rPr sz="1100" b="1" i="0">
                <a:solidFill>
                  <a:srgbClr val="B4A7F5"/>
                </a:solidFill>
                <a:latin typeface="Segoe UI"/>
              </a:rPr>
              <a:t>RESOURCE GRAPH  ·  PATCH RESULTS</a:t>
            </a:r>
          </a:p>
        </p:txBody>
      </p:sp>
      <p:sp>
        <p:nvSpPr>
          <p:cNvPr id="35" name="TextBox 34"/>
          <p:cNvSpPr txBox="1"/>
          <p:nvPr/>
        </p:nvSpPr>
        <p:spPr>
          <a:xfrm>
            <a:off x="7132320" y="2212848"/>
            <a:ext cx="4343400" cy="3429000"/>
          </a:xfrm>
          <a:prstGeom prst="rect">
            <a:avLst/>
          </a:prstGeom>
          <a:noFill/>
        </p:spPr>
        <p:txBody>
          <a:bodyPr wrap="square" anchor="t" lIns="0" rIns="0" tIns="0" bIns="0">
            <a:spAutoFit/>
          </a:bodyPr>
          <a:lstStyle/>
          <a:p>
            <a:pPr algn="l"/>
            <a:r>
              <a:rPr sz="1050" b="0" i="0">
                <a:solidFill>
                  <a:srgbClr val="E6E6F0"/>
                </a:solidFill>
                <a:latin typeface="Consolas"/>
              </a:rPr>
              <a:t>patchinstallationresources</a:t>
            </a:r>
          </a:p>
          <a:p>
            <a:pPr algn="l"/>
            <a:r>
              <a:rPr sz="1050" b="0" i="0">
                <a:solidFill>
                  <a:srgbClr val="E6E6F0"/>
                </a:solidFill>
                <a:latin typeface="Consolas"/>
              </a:rPr>
              <a:t>| where type =~ 'microsoft.hybridcompute/</a:t>
            </a:r>
          </a:p>
          <a:p>
            <a:pPr algn="l"/>
            <a:r>
              <a:rPr sz="1050" b="0" i="0">
                <a:solidFill>
                  <a:srgbClr val="E6E6F0"/>
                </a:solidFill>
                <a:latin typeface="Consolas"/>
              </a:rPr>
              <a:t xml:space="preserve">    machines/patchinstallationresults'</a:t>
            </a:r>
          </a:p>
          <a:p>
            <a:pPr algn="l"/>
            <a:r>
              <a:rPr sz="1050" b="0" i="0">
                <a:solidFill>
                  <a:srgbClr val="E6E6F0"/>
                </a:solidFill>
                <a:latin typeface="Consolas"/>
              </a:rPr>
              <a:t>| project</a:t>
            </a:r>
          </a:p>
          <a:p>
            <a:pPr algn="l"/>
            <a:r>
              <a:rPr sz="1050" b="0" i="0">
                <a:solidFill>
                  <a:srgbClr val="E6E6F0"/>
                </a:solidFill>
                <a:latin typeface="Consolas"/>
              </a:rPr>
              <a:t xml:space="preserve">    machine = tostring(split(id, '/')[8]),</a:t>
            </a:r>
          </a:p>
          <a:p>
            <a:pPr algn="l"/>
            <a:r>
              <a:rPr sz="1050" b="0" i="0">
                <a:solidFill>
                  <a:srgbClr val="E6E6F0"/>
                </a:solidFill>
                <a:latin typeface="Consolas"/>
              </a:rPr>
              <a:t xml:space="preserve">    status = tostring(properties.status),</a:t>
            </a:r>
          </a:p>
          <a:p>
            <a:pPr algn="l"/>
            <a:r>
              <a:rPr sz="1050" b="0" i="0">
                <a:solidFill>
                  <a:srgbClr val="E6E6F0"/>
                </a:solidFill>
                <a:latin typeface="Consolas"/>
              </a:rPr>
              <a:t xml:space="preserve">    installed = toint(</a:t>
            </a:r>
          </a:p>
          <a:p>
            <a:pPr algn="l"/>
            <a:r>
              <a:rPr sz="1050" b="0" i="0">
                <a:solidFill>
                  <a:srgbClr val="E6E6F0"/>
                </a:solidFill>
                <a:latin typeface="Consolas"/>
              </a:rPr>
              <a:t xml:space="preserve">        properties.installedPatchCount),</a:t>
            </a:r>
          </a:p>
          <a:p>
            <a:pPr algn="l"/>
            <a:r>
              <a:rPr sz="1050" b="0" i="0">
                <a:solidFill>
                  <a:srgbClr val="E6E6F0"/>
                </a:solidFill>
                <a:latin typeface="Consolas"/>
              </a:rPr>
              <a:t xml:space="preserve">    failed = toint(</a:t>
            </a:r>
          </a:p>
          <a:p>
            <a:pPr algn="l"/>
            <a:r>
              <a:rPr sz="1050" b="0" i="0">
                <a:solidFill>
                  <a:srgbClr val="E6E6F0"/>
                </a:solidFill>
                <a:latin typeface="Consolas"/>
              </a:rPr>
              <a:t xml:space="preserve">        properties.failedPatchCount),</a:t>
            </a:r>
          </a:p>
          <a:p>
            <a:pPr algn="l"/>
            <a:r>
              <a:rPr sz="1050" b="0" i="0">
                <a:solidFill>
                  <a:srgbClr val="E6E6F0"/>
                </a:solidFill>
                <a:latin typeface="Consolas"/>
              </a:rPr>
              <a:t xml:space="preserve">    started = todatetime(</a:t>
            </a:r>
          </a:p>
          <a:p>
            <a:pPr algn="l"/>
            <a:r>
              <a:rPr sz="1050" b="0" i="0">
                <a:solidFill>
                  <a:srgbClr val="E6E6F0"/>
                </a:solidFill>
                <a:latin typeface="Consolas"/>
              </a:rPr>
              <a:t xml:space="preserve">        properties.startDateTime)</a:t>
            </a:r>
          </a:p>
          <a:p>
            <a:pPr algn="l"/>
            <a:r>
              <a:rPr sz="1050" b="0" i="0">
                <a:solidFill>
                  <a:srgbClr val="E6E6F0"/>
                </a:solidFill>
                <a:latin typeface="Consolas"/>
              </a:rPr>
              <a:t>| order by started desc</a:t>
            </a:r>
          </a:p>
        </p:txBody>
      </p:sp>
      <p:sp>
        <p:nvSpPr>
          <p:cNvPr id="36" name="Rounded Rectangle 35"/>
          <p:cNvSpPr/>
          <p:nvPr/>
        </p:nvSpPr>
        <p:spPr>
          <a:xfrm>
            <a:off x="585216" y="5852160"/>
            <a:ext cx="11027664" cy="502920"/>
          </a:xfrm>
          <a:prstGeom prst="roundRect">
            <a:avLst>
              <a:gd name="adj" fmla="val 15000"/>
            </a:avLst>
          </a:prstGeom>
          <a:solidFill>
            <a:srgbClr val="E4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5852160"/>
            <a:ext cx="10607040" cy="502920"/>
          </a:xfrm>
          <a:prstGeom prst="rect">
            <a:avLst/>
          </a:prstGeom>
          <a:noFill/>
        </p:spPr>
        <p:txBody>
          <a:bodyPr wrap="square" anchor="ctr" lIns="0" rIns="0" tIns="0" bIns="0">
            <a:spAutoFit/>
          </a:bodyPr>
          <a:lstStyle/>
          <a:p>
            <a:pPr algn="l"/>
            <a:r>
              <a:rPr sz="1500" b="1" i="0">
                <a:solidFill>
                  <a:srgbClr val="0078D4"/>
                </a:solidFill>
                <a:latin typeface="Segoe UI"/>
              </a:rPr>
              <a:t>Build one workbook: compliance, last run per wave, AG health and failed jobs.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Where we are</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Proven end-to-end in the lab. Validate these items before production.</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15</a:t>
            </a:r>
          </a:p>
        </p:txBody>
      </p:sp>
      <p:sp>
        <p:nvSpPr>
          <p:cNvPr id="6" name="Rounded Rectangle 5"/>
          <p:cNvSpPr/>
          <p:nvPr/>
        </p:nvSpPr>
        <p:spPr>
          <a:xfrm>
            <a:off x="585216" y="1783080"/>
            <a:ext cx="5394960" cy="3840480"/>
          </a:xfrm>
          <a:prstGeom prst="roundRect">
            <a:avLst>
              <a:gd name="adj" fmla="val 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68096" y="1938528"/>
            <a:ext cx="5029200" cy="420624"/>
          </a:xfrm>
          <a:prstGeom prst="roundRect">
            <a:avLst>
              <a:gd name="adj" fmla="val 2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38528"/>
            <a:ext cx="4754880" cy="420624"/>
          </a:xfrm>
          <a:prstGeom prst="rect">
            <a:avLst/>
          </a:prstGeom>
          <a:noFill/>
        </p:spPr>
        <p:txBody>
          <a:bodyPr wrap="square" anchor="ctr" lIns="0" rIns="0" tIns="0" bIns="0">
            <a:spAutoFit/>
          </a:bodyPr>
          <a:lstStyle/>
          <a:p>
            <a:pPr algn="l"/>
            <a:r>
              <a:rPr sz="1500" b="1" i="0">
                <a:solidFill>
                  <a:srgbClr val="167447"/>
                </a:solidFill>
                <a:latin typeface="Segoe UI"/>
              </a:rPr>
              <a:t>Validated in the lab</a:t>
            </a:r>
          </a:p>
        </p:txBody>
      </p:sp>
      <p:sp>
        <p:nvSpPr>
          <p:cNvPr id="9" name="Oval 8"/>
          <p:cNvSpPr/>
          <p:nvPr/>
        </p:nvSpPr>
        <p:spPr>
          <a:xfrm>
            <a:off x="822960" y="2587751"/>
            <a:ext cx="256032" cy="256032"/>
          </a:xfrm>
          <a:prstGeom prst="ellipse">
            <a:avLst/>
          </a:prstGeom>
          <a:solidFill>
            <a:srgbClr val="167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10" name="TextBox 9"/>
          <p:cNvSpPr txBox="1"/>
          <p:nvPr/>
        </p:nvSpPr>
        <p:spPr>
          <a:xfrm>
            <a:off x="1207008" y="2560320"/>
            <a:ext cx="4572000" cy="548640"/>
          </a:xfrm>
          <a:prstGeom prst="rect">
            <a:avLst/>
          </a:prstGeom>
          <a:noFill/>
        </p:spPr>
        <p:txBody>
          <a:bodyPr wrap="square" anchor="t" lIns="0" rIns="0" tIns="0" bIns="0">
            <a:spAutoFit/>
          </a:bodyPr>
          <a:lstStyle/>
          <a:p>
            <a:pPr algn="l"/>
            <a:r>
              <a:rPr sz="1300" b="0" i="0">
                <a:solidFill>
                  <a:srgbClr val="202020"/>
                </a:solidFill>
                <a:latin typeface="Segoe UI"/>
              </a:rPr>
              <a:t>Update Manager schedules with pre- and post-events on Arc machines</a:t>
            </a:r>
          </a:p>
        </p:txBody>
      </p:sp>
      <p:sp>
        <p:nvSpPr>
          <p:cNvPr id="11" name="Oval 10"/>
          <p:cNvSpPr/>
          <p:nvPr/>
        </p:nvSpPr>
        <p:spPr>
          <a:xfrm>
            <a:off x="822960" y="3172968"/>
            <a:ext cx="256032" cy="256032"/>
          </a:xfrm>
          <a:prstGeom prst="ellipse">
            <a:avLst/>
          </a:prstGeom>
          <a:solidFill>
            <a:srgbClr val="167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12" name="TextBox 11"/>
          <p:cNvSpPr txBox="1"/>
          <p:nvPr/>
        </p:nvSpPr>
        <p:spPr>
          <a:xfrm>
            <a:off x="1207008" y="3145536"/>
            <a:ext cx="4572000" cy="548640"/>
          </a:xfrm>
          <a:prstGeom prst="rect">
            <a:avLst/>
          </a:prstGeom>
          <a:noFill/>
        </p:spPr>
        <p:txBody>
          <a:bodyPr wrap="square" anchor="t" lIns="0" rIns="0" tIns="0" bIns="0">
            <a:spAutoFit/>
          </a:bodyPr>
          <a:lstStyle/>
          <a:p>
            <a:pPr algn="l"/>
            <a:r>
              <a:rPr sz="1300" b="0" i="0">
                <a:solidFill>
                  <a:srgbClr val="202020"/>
                </a:solidFill>
                <a:latin typeface="Segoe UI"/>
              </a:rPr>
              <a:t>Event Grid to Automation webhooks to runbooks</a:t>
            </a:r>
          </a:p>
        </p:txBody>
      </p:sp>
      <p:sp>
        <p:nvSpPr>
          <p:cNvPr id="13" name="Oval 12"/>
          <p:cNvSpPr/>
          <p:nvPr/>
        </p:nvSpPr>
        <p:spPr>
          <a:xfrm>
            <a:off x="822960" y="3758184"/>
            <a:ext cx="256032" cy="256032"/>
          </a:xfrm>
          <a:prstGeom prst="ellipse">
            <a:avLst/>
          </a:prstGeom>
          <a:solidFill>
            <a:srgbClr val="167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14" name="TextBox 13"/>
          <p:cNvSpPr txBox="1"/>
          <p:nvPr/>
        </p:nvSpPr>
        <p:spPr>
          <a:xfrm>
            <a:off x="1207008" y="3730752"/>
            <a:ext cx="4572000" cy="548640"/>
          </a:xfrm>
          <a:prstGeom prst="rect">
            <a:avLst/>
          </a:prstGeom>
          <a:noFill/>
        </p:spPr>
        <p:txBody>
          <a:bodyPr wrap="square" anchor="t" lIns="0" rIns="0" tIns="0" bIns="0">
            <a:spAutoFit/>
          </a:bodyPr>
          <a:lstStyle/>
          <a:p>
            <a:pPr algn="l"/>
            <a:r>
              <a:rPr sz="1300" b="0" i="0">
                <a:solidFill>
                  <a:srgbClr val="202020"/>
                </a:solidFill>
                <a:latin typeface="Segoe UI"/>
              </a:rPr>
              <a:t>Live AG state through getDetailView</a:t>
            </a:r>
          </a:p>
        </p:txBody>
      </p:sp>
      <p:sp>
        <p:nvSpPr>
          <p:cNvPr id="15" name="Oval 14"/>
          <p:cNvSpPr/>
          <p:nvPr/>
        </p:nvSpPr>
        <p:spPr>
          <a:xfrm>
            <a:off x="822960" y="4343400"/>
            <a:ext cx="256032" cy="256032"/>
          </a:xfrm>
          <a:prstGeom prst="ellipse">
            <a:avLst/>
          </a:prstGeom>
          <a:solidFill>
            <a:srgbClr val="167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16" name="TextBox 15"/>
          <p:cNvSpPr txBox="1"/>
          <p:nvPr/>
        </p:nvSpPr>
        <p:spPr>
          <a:xfrm>
            <a:off x="1207008" y="4315968"/>
            <a:ext cx="4572000" cy="548640"/>
          </a:xfrm>
          <a:prstGeom prst="rect">
            <a:avLst/>
          </a:prstGeom>
          <a:noFill/>
        </p:spPr>
        <p:txBody>
          <a:bodyPr wrap="square" anchor="t" lIns="0" rIns="0" tIns="0" bIns="0">
            <a:spAutoFit/>
          </a:bodyPr>
          <a:lstStyle/>
          <a:p>
            <a:pPr algn="l"/>
            <a:r>
              <a:rPr sz="1300" b="0" i="0">
                <a:solidFill>
                  <a:srgbClr val="202020"/>
                </a:solidFill>
                <a:latin typeface="Segoe UI"/>
              </a:rPr>
              <a:t>Planned failover and failback through the Arc API</a:t>
            </a:r>
          </a:p>
        </p:txBody>
      </p:sp>
      <p:sp>
        <p:nvSpPr>
          <p:cNvPr id="17" name="Oval 16"/>
          <p:cNvSpPr/>
          <p:nvPr/>
        </p:nvSpPr>
        <p:spPr>
          <a:xfrm>
            <a:off x="822960" y="4928616"/>
            <a:ext cx="256032" cy="256032"/>
          </a:xfrm>
          <a:prstGeom prst="ellipse">
            <a:avLst/>
          </a:prstGeom>
          <a:solidFill>
            <a:srgbClr val="1674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18" name="TextBox 17"/>
          <p:cNvSpPr txBox="1"/>
          <p:nvPr/>
        </p:nvSpPr>
        <p:spPr>
          <a:xfrm>
            <a:off x="1207008" y="4901183"/>
            <a:ext cx="4572000" cy="548640"/>
          </a:xfrm>
          <a:prstGeom prst="rect">
            <a:avLst/>
          </a:prstGeom>
          <a:noFill/>
        </p:spPr>
        <p:txBody>
          <a:bodyPr wrap="square" anchor="t" lIns="0" rIns="0" tIns="0" bIns="0">
            <a:spAutoFit/>
          </a:bodyPr>
          <a:lstStyle/>
          <a:p>
            <a:pPr algn="l"/>
            <a:r>
              <a:rPr sz="1300" b="0" i="0">
                <a:solidFill>
                  <a:srgbClr val="202020"/>
                </a:solidFill>
                <a:latin typeface="Segoe UI"/>
              </a:rPr>
              <a:t>One-command setup and teardown, safe to rerun</a:t>
            </a:r>
          </a:p>
        </p:txBody>
      </p:sp>
      <p:sp>
        <p:nvSpPr>
          <p:cNvPr id="19" name="Rounded Rectangle 18"/>
          <p:cNvSpPr/>
          <p:nvPr/>
        </p:nvSpPr>
        <p:spPr>
          <a:xfrm>
            <a:off x="6217920" y="1783080"/>
            <a:ext cx="5394960" cy="3840480"/>
          </a:xfrm>
          <a:prstGeom prst="roundRect">
            <a:avLst>
              <a:gd name="adj" fmla="val 5000"/>
            </a:avLst>
          </a:prstGeom>
          <a:solidFill>
            <a:srgbClr val="FFFFFF"/>
          </a:solidFill>
          <a:ln w="10160">
            <a:solidFill>
              <a:srgbClr val="D5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0" y="1938528"/>
            <a:ext cx="5029200" cy="420624"/>
          </a:xfrm>
          <a:prstGeom prst="roundRect">
            <a:avLst>
              <a:gd name="adj" fmla="val 20000"/>
            </a:avLst>
          </a:prstGeom>
          <a:solidFill>
            <a:srgbClr val="FFF4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47104" y="1938528"/>
            <a:ext cx="4754880" cy="420624"/>
          </a:xfrm>
          <a:prstGeom prst="rect">
            <a:avLst/>
          </a:prstGeom>
          <a:noFill/>
        </p:spPr>
        <p:txBody>
          <a:bodyPr wrap="square" anchor="ctr" lIns="0" rIns="0" tIns="0" bIns="0">
            <a:spAutoFit/>
          </a:bodyPr>
          <a:lstStyle/>
          <a:p>
            <a:pPr algn="l"/>
            <a:r>
              <a:rPr sz="1500" b="1" i="0">
                <a:solidFill>
                  <a:srgbClr val="8A5A00"/>
                </a:solidFill>
                <a:latin typeface="Segoe UI"/>
              </a:rPr>
              <a:t>Validate before production</a:t>
            </a:r>
          </a:p>
        </p:txBody>
      </p:sp>
      <p:sp>
        <p:nvSpPr>
          <p:cNvPr id="22" name="Oval 21"/>
          <p:cNvSpPr/>
          <p:nvPr/>
        </p:nvSpPr>
        <p:spPr>
          <a:xfrm>
            <a:off x="6455664" y="2569463"/>
            <a:ext cx="256032" cy="25603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23" name="TextBox 22"/>
          <p:cNvSpPr txBox="1"/>
          <p:nvPr/>
        </p:nvSpPr>
        <p:spPr>
          <a:xfrm>
            <a:off x="6839712" y="2542032"/>
            <a:ext cx="4663440" cy="457200"/>
          </a:xfrm>
          <a:prstGeom prst="rect">
            <a:avLst/>
          </a:prstGeom>
          <a:noFill/>
        </p:spPr>
        <p:txBody>
          <a:bodyPr wrap="square" anchor="t" lIns="0" rIns="0" tIns="0" bIns="0">
            <a:spAutoFit/>
          </a:bodyPr>
          <a:lstStyle/>
          <a:p>
            <a:pPr algn="l"/>
            <a:r>
              <a:rPr sz="1300" b="0" i="0">
                <a:solidFill>
                  <a:srgbClr val="202020"/>
                </a:solidFill>
                <a:latin typeface="Segoe UI"/>
              </a:rPr>
              <a:t>A full patch and reboot cycle (first run pending)</a:t>
            </a:r>
          </a:p>
        </p:txBody>
      </p:sp>
      <p:sp>
        <p:nvSpPr>
          <p:cNvPr id="24" name="Oval 23"/>
          <p:cNvSpPr/>
          <p:nvPr/>
        </p:nvSpPr>
        <p:spPr>
          <a:xfrm>
            <a:off x="6455664" y="3072384"/>
            <a:ext cx="256032" cy="25603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25" name="TextBox 24"/>
          <p:cNvSpPr txBox="1"/>
          <p:nvPr/>
        </p:nvSpPr>
        <p:spPr>
          <a:xfrm>
            <a:off x="6839712" y="3044952"/>
            <a:ext cx="4663440" cy="457200"/>
          </a:xfrm>
          <a:prstGeom prst="rect">
            <a:avLst/>
          </a:prstGeom>
          <a:noFill/>
        </p:spPr>
        <p:txBody>
          <a:bodyPr wrap="square" anchor="t" lIns="0" rIns="0" tIns="0" bIns="0">
            <a:spAutoFit/>
          </a:bodyPr>
          <a:lstStyle/>
          <a:p>
            <a:pPr algn="l"/>
            <a:r>
              <a:rPr sz="1300" b="0" i="0">
                <a:solidFill>
                  <a:srgbClr val="202020"/>
                </a:solidFill>
                <a:latin typeface="Segoe UI"/>
              </a:rPr>
              <a:t>Outbound connectivity from each VPC to Azure</a:t>
            </a:r>
          </a:p>
        </p:txBody>
      </p:sp>
      <p:sp>
        <p:nvSpPr>
          <p:cNvPr id="26" name="Oval 25"/>
          <p:cNvSpPr/>
          <p:nvPr/>
        </p:nvSpPr>
        <p:spPr>
          <a:xfrm>
            <a:off x="6455664" y="3575303"/>
            <a:ext cx="256032" cy="25603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27" name="TextBox 26"/>
          <p:cNvSpPr txBox="1"/>
          <p:nvPr/>
        </p:nvSpPr>
        <p:spPr>
          <a:xfrm>
            <a:off x="6839712" y="3547872"/>
            <a:ext cx="4663440" cy="457200"/>
          </a:xfrm>
          <a:prstGeom prst="rect">
            <a:avLst/>
          </a:prstGeom>
          <a:noFill/>
        </p:spPr>
        <p:txBody>
          <a:bodyPr wrap="square" anchor="t" lIns="0" rIns="0" tIns="0" bIns="0">
            <a:spAutoFit/>
          </a:bodyPr>
          <a:lstStyle/>
          <a:p>
            <a:pPr algn="l"/>
            <a:r>
              <a:rPr sz="1300" b="0" i="0">
                <a:solidFill>
                  <a:srgbClr val="202020"/>
                </a:solidFill>
                <a:latin typeface="Segoe UI"/>
              </a:rPr>
              <a:t>License type per instance (affects monitoring)</a:t>
            </a:r>
          </a:p>
        </p:txBody>
      </p:sp>
      <p:sp>
        <p:nvSpPr>
          <p:cNvPr id="28" name="Oval 27"/>
          <p:cNvSpPr/>
          <p:nvPr/>
        </p:nvSpPr>
        <p:spPr>
          <a:xfrm>
            <a:off x="6455664" y="4078224"/>
            <a:ext cx="256032" cy="25603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29" name="TextBox 28"/>
          <p:cNvSpPr txBox="1"/>
          <p:nvPr/>
        </p:nvSpPr>
        <p:spPr>
          <a:xfrm>
            <a:off x="6839712" y="4050791"/>
            <a:ext cx="4663440" cy="457200"/>
          </a:xfrm>
          <a:prstGeom prst="rect">
            <a:avLst/>
          </a:prstGeom>
          <a:noFill/>
        </p:spPr>
        <p:txBody>
          <a:bodyPr wrap="square" anchor="t" lIns="0" rIns="0" tIns="0" bIns="0">
            <a:spAutoFit/>
          </a:bodyPr>
          <a:lstStyle/>
          <a:p>
            <a:pPr algn="l"/>
            <a:r>
              <a:rPr sz="1300" b="0" i="0">
                <a:solidFill>
                  <a:srgbClr val="202020"/>
                </a:solidFill>
                <a:latin typeface="Segoe UI"/>
              </a:rPr>
              <a:t>Dynamic-scope timing vs. the pre-event (waves)</a:t>
            </a:r>
          </a:p>
        </p:txBody>
      </p:sp>
      <p:sp>
        <p:nvSpPr>
          <p:cNvPr id="30" name="Oval 29"/>
          <p:cNvSpPr/>
          <p:nvPr/>
        </p:nvSpPr>
        <p:spPr>
          <a:xfrm>
            <a:off x="6455664" y="4581144"/>
            <a:ext cx="256032" cy="25603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31" name="TextBox 30"/>
          <p:cNvSpPr txBox="1"/>
          <p:nvPr/>
        </p:nvSpPr>
        <p:spPr>
          <a:xfrm>
            <a:off x="6839712" y="4553712"/>
            <a:ext cx="4663440" cy="457200"/>
          </a:xfrm>
          <a:prstGeom prst="rect">
            <a:avLst/>
          </a:prstGeom>
          <a:noFill/>
        </p:spPr>
        <p:txBody>
          <a:bodyPr wrap="square" anchor="t" lIns="0" rIns="0" tIns="0" bIns="0">
            <a:spAutoFit/>
          </a:bodyPr>
          <a:lstStyle/>
          <a:p>
            <a:pPr algn="l"/>
            <a:r>
              <a:rPr sz="1300" b="0" i="0">
                <a:solidFill>
                  <a:srgbClr val="202020"/>
                </a:solidFill>
                <a:latin typeface="Segoe UI"/>
              </a:rPr>
              <a:t>Arc API throttling with 100+ parallel failovers</a:t>
            </a:r>
          </a:p>
        </p:txBody>
      </p:sp>
      <p:sp>
        <p:nvSpPr>
          <p:cNvPr id="32" name="Oval 31"/>
          <p:cNvSpPr/>
          <p:nvPr/>
        </p:nvSpPr>
        <p:spPr>
          <a:xfrm>
            <a:off x="6455664" y="5084064"/>
            <a:ext cx="256032" cy="25603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a:t>
            </a:r>
          </a:p>
        </p:txBody>
      </p:sp>
      <p:sp>
        <p:nvSpPr>
          <p:cNvPr id="33" name="TextBox 32"/>
          <p:cNvSpPr txBox="1"/>
          <p:nvPr/>
        </p:nvSpPr>
        <p:spPr>
          <a:xfrm>
            <a:off x="6839712" y="5056631"/>
            <a:ext cx="4663440" cy="457200"/>
          </a:xfrm>
          <a:prstGeom prst="rect">
            <a:avLst/>
          </a:prstGeom>
          <a:noFill/>
        </p:spPr>
        <p:txBody>
          <a:bodyPr wrap="square" anchor="t" lIns="0" rIns="0" tIns="0" bIns="0">
            <a:spAutoFit/>
          </a:bodyPr>
          <a:lstStyle/>
          <a:p>
            <a:pPr algn="l"/>
            <a:r>
              <a:rPr sz="1300" b="0" i="0">
                <a:solidFill>
                  <a:srgbClr val="202020"/>
                </a:solidFill>
                <a:latin typeface="Segoe UI"/>
              </a:rPr>
              <a:t>failover HTTP 400 on success (with product group)</a:t>
            </a:r>
          </a:p>
        </p:txBody>
      </p:sp>
      <p:sp>
        <p:nvSpPr>
          <p:cNvPr id="34" name="Rounded Rectangle 33"/>
          <p:cNvSpPr/>
          <p:nvPr/>
        </p:nvSpPr>
        <p:spPr>
          <a:xfrm>
            <a:off x="585216" y="5779008"/>
            <a:ext cx="11027664" cy="502920"/>
          </a:xfrm>
          <a:prstGeom prst="roundRect">
            <a:avLst>
              <a:gd name="adj" fmla="val 15000"/>
            </a:avLst>
          </a:prstGeom>
          <a:solidFill>
            <a:srgbClr val="EEE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779008"/>
            <a:ext cx="10607040" cy="502920"/>
          </a:xfrm>
          <a:prstGeom prst="rect">
            <a:avLst/>
          </a:prstGeom>
          <a:noFill/>
        </p:spPr>
        <p:txBody>
          <a:bodyPr wrap="square" anchor="ctr" lIns="0" rIns="0" tIns="0" bIns="0">
            <a:spAutoFit/>
          </a:bodyPr>
          <a:lstStyle/>
          <a:p>
            <a:pPr algn="l"/>
            <a:r>
              <a:rPr sz="1600" b="1" i="0">
                <a:solidFill>
                  <a:srgbClr val="8055C8"/>
                </a:solidFill>
                <a:latin typeface="Segoe UI"/>
              </a:rPr>
              <a:t>Next: a pilot wave on dev/test EC2 instances, then AG-A and AG-B in production.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11  |  What it costs in Azure</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Arc and the AG API are free. Update Manager is the main line item.</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14</a:t>
            </a:r>
          </a:p>
        </p:txBody>
      </p:sp>
      <p:sp>
        <p:nvSpPr>
          <p:cNvPr id="6" name="Price card 6"/>
          <p:cNvSpPr/>
          <p:nvPr/>
        </p:nvSpPr>
        <p:spPr>
          <a:xfrm>
            <a:off x="585216" y="1591056"/>
            <a:ext cx="6967728" cy="4425696"/>
          </a:xfrm>
          <a:prstGeom prst="roundRect">
            <a:avLst>
              <a:gd name="adj" fmla="val 35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7" name="Col header 7"/>
          <p:cNvSpPr/>
          <p:nvPr/>
        </p:nvSpPr>
        <p:spPr>
          <a:xfrm>
            <a:off x="786384" y="1719072"/>
            <a:ext cx="1920240" cy="237744"/>
          </a:xfrm>
          <a:prstGeom prst="rect">
            <a:avLst/>
          </a:prstGeom>
          <a:noFill/>
          <a:ln>
            <a:noFill/>
          </a:ln>
          <a:effectLst/>
        </p:spPr>
        <p:txBody>
          <a:bodyPr wrap="square" lIns="0" tIns="0" rIns="0" bIns="0" anchor="ctr" rtlCol="0">
            <a:noAutofit/>
          </a:bodyPr>
          <a:lstStyle/>
          <a:p>
            <a:pPr algn="l"/>
            <a:r>
              <a:rPr lang="en-US" sz="1000" b="1" i="0" dirty="0">
                <a:solidFill>
                  <a:srgbClr val="545460"/>
                </a:solidFill>
                <a:latin typeface="Segoe UI"/>
                <a:cs typeface="Segoe UI"/>
              </a:rPr>
              <a:t>SERVICE</a:t>
            </a:r>
          </a:p>
        </p:txBody>
      </p:sp>
      <p:sp>
        <p:nvSpPr>
          <p:cNvPr id="8" name="Col header 8"/>
          <p:cNvSpPr/>
          <p:nvPr/>
        </p:nvSpPr>
        <p:spPr>
          <a:xfrm>
            <a:off x="2798064" y="1719072"/>
            <a:ext cx="1627632" cy="237744"/>
          </a:xfrm>
          <a:prstGeom prst="rect">
            <a:avLst/>
          </a:prstGeom>
          <a:noFill/>
          <a:ln>
            <a:noFill/>
          </a:ln>
          <a:effectLst/>
        </p:spPr>
        <p:txBody>
          <a:bodyPr wrap="square" lIns="0" tIns="0" rIns="0" bIns="0" anchor="ctr" rtlCol="0">
            <a:noAutofit/>
          </a:bodyPr>
          <a:lstStyle/>
          <a:p>
            <a:pPr algn="l"/>
            <a:r>
              <a:rPr lang="en-US" sz="1000" b="1" i="0" dirty="0">
                <a:solidFill>
                  <a:srgbClr val="545460"/>
                </a:solidFill>
                <a:latin typeface="Segoe UI"/>
                <a:cs typeface="Segoe UI"/>
              </a:rPr>
              <a:t>LIST PRICE</a:t>
            </a:r>
          </a:p>
        </p:txBody>
      </p:sp>
      <p:sp>
        <p:nvSpPr>
          <p:cNvPr id="9" name="Col header 9"/>
          <p:cNvSpPr/>
          <p:nvPr/>
        </p:nvSpPr>
        <p:spPr>
          <a:xfrm>
            <a:off x="4535424" y="1719072"/>
            <a:ext cx="2834640" cy="237744"/>
          </a:xfrm>
          <a:prstGeom prst="rect">
            <a:avLst/>
          </a:prstGeom>
          <a:noFill/>
          <a:ln>
            <a:noFill/>
          </a:ln>
          <a:effectLst/>
        </p:spPr>
        <p:txBody>
          <a:bodyPr wrap="square" lIns="0" tIns="0" rIns="0" bIns="0" anchor="ctr" rtlCol="0">
            <a:noAutofit/>
          </a:bodyPr>
          <a:lstStyle/>
          <a:p>
            <a:pPr algn="l"/>
            <a:r>
              <a:rPr lang="en-US" sz="1000" b="1" i="0" dirty="0">
                <a:solidFill>
                  <a:srgbClr val="545460"/>
                </a:solidFill>
                <a:latin typeface="Segoe UI"/>
                <a:cs typeface="Segoe UI"/>
              </a:rPr>
              <a:t>WHAT TO KNOW</a:t>
            </a:r>
          </a:p>
        </p:txBody>
      </p:sp>
      <p:sp>
        <p:nvSpPr>
          <p:cNvPr id="10" name="Row accent 10"/>
          <p:cNvSpPr/>
          <p:nvPr/>
        </p:nvSpPr>
        <p:spPr>
          <a:xfrm>
            <a:off x="749808" y="2157984"/>
            <a:ext cx="54864" cy="435864"/>
          </a:xfrm>
          <a:prstGeom prst="roundRect">
            <a:avLst>
              <a:gd name="adj" fmla="val 50000"/>
            </a:avLst>
          </a:prstGeom>
          <a:solidFill>
            <a:srgbClr val="0078D4"/>
          </a:solidFill>
          <a:ln>
            <a:noFill/>
          </a:ln>
          <a:effectLst/>
        </p:spPr>
        <p:txBody>
          <a:bodyPr wrap="square" lIns="0" tIns="0" rIns="0" bIns="0" anchor="t" rtlCol="0">
            <a:noAutofit/>
          </a:bodyPr>
          <a:lstStyle/>
          <a:p>
            <a:endParaRPr lang="en-US" dirty="0"/>
          </a:p>
        </p:txBody>
      </p:sp>
      <p:sp>
        <p:nvSpPr>
          <p:cNvPr id="11" name="Service 11"/>
          <p:cNvSpPr/>
          <p:nvPr/>
        </p:nvSpPr>
        <p:spPr>
          <a:xfrm>
            <a:off x="896112" y="2048256"/>
            <a:ext cx="1810512" cy="655320"/>
          </a:xfrm>
          <a:prstGeom prst="rect">
            <a:avLst/>
          </a:prstGeom>
          <a:noFill/>
          <a:ln>
            <a:noFill/>
          </a:ln>
          <a:effectLst/>
        </p:spPr>
        <p:txBody>
          <a:bodyPr wrap="square" lIns="0" tIns="0" rIns="0" bIns="0" anchor="ctr" rtlCol="0">
            <a:noAutofit/>
          </a:bodyPr>
          <a:lstStyle/>
          <a:p>
            <a:pPr algn="l"/>
            <a:r>
              <a:rPr lang="en-US" sz="1200" b="1" i="0" dirty="0">
                <a:solidFill>
                  <a:srgbClr val="202020"/>
                </a:solidFill>
                <a:latin typeface="Segoe UI"/>
                <a:cs typeface="Segoe UI"/>
              </a:rPr>
              <a:t>Azure Update Manager</a:t>
            </a:r>
          </a:p>
        </p:txBody>
      </p:sp>
      <p:sp>
        <p:nvSpPr>
          <p:cNvPr id="12" name="Price 12"/>
          <p:cNvSpPr/>
          <p:nvPr/>
        </p:nvSpPr>
        <p:spPr>
          <a:xfrm>
            <a:off x="2798064" y="2048256"/>
            <a:ext cx="1627632" cy="655320"/>
          </a:xfrm>
          <a:prstGeom prst="rect">
            <a:avLst/>
          </a:prstGeom>
          <a:noFill/>
          <a:ln>
            <a:noFill/>
          </a:ln>
          <a:effectLst/>
        </p:spPr>
        <p:txBody>
          <a:bodyPr wrap="square" lIns="0" tIns="0" rIns="0" bIns="0" anchor="ctr" rtlCol="0">
            <a:noAutofit/>
          </a:bodyPr>
          <a:lstStyle/>
          <a:p>
            <a:pPr algn="l"/>
            <a:r>
              <a:rPr lang="en-US" sz="1500" b="1" i="0" dirty="0">
                <a:solidFill>
                  <a:srgbClr val="0078D4"/>
                </a:solidFill>
                <a:latin typeface="Segoe UI"/>
                <a:cs typeface="Segoe UI"/>
              </a:rPr>
              <a:t>$5</a:t>
            </a:r>
            <a:r>
              <a:rPr lang="en-US" sz="1100" b="1" i="0" baseline="30000" dirty="0">
                <a:solidFill>
                  <a:srgbClr val="0078D4"/>
                </a:solidFill>
                <a:latin typeface="Segoe UI"/>
                <a:cs typeface="Segoe UI"/>
              </a:rPr>
              <a:t xml:space="preserve">1</a:t>
            </a:r>
            <a:r>
              <a:rPr lang="en-US" sz="1000" b="0" i="0" dirty="0">
                <a:solidFill>
                  <a:srgbClr val="545460"/>
                </a:solidFill>
                <a:latin typeface="Segoe UI"/>
                <a:cs typeface="Segoe UI"/>
              </a:rPr>
              <a:t xml:space="preserve"> / server / month</a:t>
            </a:r>
          </a:p>
          <a:p>
            <a:pPr algn="l"/>
            <a:r>
              <a:rPr lang="en-US" sz="900" b="0" i="0" dirty="0">
                <a:solidFill>
                  <a:srgbClr val="545460"/>
                </a:solidFill>
                <a:latin typeface="Segoe UI"/>
                <a:cs typeface="Segoe UI"/>
              </a:rPr>
              <a:t>prorated daily</a:t>
            </a:r>
          </a:p>
        </p:txBody>
      </p:sp>
      <p:sp>
        <p:nvSpPr>
          <p:cNvPr id="13" name="Note 13"/>
          <p:cNvSpPr/>
          <p:nvPr/>
        </p:nvSpPr>
        <p:spPr>
          <a:xfrm>
            <a:off x="4535424" y="2048256"/>
            <a:ext cx="2834640" cy="655320"/>
          </a:xfrm>
          <a:prstGeom prst="rect">
            <a:avLst/>
          </a:prstGeom>
          <a:noFill/>
          <a:ln>
            <a:noFill/>
          </a:ln>
          <a:effectLst/>
        </p:spPr>
        <p:txBody>
          <a:bodyPr wrap="square" lIns="0" tIns="0" rIns="0" bIns="0" anchor="ctr" rtlCol="0">
            <a:noAutofit/>
          </a:bodyPr>
          <a:lstStyle/>
          <a:p>
            <a:pPr algn="l"/>
            <a:r>
              <a:rPr lang="en-US" sz="1000" b="0" i="0" dirty="0">
                <a:solidFill>
                  <a:srgbClr val="202020"/>
                </a:solidFill>
                <a:latin typeface="Segoe UI"/>
                <a:cs typeface="Segoe UI"/>
              </a:rPr>
              <a:t>No charge with Defender for Servers Plan 2, Arc ESU, or Windows Server SA / pay-as-you-go. SQL Server licenses don't qualify.</a:t>
            </a:r>
            <a:r>
              <a:rPr lang="en-US" sz="1000" b="0" i="0" baseline="30000" dirty="0">
                <a:solidFill>
                  <a:srgbClr val="202020"/>
                </a:solidFill>
                <a:latin typeface="Segoe UI"/>
                <a:cs typeface="Segoe UI"/>
              </a:rPr>
              <a:t xml:space="preserve">7</a:t>
            </a:r>
          </a:p>
        </p:txBody>
      </p:sp>
      <p:sp>
        <p:nvSpPr>
          <p:cNvPr id="14" name="Row separator 14"/>
          <p:cNvSpPr/>
          <p:nvPr/>
        </p:nvSpPr>
        <p:spPr>
          <a:xfrm>
            <a:off x="749808" y="2699918"/>
            <a:ext cx="6638544" cy="7315"/>
          </a:xfrm>
          <a:prstGeom prst="rect">
            <a:avLst/>
          </a:prstGeom>
          <a:solidFill>
            <a:srgbClr val="E9E9EF"/>
          </a:solidFill>
          <a:ln>
            <a:noFill/>
          </a:ln>
          <a:effectLst/>
        </p:spPr>
        <p:txBody>
          <a:bodyPr wrap="square" lIns="0" tIns="0" rIns="0" bIns="0" anchor="t" rtlCol="0">
            <a:noAutofit/>
          </a:bodyPr>
          <a:lstStyle/>
          <a:p>
            <a:endParaRPr lang="en-US" dirty="0"/>
          </a:p>
        </p:txBody>
      </p:sp>
      <p:sp>
        <p:nvSpPr>
          <p:cNvPr id="15" name="Row accent 15"/>
          <p:cNvSpPr/>
          <p:nvPr/>
        </p:nvSpPr>
        <p:spPr>
          <a:xfrm>
            <a:off x="749808" y="2813304"/>
            <a:ext cx="54864" cy="435864"/>
          </a:xfrm>
          <a:prstGeom prst="roundRect">
            <a:avLst>
              <a:gd name="adj" fmla="val 50000"/>
            </a:avLst>
          </a:prstGeom>
          <a:solidFill>
            <a:srgbClr val="8055C8"/>
          </a:solidFill>
          <a:ln>
            <a:noFill/>
          </a:ln>
          <a:effectLst/>
        </p:spPr>
        <p:txBody>
          <a:bodyPr wrap="square" lIns="0" tIns="0" rIns="0" bIns="0" anchor="t" rtlCol="0">
            <a:noAutofit/>
          </a:bodyPr>
          <a:lstStyle/>
          <a:p>
            <a:endParaRPr lang="en-US" dirty="0"/>
          </a:p>
        </p:txBody>
      </p:sp>
      <p:sp>
        <p:nvSpPr>
          <p:cNvPr id="16" name="Service 16"/>
          <p:cNvSpPr/>
          <p:nvPr/>
        </p:nvSpPr>
        <p:spPr>
          <a:xfrm>
            <a:off x="896112" y="2703576"/>
            <a:ext cx="1810512" cy="655320"/>
          </a:xfrm>
          <a:prstGeom prst="rect">
            <a:avLst/>
          </a:prstGeom>
          <a:noFill/>
          <a:ln>
            <a:noFill/>
          </a:ln>
          <a:effectLst/>
        </p:spPr>
        <p:txBody>
          <a:bodyPr wrap="square" lIns="0" tIns="0" rIns="0" bIns="0" anchor="ctr" rtlCol="0">
            <a:noAutofit/>
          </a:bodyPr>
          <a:lstStyle/>
          <a:p>
            <a:pPr algn="l"/>
            <a:r>
              <a:rPr lang="en-US" sz="1200" b="1" i="0" dirty="0">
                <a:solidFill>
                  <a:srgbClr val="202020"/>
                </a:solidFill>
                <a:latin typeface="Segoe UI"/>
                <a:cs typeface="Segoe UI"/>
              </a:rPr>
              <a:t>Azure Automation</a:t>
            </a:r>
          </a:p>
          <a:p>
            <a:pPr algn="l"/>
            <a:r>
              <a:rPr lang="en-US" sz="950" b="0" i="0" dirty="0">
                <a:solidFill>
                  <a:srgbClr val="545460"/>
                </a:solidFill>
                <a:latin typeface="Segoe UI"/>
                <a:cs typeface="Segoe UI"/>
              </a:rPr>
              <a:t>pre/post runbooks</a:t>
            </a:r>
          </a:p>
        </p:txBody>
      </p:sp>
      <p:sp>
        <p:nvSpPr>
          <p:cNvPr id="17" name="Price 17"/>
          <p:cNvSpPr/>
          <p:nvPr/>
        </p:nvSpPr>
        <p:spPr>
          <a:xfrm>
            <a:off x="2798064" y="2703576"/>
            <a:ext cx="1627632" cy="655320"/>
          </a:xfrm>
          <a:prstGeom prst="rect">
            <a:avLst/>
          </a:prstGeom>
          <a:noFill/>
          <a:ln>
            <a:noFill/>
          </a:ln>
          <a:effectLst/>
        </p:spPr>
        <p:txBody>
          <a:bodyPr wrap="square" lIns="0" tIns="0" rIns="0" bIns="0" anchor="ctr" rtlCol="0">
            <a:noAutofit/>
          </a:bodyPr>
          <a:lstStyle/>
          <a:p>
            <a:pPr algn="l"/>
            <a:r>
              <a:rPr lang="en-US" sz="1500" b="1" i="0" dirty="0">
                <a:solidFill>
                  <a:srgbClr val="8055C8"/>
                </a:solidFill>
                <a:latin typeface="Segoe UI"/>
                <a:cs typeface="Segoe UI"/>
              </a:rPr>
              <a:t>$0.002</a:t>
            </a:r>
            <a:r>
              <a:rPr lang="en-US" sz="1100" b="1" i="0" baseline="30000" dirty="0">
                <a:solidFill>
                  <a:srgbClr val="8055C8"/>
                </a:solidFill>
                <a:latin typeface="Segoe UI"/>
                <a:cs typeface="Segoe UI"/>
              </a:rPr>
              <a:t xml:space="preserve">2</a:t>
            </a:r>
            <a:r>
              <a:rPr lang="en-US" sz="1000" b="0" i="0" dirty="0">
                <a:solidFill>
                  <a:srgbClr val="545460"/>
                </a:solidFill>
                <a:latin typeface="Segoe UI"/>
                <a:cs typeface="Segoe UI"/>
              </a:rPr>
              <a:t xml:space="preserve"> / job minute</a:t>
            </a:r>
          </a:p>
          <a:p>
            <a:pPr algn="l"/>
            <a:r>
              <a:rPr lang="en-US" sz="900" b="0" i="0" dirty="0">
                <a:solidFill>
                  <a:srgbClr val="545460"/>
                </a:solidFill>
                <a:latin typeface="Segoe UI"/>
                <a:cs typeface="Segoe UI"/>
              </a:rPr>
              <a:t>first 500 min/month free</a:t>
            </a:r>
          </a:p>
        </p:txBody>
      </p:sp>
      <p:sp>
        <p:nvSpPr>
          <p:cNvPr id="18" name="Note 18"/>
          <p:cNvSpPr/>
          <p:nvPr/>
        </p:nvSpPr>
        <p:spPr>
          <a:xfrm>
            <a:off x="4535424" y="2703576"/>
            <a:ext cx="2834640" cy="655320"/>
          </a:xfrm>
          <a:prstGeom prst="rect">
            <a:avLst/>
          </a:prstGeom>
          <a:noFill/>
          <a:ln>
            <a:noFill/>
          </a:ln>
          <a:effectLst/>
        </p:spPr>
        <p:txBody>
          <a:bodyPr wrap="square" lIns="0" tIns="0" rIns="0" bIns="0" anchor="ctr" rtlCol="0">
            <a:noAutofit/>
          </a:bodyPr>
          <a:lstStyle/>
          <a:p>
            <a:pPr algn="l"/>
            <a:r>
              <a:rPr lang="en-US" sz="1000" b="0" i="0" dirty="0">
                <a:solidFill>
                  <a:srgbClr val="202020"/>
                </a:solidFill>
                <a:latin typeface="Segoe UI"/>
                <a:cs typeface="Segoe UI"/>
              </a:rPr>
              <a:t>About 400 job-minutes per monthly cycle with 6 waves. Webhooks are free.</a:t>
            </a:r>
          </a:p>
        </p:txBody>
      </p:sp>
      <p:sp>
        <p:nvSpPr>
          <p:cNvPr id="19" name="Row separator 19"/>
          <p:cNvSpPr/>
          <p:nvPr/>
        </p:nvSpPr>
        <p:spPr>
          <a:xfrm>
            <a:off x="749808" y="3355238"/>
            <a:ext cx="6638544" cy="7315"/>
          </a:xfrm>
          <a:prstGeom prst="rect">
            <a:avLst/>
          </a:prstGeom>
          <a:solidFill>
            <a:srgbClr val="E9E9EF"/>
          </a:solidFill>
          <a:ln>
            <a:noFill/>
          </a:ln>
          <a:effectLst/>
        </p:spPr>
        <p:txBody>
          <a:bodyPr wrap="square" lIns="0" tIns="0" rIns="0" bIns="0" anchor="t" rtlCol="0">
            <a:noAutofit/>
          </a:bodyPr>
          <a:lstStyle/>
          <a:p>
            <a:endParaRPr lang="en-US" dirty="0"/>
          </a:p>
        </p:txBody>
      </p:sp>
      <p:sp>
        <p:nvSpPr>
          <p:cNvPr id="20" name="Row accent 20"/>
          <p:cNvSpPr/>
          <p:nvPr/>
        </p:nvSpPr>
        <p:spPr>
          <a:xfrm>
            <a:off x="749808" y="3468624"/>
            <a:ext cx="54864" cy="435864"/>
          </a:xfrm>
          <a:prstGeom prst="roundRect">
            <a:avLst>
              <a:gd name="adj" fmla="val 50000"/>
            </a:avLst>
          </a:prstGeom>
          <a:solidFill>
            <a:srgbClr val="008F99"/>
          </a:solidFill>
          <a:ln>
            <a:noFill/>
          </a:ln>
          <a:effectLst/>
        </p:spPr>
        <p:txBody>
          <a:bodyPr wrap="square" lIns="0" tIns="0" rIns="0" bIns="0" anchor="t" rtlCol="0">
            <a:noAutofit/>
          </a:bodyPr>
          <a:lstStyle/>
          <a:p>
            <a:endParaRPr lang="en-US" dirty="0"/>
          </a:p>
        </p:txBody>
      </p:sp>
      <p:sp>
        <p:nvSpPr>
          <p:cNvPr id="21" name="Service 21"/>
          <p:cNvSpPr/>
          <p:nvPr/>
        </p:nvSpPr>
        <p:spPr>
          <a:xfrm>
            <a:off x="896112" y="3358896"/>
            <a:ext cx="1810512" cy="655320"/>
          </a:xfrm>
          <a:prstGeom prst="rect">
            <a:avLst/>
          </a:prstGeom>
          <a:noFill/>
          <a:ln>
            <a:noFill/>
          </a:ln>
          <a:effectLst/>
        </p:spPr>
        <p:txBody>
          <a:bodyPr wrap="square" lIns="0" tIns="0" rIns="0" bIns="0" anchor="ctr" rtlCol="0">
            <a:noAutofit/>
          </a:bodyPr>
          <a:lstStyle/>
          <a:p>
            <a:pPr algn="l"/>
            <a:r>
              <a:rPr lang="en-US" sz="1200" b="1" i="0" dirty="0">
                <a:solidFill>
                  <a:srgbClr val="202020"/>
                </a:solidFill>
                <a:latin typeface="Segoe UI"/>
                <a:cs typeface="Segoe UI"/>
              </a:rPr>
              <a:t>Event Grid</a:t>
            </a:r>
          </a:p>
          <a:p>
            <a:pPr algn="l"/>
            <a:r>
              <a:rPr lang="en-US" sz="950" b="0" i="0" dirty="0">
                <a:solidFill>
                  <a:srgbClr val="545460"/>
                </a:solidFill>
                <a:latin typeface="Segoe UI"/>
                <a:cs typeface="Segoe UI"/>
              </a:rPr>
              <a:t>system topics</a:t>
            </a:r>
          </a:p>
        </p:txBody>
      </p:sp>
      <p:sp>
        <p:nvSpPr>
          <p:cNvPr id="22" name="Price 22"/>
          <p:cNvSpPr/>
          <p:nvPr/>
        </p:nvSpPr>
        <p:spPr>
          <a:xfrm>
            <a:off x="2798064" y="3358896"/>
            <a:ext cx="1627632" cy="655320"/>
          </a:xfrm>
          <a:prstGeom prst="rect">
            <a:avLst/>
          </a:prstGeom>
          <a:noFill/>
          <a:ln>
            <a:noFill/>
          </a:ln>
          <a:effectLst/>
        </p:spPr>
        <p:txBody>
          <a:bodyPr wrap="square" lIns="0" tIns="0" rIns="0" bIns="0" anchor="ctr" rtlCol="0">
            <a:noAutofit/>
          </a:bodyPr>
          <a:lstStyle/>
          <a:p>
            <a:pPr algn="l"/>
            <a:r>
              <a:rPr lang="en-US" sz="1500" b="1" i="0" dirty="0">
                <a:solidFill>
                  <a:srgbClr val="008F99"/>
                </a:solidFill>
                <a:latin typeface="Segoe UI"/>
                <a:cs typeface="Segoe UI"/>
              </a:rPr>
              <a:t>$0.60</a:t>
            </a:r>
            <a:r>
              <a:rPr lang="en-US" sz="1100" b="1" i="0" baseline="30000" dirty="0">
                <a:solidFill>
                  <a:srgbClr val="008F99"/>
                </a:solidFill>
                <a:latin typeface="Segoe UI"/>
                <a:cs typeface="Segoe UI"/>
              </a:rPr>
              <a:t xml:space="preserve">3</a:t>
            </a:r>
            <a:r>
              <a:rPr lang="en-US" sz="1000" b="0" i="0" dirty="0">
                <a:solidFill>
                  <a:srgbClr val="545460"/>
                </a:solidFill>
                <a:latin typeface="Segoe UI"/>
                <a:cs typeface="Segoe UI"/>
              </a:rPr>
              <a:t xml:space="preserve"> / million ops</a:t>
            </a:r>
          </a:p>
          <a:p>
            <a:pPr algn="l"/>
            <a:r>
              <a:rPr lang="en-US" sz="900" b="0" i="0" dirty="0">
                <a:solidFill>
                  <a:srgbClr val="545460"/>
                </a:solidFill>
                <a:latin typeface="Segoe UI"/>
                <a:cs typeface="Segoe UI"/>
              </a:rPr>
              <a:t>first 100K/month free</a:t>
            </a:r>
          </a:p>
        </p:txBody>
      </p:sp>
      <p:sp>
        <p:nvSpPr>
          <p:cNvPr id="23" name="Note 23"/>
          <p:cNvSpPr/>
          <p:nvPr/>
        </p:nvSpPr>
        <p:spPr>
          <a:xfrm>
            <a:off x="4535424" y="3358896"/>
            <a:ext cx="2834640" cy="655320"/>
          </a:xfrm>
          <a:prstGeom prst="rect">
            <a:avLst/>
          </a:prstGeom>
          <a:noFill/>
          <a:ln>
            <a:noFill/>
          </a:ln>
          <a:effectLst/>
        </p:spPr>
        <p:txBody>
          <a:bodyPr wrap="square" lIns="0" tIns="0" rIns="0" bIns="0" anchor="ctr" rtlCol="0">
            <a:noAutofit/>
          </a:bodyPr>
          <a:lstStyle/>
          <a:p>
            <a:pPr algn="l"/>
            <a:r>
              <a:rPr lang="en-US" sz="1000" b="0" i="0" dirty="0">
                <a:solidFill>
                  <a:srgbClr val="202020"/>
                </a:solidFill>
                <a:latin typeface="Segoe UI"/>
                <a:cs typeface="Segoe UI"/>
              </a:rPr>
              <a:t>A few events per wave, so effectively $0.</a:t>
            </a:r>
          </a:p>
        </p:txBody>
      </p:sp>
      <p:sp>
        <p:nvSpPr>
          <p:cNvPr id="24" name="Row separator 24"/>
          <p:cNvSpPr/>
          <p:nvPr/>
        </p:nvSpPr>
        <p:spPr>
          <a:xfrm>
            <a:off x="749808" y="4010558"/>
            <a:ext cx="6638544" cy="7315"/>
          </a:xfrm>
          <a:prstGeom prst="rect">
            <a:avLst/>
          </a:prstGeom>
          <a:solidFill>
            <a:srgbClr val="E9E9EF"/>
          </a:solidFill>
          <a:ln>
            <a:noFill/>
          </a:ln>
          <a:effectLst/>
        </p:spPr>
        <p:txBody>
          <a:bodyPr wrap="square" lIns="0" tIns="0" rIns="0" bIns="0" anchor="t" rtlCol="0">
            <a:noAutofit/>
          </a:bodyPr>
          <a:lstStyle/>
          <a:p>
            <a:endParaRPr lang="en-US" dirty="0"/>
          </a:p>
        </p:txBody>
      </p:sp>
      <p:sp>
        <p:nvSpPr>
          <p:cNvPr id="25" name="Row accent 25"/>
          <p:cNvSpPr/>
          <p:nvPr/>
        </p:nvSpPr>
        <p:spPr>
          <a:xfrm>
            <a:off x="749808" y="4123944"/>
            <a:ext cx="54864" cy="435864"/>
          </a:xfrm>
          <a:prstGeom prst="roundRect">
            <a:avLst>
              <a:gd name="adj" fmla="val 50000"/>
            </a:avLst>
          </a:prstGeom>
          <a:solidFill>
            <a:srgbClr val="167447"/>
          </a:solidFill>
          <a:ln>
            <a:noFill/>
          </a:ln>
          <a:effectLst/>
        </p:spPr>
        <p:txBody>
          <a:bodyPr wrap="square" lIns="0" tIns="0" rIns="0" bIns="0" anchor="t" rtlCol="0">
            <a:noAutofit/>
          </a:bodyPr>
          <a:lstStyle/>
          <a:p>
            <a:endParaRPr lang="en-US" dirty="0"/>
          </a:p>
        </p:txBody>
      </p:sp>
      <p:sp>
        <p:nvSpPr>
          <p:cNvPr id="26" name="Service 26"/>
          <p:cNvSpPr/>
          <p:nvPr/>
        </p:nvSpPr>
        <p:spPr>
          <a:xfrm>
            <a:off x="896112" y="4014216"/>
            <a:ext cx="1810512" cy="655320"/>
          </a:xfrm>
          <a:prstGeom prst="rect">
            <a:avLst/>
          </a:prstGeom>
          <a:noFill/>
          <a:ln>
            <a:noFill/>
          </a:ln>
          <a:effectLst/>
        </p:spPr>
        <p:txBody>
          <a:bodyPr wrap="square" lIns="0" tIns="0" rIns="0" bIns="0" anchor="ctr" rtlCol="0">
            <a:noAutofit/>
          </a:bodyPr>
          <a:lstStyle/>
          <a:p>
            <a:pPr algn="l"/>
            <a:r>
              <a:rPr lang="en-US" sz="1200" b="1" i="0" dirty="0">
                <a:solidFill>
                  <a:srgbClr val="202020"/>
                </a:solidFill>
                <a:latin typeface="Segoe UI"/>
                <a:cs typeface="Segoe UI"/>
              </a:rPr>
              <a:t>Azure Arc</a:t>
            </a:r>
          </a:p>
          <a:p>
            <a:pPr algn="l"/>
            <a:r>
              <a:rPr lang="en-US" sz="950" b="0" i="0" dirty="0">
                <a:solidFill>
                  <a:srgbClr val="545460"/>
                </a:solidFill>
                <a:latin typeface="Segoe UI"/>
                <a:cs typeface="Segoe UI"/>
              </a:rPr>
              <a:t>+ SQL Server enabled by Arc</a:t>
            </a:r>
          </a:p>
        </p:txBody>
      </p:sp>
      <p:sp>
        <p:nvSpPr>
          <p:cNvPr id="27" name="Price 27"/>
          <p:cNvSpPr/>
          <p:nvPr/>
        </p:nvSpPr>
        <p:spPr>
          <a:xfrm>
            <a:off x="2798064" y="4014216"/>
            <a:ext cx="1627632" cy="655320"/>
          </a:xfrm>
          <a:prstGeom prst="rect">
            <a:avLst/>
          </a:prstGeom>
          <a:noFill/>
          <a:ln>
            <a:noFill/>
          </a:ln>
          <a:effectLst/>
        </p:spPr>
        <p:txBody>
          <a:bodyPr wrap="square" lIns="0" tIns="0" rIns="0" bIns="0" anchor="ctr" rtlCol="0">
            <a:noAutofit/>
          </a:bodyPr>
          <a:lstStyle/>
          <a:p>
            <a:pPr algn="l"/>
            <a:r>
              <a:rPr lang="en-US" sz="1500" b="1" i="0" dirty="0">
                <a:solidFill>
                  <a:srgbClr val="167447"/>
                </a:solidFill>
                <a:latin typeface="Segoe UI"/>
                <a:cs typeface="Segoe UI"/>
              </a:rPr>
              <a:t>$0</a:t>
            </a:r>
            <a:r>
              <a:rPr lang="en-US" sz="1100" b="1" i="0" baseline="30000" dirty="0">
                <a:solidFill>
                  <a:srgbClr val="167447"/>
                </a:solidFill>
                <a:latin typeface="Segoe UI"/>
                <a:cs typeface="Segoe UI"/>
              </a:rPr>
              <a:t xml:space="preserve">4</a:t>
            </a:r>
          </a:p>
          <a:p>
            <a:pPr algn="l"/>
            <a:r>
              <a:rPr lang="en-US" sz="900" b="0" i="0" dirty="0">
                <a:solidFill>
                  <a:srgbClr val="545460"/>
                </a:solidFill>
                <a:latin typeface="Segoe UI"/>
                <a:cs typeface="Segoe UI"/>
              </a:rPr>
              <a:t>for SA or license-only instances</a:t>
            </a:r>
          </a:p>
        </p:txBody>
      </p:sp>
      <p:sp>
        <p:nvSpPr>
          <p:cNvPr id="28" name="Note 28"/>
          <p:cNvSpPr/>
          <p:nvPr/>
        </p:nvSpPr>
        <p:spPr>
          <a:xfrm>
            <a:off x="4535424" y="4014216"/>
            <a:ext cx="2834640" cy="655320"/>
          </a:xfrm>
          <a:prstGeom prst="rect">
            <a:avLst/>
          </a:prstGeom>
          <a:noFill/>
          <a:ln>
            <a:noFill/>
          </a:ln>
          <a:effectLst/>
        </p:spPr>
        <p:txBody>
          <a:bodyPr wrap="square" lIns="0" tIns="0" rIns="0" bIns="0" anchor="ctr" rtlCol="0">
            <a:noAutofit/>
          </a:bodyPr>
          <a:lstStyle/>
          <a:p>
            <a:pPr algn="l"/>
            <a:r>
              <a:rPr lang="en-US" sz="1000" b="0" i="0" dirty="0">
                <a:solidFill>
                  <a:srgbClr val="202020"/>
                </a:solidFill>
                <a:latin typeface="Segoe UI"/>
                <a:cs typeface="Segoe UI"/>
              </a:rPr>
              <a:t>Inventory, AG API, failover and Run Command. Monitoring needs SA or pay-as-you-go.</a:t>
            </a:r>
          </a:p>
        </p:txBody>
      </p:sp>
      <p:sp>
        <p:nvSpPr>
          <p:cNvPr id="29" name="Row separator 29"/>
          <p:cNvSpPr/>
          <p:nvPr/>
        </p:nvSpPr>
        <p:spPr>
          <a:xfrm>
            <a:off x="749808" y="4665878"/>
            <a:ext cx="6638544" cy="7315"/>
          </a:xfrm>
          <a:prstGeom prst="rect">
            <a:avLst/>
          </a:prstGeom>
          <a:solidFill>
            <a:srgbClr val="E9E9EF"/>
          </a:solidFill>
          <a:ln>
            <a:noFill/>
          </a:ln>
          <a:effectLst/>
        </p:spPr>
        <p:txBody>
          <a:bodyPr wrap="square" lIns="0" tIns="0" rIns="0" bIns="0" anchor="t" rtlCol="0">
            <a:noAutofit/>
          </a:bodyPr>
          <a:lstStyle/>
          <a:p>
            <a:endParaRPr lang="en-US" dirty="0"/>
          </a:p>
        </p:txBody>
      </p:sp>
      <p:sp>
        <p:nvSpPr>
          <p:cNvPr id="30" name="Row accent 30"/>
          <p:cNvSpPr/>
          <p:nvPr/>
        </p:nvSpPr>
        <p:spPr>
          <a:xfrm>
            <a:off x="749808" y="4779264"/>
            <a:ext cx="54864" cy="435864"/>
          </a:xfrm>
          <a:prstGeom prst="roundRect">
            <a:avLst>
              <a:gd name="adj" fmla="val 50000"/>
            </a:avLst>
          </a:prstGeom>
          <a:solidFill>
            <a:srgbClr val="C50F1F"/>
          </a:solidFill>
          <a:ln>
            <a:noFill/>
          </a:ln>
          <a:effectLst/>
        </p:spPr>
        <p:txBody>
          <a:bodyPr wrap="square" lIns="0" tIns="0" rIns="0" bIns="0" anchor="t" rtlCol="0">
            <a:noAutofit/>
          </a:bodyPr>
          <a:lstStyle/>
          <a:p>
            <a:endParaRPr lang="en-US" dirty="0"/>
          </a:p>
        </p:txBody>
      </p:sp>
      <p:sp>
        <p:nvSpPr>
          <p:cNvPr id="31" name="Service 31"/>
          <p:cNvSpPr/>
          <p:nvPr/>
        </p:nvSpPr>
        <p:spPr>
          <a:xfrm>
            <a:off x="896112" y="4669536"/>
            <a:ext cx="1810512" cy="655320"/>
          </a:xfrm>
          <a:prstGeom prst="rect">
            <a:avLst/>
          </a:prstGeom>
          <a:noFill/>
          <a:ln>
            <a:noFill/>
          </a:ln>
          <a:effectLst/>
        </p:spPr>
        <p:txBody>
          <a:bodyPr wrap="square" lIns="0" tIns="0" rIns="0" bIns="0" anchor="ctr" rtlCol="0">
            <a:noAutofit/>
          </a:bodyPr>
          <a:lstStyle/>
          <a:p>
            <a:pPr algn="l"/>
            <a:r>
              <a:rPr lang="en-US" sz="1200" b="1" i="0" dirty="0">
                <a:solidFill>
                  <a:srgbClr val="202020"/>
                </a:solidFill>
                <a:latin typeface="Segoe UI"/>
                <a:cs typeface="Segoe UI"/>
              </a:rPr>
              <a:t>Defender for SQL</a:t>
            </a:r>
          </a:p>
          <a:p>
            <a:pPr algn="l"/>
            <a:r>
              <a:rPr lang="en-US" sz="950" b="0" i="0" dirty="0">
                <a:solidFill>
                  <a:srgbClr val="545460"/>
                </a:solidFill>
                <a:latin typeface="Segoe UI"/>
                <a:cs typeface="Segoe UI"/>
              </a:rPr>
              <a:t>optional</a:t>
            </a:r>
          </a:p>
        </p:txBody>
      </p:sp>
      <p:sp>
        <p:nvSpPr>
          <p:cNvPr id="32" name="Price 32"/>
          <p:cNvSpPr/>
          <p:nvPr/>
        </p:nvSpPr>
        <p:spPr>
          <a:xfrm>
            <a:off x="2798064" y="4669536"/>
            <a:ext cx="1627632" cy="655320"/>
          </a:xfrm>
          <a:prstGeom prst="rect">
            <a:avLst/>
          </a:prstGeom>
          <a:noFill/>
          <a:ln>
            <a:noFill/>
          </a:ln>
          <a:effectLst/>
        </p:spPr>
        <p:txBody>
          <a:bodyPr wrap="square" lIns="0" tIns="0" rIns="0" bIns="0" anchor="ctr" rtlCol="0">
            <a:noAutofit/>
          </a:bodyPr>
          <a:lstStyle/>
          <a:p>
            <a:pPr algn="l"/>
            <a:r>
              <a:rPr lang="en-US" sz="1500" b="1" i="0" dirty="0">
                <a:solidFill>
                  <a:srgbClr val="C50F1F"/>
                </a:solidFill>
                <a:latin typeface="Segoe UI"/>
                <a:cs typeface="Segoe UI"/>
              </a:rPr>
              <a:t>$15</a:t>
            </a:r>
            <a:r>
              <a:rPr lang="en-US" sz="1100" b="1" i="0" baseline="30000" dirty="0">
                <a:solidFill>
                  <a:srgbClr val="C50F1F"/>
                </a:solidFill>
                <a:latin typeface="Segoe UI"/>
                <a:cs typeface="Segoe UI"/>
              </a:rPr>
              <a:t xml:space="preserve">5</a:t>
            </a:r>
            <a:r>
              <a:rPr lang="en-US" sz="1000" b="0" i="0" dirty="0">
                <a:solidFill>
                  <a:srgbClr val="545460"/>
                </a:solidFill>
                <a:latin typeface="Segoe UI"/>
                <a:cs typeface="Segoe UI"/>
              </a:rPr>
              <a:t xml:space="preserve"> / instance / month</a:t>
            </a:r>
          </a:p>
        </p:txBody>
      </p:sp>
      <p:sp>
        <p:nvSpPr>
          <p:cNvPr id="33" name="Note 33"/>
          <p:cNvSpPr/>
          <p:nvPr/>
        </p:nvSpPr>
        <p:spPr>
          <a:xfrm>
            <a:off x="4535424" y="4669536"/>
            <a:ext cx="2834640" cy="655320"/>
          </a:xfrm>
          <a:prstGeom prst="rect">
            <a:avLst/>
          </a:prstGeom>
          <a:noFill/>
          <a:ln>
            <a:noFill/>
          </a:ln>
          <a:effectLst/>
        </p:spPr>
        <p:txBody>
          <a:bodyPr wrap="square" lIns="0" tIns="0" rIns="0" bIns="0" anchor="ctr" rtlCol="0">
            <a:noAutofit/>
          </a:bodyPr>
          <a:lstStyle/>
          <a:p>
            <a:pPr algn="l"/>
            <a:r>
              <a:rPr lang="en-US" sz="1000" b="0" i="0" dirty="0">
                <a:solidFill>
                  <a:srgbClr val="202020"/>
                </a:solidFill>
                <a:latin typeface="Segoe UI"/>
                <a:cs typeface="Segoe UI"/>
              </a:rPr>
              <a:t>Vulnerability assessment and threat alerts. Defender for Servers P2 (~$15/server) also covers Update Manager.</a:t>
            </a:r>
          </a:p>
        </p:txBody>
      </p:sp>
      <p:sp>
        <p:nvSpPr>
          <p:cNvPr id="34" name="Row separator 34"/>
          <p:cNvSpPr/>
          <p:nvPr/>
        </p:nvSpPr>
        <p:spPr>
          <a:xfrm>
            <a:off x="749808" y="5321198"/>
            <a:ext cx="6638544" cy="7315"/>
          </a:xfrm>
          <a:prstGeom prst="rect">
            <a:avLst/>
          </a:prstGeom>
          <a:solidFill>
            <a:srgbClr val="E9E9EF"/>
          </a:solidFill>
          <a:ln>
            <a:noFill/>
          </a:ln>
          <a:effectLst/>
        </p:spPr>
        <p:txBody>
          <a:bodyPr wrap="square" lIns="0" tIns="0" rIns="0" bIns="0" anchor="t" rtlCol="0">
            <a:noAutofit/>
          </a:bodyPr>
          <a:lstStyle/>
          <a:p>
            <a:endParaRPr lang="en-US" dirty="0"/>
          </a:p>
        </p:txBody>
      </p:sp>
      <p:sp>
        <p:nvSpPr>
          <p:cNvPr id="35" name="Row accent 35"/>
          <p:cNvSpPr/>
          <p:nvPr/>
        </p:nvSpPr>
        <p:spPr>
          <a:xfrm>
            <a:off x="749808" y="5434584"/>
            <a:ext cx="54864" cy="435864"/>
          </a:xfrm>
          <a:prstGeom prst="roundRect">
            <a:avLst>
              <a:gd name="adj" fmla="val 50000"/>
            </a:avLst>
          </a:prstGeom>
          <a:solidFill>
            <a:srgbClr val="8A5A00"/>
          </a:solidFill>
          <a:ln>
            <a:noFill/>
          </a:ln>
          <a:effectLst/>
        </p:spPr>
        <p:txBody>
          <a:bodyPr wrap="square" lIns="0" tIns="0" rIns="0" bIns="0" anchor="t" rtlCol="0">
            <a:noAutofit/>
          </a:bodyPr>
          <a:lstStyle/>
          <a:p>
            <a:endParaRPr lang="en-US" dirty="0"/>
          </a:p>
        </p:txBody>
      </p:sp>
      <p:sp>
        <p:nvSpPr>
          <p:cNvPr id="36" name="Service 36"/>
          <p:cNvSpPr/>
          <p:nvPr/>
        </p:nvSpPr>
        <p:spPr>
          <a:xfrm>
            <a:off x="896112" y="5324856"/>
            <a:ext cx="1810512" cy="655320"/>
          </a:xfrm>
          <a:prstGeom prst="rect">
            <a:avLst/>
          </a:prstGeom>
          <a:noFill/>
          <a:ln>
            <a:noFill/>
          </a:ln>
          <a:effectLst/>
        </p:spPr>
        <p:txBody>
          <a:bodyPr wrap="square" lIns="0" tIns="0" rIns="0" bIns="0" anchor="ctr" rtlCol="0">
            <a:noAutofit/>
          </a:bodyPr>
          <a:lstStyle/>
          <a:p>
            <a:pPr algn="l"/>
            <a:r>
              <a:rPr lang="en-US" sz="1200" b="1" i="0" dirty="0">
                <a:solidFill>
                  <a:srgbClr val="202020"/>
                </a:solidFill>
                <a:latin typeface="Segoe UI"/>
                <a:cs typeface="Segoe UI"/>
              </a:rPr>
              <a:t>Log Analytics + alerts</a:t>
            </a:r>
          </a:p>
          <a:p>
            <a:pPr algn="l"/>
            <a:r>
              <a:rPr lang="en-US" sz="950" b="0" i="0" dirty="0">
                <a:solidFill>
                  <a:srgbClr val="545460"/>
                </a:solidFill>
                <a:latin typeface="Segoe UI"/>
                <a:cs typeface="Segoe UI"/>
              </a:rPr>
              <a:t>optional</a:t>
            </a:r>
          </a:p>
        </p:txBody>
      </p:sp>
      <p:sp>
        <p:nvSpPr>
          <p:cNvPr id="37" name="Price 37"/>
          <p:cNvSpPr/>
          <p:nvPr/>
        </p:nvSpPr>
        <p:spPr>
          <a:xfrm>
            <a:off x="2798064" y="5324856"/>
            <a:ext cx="1627632" cy="655320"/>
          </a:xfrm>
          <a:prstGeom prst="rect">
            <a:avLst/>
          </a:prstGeom>
          <a:noFill/>
          <a:ln>
            <a:noFill/>
          </a:ln>
          <a:effectLst/>
        </p:spPr>
        <p:txBody>
          <a:bodyPr wrap="square" lIns="0" tIns="0" rIns="0" bIns="0" anchor="ctr" rtlCol="0">
            <a:noAutofit/>
          </a:bodyPr>
          <a:lstStyle/>
          <a:p>
            <a:pPr algn="l"/>
            <a:r>
              <a:rPr lang="en-US" sz="1500" b="1" i="0" dirty="0">
                <a:solidFill>
                  <a:srgbClr val="8A5A00"/>
                </a:solidFill>
                <a:latin typeface="Segoe UI"/>
                <a:cs typeface="Segoe UI"/>
              </a:rPr>
              <a:t>$2.99</a:t>
            </a:r>
            <a:r>
              <a:rPr lang="en-US" sz="1100" b="1" i="0" baseline="30000" dirty="0">
                <a:solidFill>
                  <a:srgbClr val="8A5A00"/>
                </a:solidFill>
                <a:latin typeface="Segoe UI"/>
                <a:cs typeface="Segoe UI"/>
              </a:rPr>
              <a:t xml:space="preserve">6</a:t>
            </a:r>
            <a:r>
              <a:rPr lang="en-US" sz="1000" b="0" i="0" dirty="0">
                <a:solidFill>
                  <a:srgbClr val="545460"/>
                </a:solidFill>
                <a:latin typeface="Segoe UI"/>
                <a:cs typeface="Segoe UI"/>
              </a:rPr>
              <a:t xml:space="preserve"> / GB ingested</a:t>
            </a:r>
          </a:p>
          <a:p>
            <a:pPr algn="l"/>
            <a:r>
              <a:rPr lang="en-US" sz="900" b="0" i="0" dirty="0">
                <a:solidFill>
                  <a:srgbClr val="545460"/>
                </a:solidFill>
                <a:latin typeface="Segoe UI"/>
                <a:cs typeface="Segoe UI"/>
              </a:rPr>
              <a:t>$1.50 per log alert rule / month</a:t>
            </a:r>
          </a:p>
        </p:txBody>
      </p:sp>
      <p:sp>
        <p:nvSpPr>
          <p:cNvPr id="38" name="Note 38"/>
          <p:cNvSpPr/>
          <p:nvPr/>
        </p:nvSpPr>
        <p:spPr>
          <a:xfrm>
            <a:off x="4535424" y="5324856"/>
            <a:ext cx="2834640" cy="655320"/>
          </a:xfrm>
          <a:prstGeom prst="rect">
            <a:avLst/>
          </a:prstGeom>
          <a:noFill/>
          <a:ln>
            <a:noFill/>
          </a:ln>
          <a:effectLst/>
        </p:spPr>
        <p:txBody>
          <a:bodyPr wrap="square" lIns="0" tIns="0" rIns="0" bIns="0" anchor="ctr" rtlCol="0">
            <a:noAutofit/>
          </a:bodyPr>
          <a:lstStyle/>
          <a:p>
            <a:pPr algn="l"/>
            <a:r>
              <a:rPr lang="en-US" sz="1000" b="0" i="0" dirty="0">
                <a:solidFill>
                  <a:srgbClr val="202020"/>
                </a:solidFill>
                <a:latin typeface="Segoe UI"/>
                <a:cs typeface="Segoe UI"/>
              </a:rPr>
              <a:t>Only for workbooks and log alerts. Resource Graph queries are free.</a:t>
            </a:r>
          </a:p>
        </p:txBody>
      </p:sp>
      <p:sp>
        <p:nvSpPr>
          <p:cNvPr id="39" name="Example card 39"/>
          <p:cNvSpPr/>
          <p:nvPr/>
        </p:nvSpPr>
        <p:spPr>
          <a:xfrm>
            <a:off x="7772400" y="1591056"/>
            <a:ext cx="3840480" cy="4425696"/>
          </a:xfrm>
          <a:prstGeom prst="roundRect">
            <a:avLst>
              <a:gd name="adj" fmla="val 35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40" name="Example label 40"/>
          <p:cNvSpPr/>
          <p:nvPr/>
        </p:nvSpPr>
        <p:spPr>
          <a:xfrm>
            <a:off x="8010144" y="1719072"/>
            <a:ext cx="3364992" cy="237744"/>
          </a:xfrm>
          <a:prstGeom prst="rect">
            <a:avLst/>
          </a:prstGeom>
          <a:noFill/>
          <a:ln>
            <a:noFill/>
          </a:ln>
          <a:effectLst/>
        </p:spPr>
        <p:txBody>
          <a:bodyPr wrap="square" lIns="0" tIns="0" rIns="0" bIns="0" anchor="ctr" rtlCol="0">
            <a:noAutofit/>
          </a:bodyPr>
          <a:lstStyle/>
          <a:p>
            <a:pPr algn="l"/>
            <a:r>
              <a:rPr lang="en-US" sz="1000" b="1" i="0" dirty="0">
                <a:solidFill>
                  <a:srgbClr val="545460"/>
                </a:solidFill>
                <a:latin typeface="Segoe UI"/>
                <a:cs typeface="Segoe UI"/>
              </a:rPr>
              <a:t>EXAMPLE: 267 SERVERS, PER MONTH</a:t>
            </a:r>
          </a:p>
        </p:txBody>
      </p:sp>
      <p:sp>
        <p:nvSpPr>
          <p:cNvPr id="41" name="Line label 41"/>
          <p:cNvSpPr/>
          <p:nvPr/>
        </p:nvSpPr>
        <p:spPr>
          <a:xfrm>
            <a:off x="8010144" y="2066544"/>
            <a:ext cx="2542032" cy="274320"/>
          </a:xfrm>
          <a:prstGeom prst="rect">
            <a:avLst/>
          </a:prstGeom>
          <a:noFill/>
          <a:ln>
            <a:noFill/>
          </a:ln>
          <a:effectLst/>
        </p:spPr>
        <p:txBody>
          <a:bodyPr wrap="square" lIns="0" tIns="0" rIns="0" bIns="0" anchor="ctr" rtlCol="0">
            <a:noAutofit/>
          </a:bodyPr>
          <a:lstStyle/>
          <a:p>
            <a:pPr algn="l"/>
            <a:r>
              <a:rPr lang="en-US" sz="1100" b="1" i="0" dirty="0">
                <a:solidFill>
                  <a:srgbClr val="202020"/>
                </a:solidFill>
                <a:latin typeface="Segoe UI"/>
                <a:cs typeface="Segoe UI"/>
              </a:rPr>
              <a:t>Update Manager</a:t>
            </a:r>
            <a:r>
              <a:rPr lang="en-US" sz="900" b="0" i="0" dirty="0">
                <a:solidFill>
                  <a:srgbClr val="545460"/>
                </a:solidFill>
                <a:latin typeface="Segoe UI"/>
                <a:cs typeface="Segoe UI"/>
              </a:rPr>
              <a:t xml:space="preserve">  267 × $5</a:t>
            </a:r>
          </a:p>
        </p:txBody>
      </p:sp>
      <p:sp>
        <p:nvSpPr>
          <p:cNvPr id="42" name="Line amount 42"/>
          <p:cNvSpPr/>
          <p:nvPr/>
        </p:nvSpPr>
        <p:spPr>
          <a:xfrm>
            <a:off x="10552176" y="2066544"/>
            <a:ext cx="822960" cy="274320"/>
          </a:xfrm>
          <a:prstGeom prst="rect">
            <a:avLst/>
          </a:prstGeom>
          <a:noFill/>
          <a:ln>
            <a:noFill/>
          </a:ln>
          <a:effectLst/>
        </p:spPr>
        <p:txBody>
          <a:bodyPr wrap="square" lIns="0" tIns="0" rIns="0" bIns="0" anchor="ctr" rtlCol="0">
            <a:noAutofit/>
          </a:bodyPr>
          <a:lstStyle/>
          <a:p>
            <a:pPr algn="r"/>
            <a:r>
              <a:rPr lang="en-US" sz="1100" b="1" i="0" dirty="0">
                <a:solidFill>
                  <a:srgbClr val="202020"/>
                </a:solidFill>
                <a:latin typeface="Segoe UI"/>
                <a:cs typeface="Segoe UI"/>
              </a:rPr>
              <a:t>$1,335</a:t>
            </a:r>
          </a:p>
        </p:txBody>
      </p:sp>
      <p:sp>
        <p:nvSpPr>
          <p:cNvPr id="43" name="Line label 43"/>
          <p:cNvSpPr/>
          <p:nvPr/>
        </p:nvSpPr>
        <p:spPr>
          <a:xfrm>
            <a:off x="8010144" y="2377440"/>
            <a:ext cx="2542032" cy="274320"/>
          </a:xfrm>
          <a:prstGeom prst="rect">
            <a:avLst/>
          </a:prstGeom>
          <a:noFill/>
          <a:ln>
            <a:noFill/>
          </a:ln>
          <a:effectLst/>
        </p:spPr>
        <p:txBody>
          <a:bodyPr wrap="square" lIns="0" tIns="0" rIns="0" bIns="0" anchor="ctr" rtlCol="0">
            <a:noAutofit/>
          </a:bodyPr>
          <a:lstStyle/>
          <a:p>
            <a:pPr algn="l"/>
            <a:r>
              <a:rPr lang="en-US" sz="1100" b="1" i="0" dirty="0">
                <a:solidFill>
                  <a:srgbClr val="202020"/>
                </a:solidFill>
                <a:latin typeface="Segoe UI"/>
                <a:cs typeface="Segoe UI"/>
              </a:rPr>
              <a:t>Automation</a:t>
            </a:r>
            <a:r>
              <a:rPr lang="en-US" sz="900" b="0" i="0" dirty="0">
                <a:solidFill>
                  <a:srgbClr val="545460"/>
                </a:solidFill>
                <a:latin typeface="Segoe UI"/>
                <a:cs typeface="Segoe UI"/>
              </a:rPr>
              <a:t xml:space="preserve">  ~400 of 500 free min</a:t>
            </a:r>
          </a:p>
        </p:txBody>
      </p:sp>
      <p:sp>
        <p:nvSpPr>
          <p:cNvPr id="44" name="Line amount 44"/>
          <p:cNvSpPr/>
          <p:nvPr/>
        </p:nvSpPr>
        <p:spPr>
          <a:xfrm>
            <a:off x="10552176" y="2377440"/>
            <a:ext cx="822960" cy="274320"/>
          </a:xfrm>
          <a:prstGeom prst="rect">
            <a:avLst/>
          </a:prstGeom>
          <a:noFill/>
          <a:ln>
            <a:noFill/>
          </a:ln>
          <a:effectLst/>
        </p:spPr>
        <p:txBody>
          <a:bodyPr wrap="square" lIns="0" tIns="0" rIns="0" bIns="0" anchor="ctr" rtlCol="0">
            <a:noAutofit/>
          </a:bodyPr>
          <a:lstStyle/>
          <a:p>
            <a:pPr algn="r"/>
            <a:r>
              <a:rPr lang="en-US" sz="1100" b="1" i="0" dirty="0">
                <a:solidFill>
                  <a:srgbClr val="202020"/>
                </a:solidFill>
                <a:latin typeface="Segoe UI"/>
                <a:cs typeface="Segoe UI"/>
              </a:rPr>
              <a:t>$0</a:t>
            </a:r>
          </a:p>
        </p:txBody>
      </p:sp>
      <p:sp>
        <p:nvSpPr>
          <p:cNvPr id="45" name="Line label 45"/>
          <p:cNvSpPr/>
          <p:nvPr/>
        </p:nvSpPr>
        <p:spPr>
          <a:xfrm>
            <a:off x="8010144" y="2688336"/>
            <a:ext cx="2542032" cy="274320"/>
          </a:xfrm>
          <a:prstGeom prst="rect">
            <a:avLst/>
          </a:prstGeom>
          <a:noFill/>
          <a:ln>
            <a:noFill/>
          </a:ln>
          <a:effectLst/>
        </p:spPr>
        <p:txBody>
          <a:bodyPr wrap="square" lIns="0" tIns="0" rIns="0" bIns="0" anchor="ctr" rtlCol="0">
            <a:noAutofit/>
          </a:bodyPr>
          <a:lstStyle/>
          <a:p>
            <a:pPr algn="l"/>
            <a:r>
              <a:rPr lang="en-US" sz="1100" b="1" i="0" dirty="0">
                <a:solidFill>
                  <a:srgbClr val="202020"/>
                </a:solidFill>
                <a:latin typeface="Segoe UI"/>
                <a:cs typeface="Segoe UI"/>
              </a:rPr>
              <a:t>Event Grid</a:t>
            </a:r>
          </a:p>
        </p:txBody>
      </p:sp>
      <p:sp>
        <p:nvSpPr>
          <p:cNvPr id="46" name="Line amount 46"/>
          <p:cNvSpPr/>
          <p:nvPr/>
        </p:nvSpPr>
        <p:spPr>
          <a:xfrm>
            <a:off x="10552176" y="2688336"/>
            <a:ext cx="822960" cy="274320"/>
          </a:xfrm>
          <a:prstGeom prst="rect">
            <a:avLst/>
          </a:prstGeom>
          <a:noFill/>
          <a:ln>
            <a:noFill/>
          </a:ln>
          <a:effectLst/>
        </p:spPr>
        <p:txBody>
          <a:bodyPr wrap="square" lIns="0" tIns="0" rIns="0" bIns="0" anchor="ctr" rtlCol="0">
            <a:noAutofit/>
          </a:bodyPr>
          <a:lstStyle/>
          <a:p>
            <a:pPr algn="r"/>
            <a:r>
              <a:rPr lang="en-US" sz="1100" b="1" i="0" dirty="0">
                <a:solidFill>
                  <a:srgbClr val="202020"/>
                </a:solidFill>
                <a:latin typeface="Segoe UI"/>
                <a:cs typeface="Segoe UI"/>
              </a:rPr>
              <a:t>$0</a:t>
            </a:r>
          </a:p>
        </p:txBody>
      </p:sp>
      <p:sp>
        <p:nvSpPr>
          <p:cNvPr id="47" name="Line label 47"/>
          <p:cNvSpPr/>
          <p:nvPr/>
        </p:nvSpPr>
        <p:spPr>
          <a:xfrm>
            <a:off x="8010144" y="2999232"/>
            <a:ext cx="2542032" cy="274320"/>
          </a:xfrm>
          <a:prstGeom prst="rect">
            <a:avLst/>
          </a:prstGeom>
          <a:noFill/>
          <a:ln>
            <a:noFill/>
          </a:ln>
          <a:effectLst/>
        </p:spPr>
        <p:txBody>
          <a:bodyPr wrap="square" lIns="0" tIns="0" rIns="0" bIns="0" anchor="ctr" rtlCol="0">
            <a:noAutofit/>
          </a:bodyPr>
          <a:lstStyle/>
          <a:p>
            <a:pPr algn="l"/>
            <a:r>
              <a:rPr lang="en-US" sz="1100" b="1" i="0" dirty="0">
                <a:solidFill>
                  <a:srgbClr val="202020"/>
                </a:solidFill>
                <a:latin typeface="Segoe UI"/>
                <a:cs typeface="Segoe UI"/>
              </a:rPr>
              <a:t>Arc + Arc SQL</a:t>
            </a:r>
          </a:p>
        </p:txBody>
      </p:sp>
      <p:sp>
        <p:nvSpPr>
          <p:cNvPr id="48" name="Line amount 48"/>
          <p:cNvSpPr/>
          <p:nvPr/>
        </p:nvSpPr>
        <p:spPr>
          <a:xfrm>
            <a:off x="10552176" y="2999232"/>
            <a:ext cx="822960" cy="274320"/>
          </a:xfrm>
          <a:prstGeom prst="rect">
            <a:avLst/>
          </a:prstGeom>
          <a:noFill/>
          <a:ln>
            <a:noFill/>
          </a:ln>
          <a:effectLst/>
        </p:spPr>
        <p:txBody>
          <a:bodyPr wrap="square" lIns="0" tIns="0" rIns="0" bIns="0" anchor="ctr" rtlCol="0">
            <a:noAutofit/>
          </a:bodyPr>
          <a:lstStyle/>
          <a:p>
            <a:pPr algn="r"/>
            <a:r>
              <a:rPr lang="en-US" sz="1100" b="1" i="0" dirty="0">
                <a:solidFill>
                  <a:srgbClr val="202020"/>
                </a:solidFill>
                <a:latin typeface="Segoe UI"/>
                <a:cs typeface="Segoe UI"/>
              </a:rPr>
              <a:t>$0</a:t>
            </a:r>
          </a:p>
        </p:txBody>
      </p:sp>
      <p:sp>
        <p:nvSpPr>
          <p:cNvPr id="49" name="Total separator 49"/>
          <p:cNvSpPr/>
          <p:nvPr/>
        </p:nvSpPr>
        <p:spPr>
          <a:xfrm>
            <a:off x="8010144" y="3346704"/>
            <a:ext cx="3364992" cy="10973"/>
          </a:xfrm>
          <a:prstGeom prst="rect">
            <a:avLst/>
          </a:prstGeom>
          <a:solidFill>
            <a:srgbClr val="D5D5DD"/>
          </a:solidFill>
          <a:ln>
            <a:noFill/>
          </a:ln>
          <a:effectLst/>
        </p:spPr>
        <p:txBody>
          <a:bodyPr wrap="square" lIns="0" tIns="0" rIns="0" bIns="0" anchor="t" rtlCol="0">
            <a:noAutofit/>
          </a:bodyPr>
          <a:lstStyle/>
          <a:p>
            <a:endParaRPr lang="en-US" dirty="0"/>
          </a:p>
        </p:txBody>
      </p:sp>
      <p:sp>
        <p:nvSpPr>
          <p:cNvPr id="50" name="Total 50"/>
          <p:cNvSpPr/>
          <p:nvPr/>
        </p:nvSpPr>
        <p:spPr>
          <a:xfrm>
            <a:off x="8010144" y="3438144"/>
            <a:ext cx="3364992" cy="566928"/>
          </a:xfrm>
          <a:prstGeom prst="rect">
            <a:avLst/>
          </a:prstGeom>
          <a:noFill/>
          <a:ln>
            <a:noFill/>
          </a:ln>
          <a:effectLst/>
        </p:spPr>
        <p:txBody>
          <a:bodyPr wrap="square" lIns="0" tIns="0" rIns="0" bIns="0" anchor="ctr" rtlCol="0">
            <a:noAutofit/>
          </a:bodyPr>
          <a:lstStyle/>
          <a:p>
            <a:pPr algn="l"/>
            <a:r>
              <a:rPr lang="en-US" sz="3200" b="1" i="0" dirty="0">
                <a:solidFill>
                  <a:srgbClr val="0078D4"/>
                </a:solidFill>
                <a:latin typeface="Segoe UI"/>
                <a:cs typeface="Segoe UI"/>
              </a:rPr>
              <a:t>$1,335</a:t>
            </a:r>
            <a:r>
              <a:rPr lang="en-US" sz="1200" b="0" i="0" dirty="0">
                <a:solidFill>
                  <a:srgbClr val="545460"/>
                </a:solidFill>
                <a:latin typeface="Segoe UI"/>
                <a:cs typeface="Segoe UI"/>
              </a:rPr>
              <a:t xml:space="preserve">  / month</a:t>
            </a:r>
          </a:p>
        </p:txBody>
      </p:sp>
      <p:sp>
        <p:nvSpPr>
          <p:cNvPr id="51" name="Total sub 51"/>
          <p:cNvSpPr/>
          <p:nvPr/>
        </p:nvSpPr>
        <p:spPr>
          <a:xfrm>
            <a:off x="8010144" y="3986784"/>
            <a:ext cx="3364992" cy="237744"/>
          </a:xfrm>
          <a:prstGeom prst="rect">
            <a:avLst/>
          </a:prstGeom>
          <a:noFill/>
          <a:ln>
            <a:noFill/>
          </a:ln>
          <a:effectLst/>
        </p:spPr>
        <p:txBody>
          <a:bodyPr wrap="square" lIns="0" tIns="0" rIns="0" bIns="0" anchor="ctr" rtlCol="0">
            <a:noAutofit/>
          </a:bodyPr>
          <a:lstStyle/>
          <a:p>
            <a:pPr algn="l"/>
            <a:r>
              <a:rPr lang="en-US" sz="1000" b="0" i="0" dirty="0">
                <a:solidFill>
                  <a:srgbClr val="545460"/>
                </a:solidFill>
                <a:latin typeface="Segoe UI"/>
                <a:cs typeface="Segoe UI"/>
              </a:rPr>
              <a:t>about $5 per server, almost all Update Manager</a:t>
            </a:r>
          </a:p>
        </p:txBody>
      </p:sp>
      <p:sp>
        <p:nvSpPr>
          <p:cNvPr id="52" name="Zero callout 52"/>
          <p:cNvSpPr/>
          <p:nvPr/>
        </p:nvSpPr>
        <p:spPr>
          <a:xfrm>
            <a:off x="7955280" y="4352544"/>
            <a:ext cx="3474720" cy="896112"/>
          </a:xfrm>
          <a:prstGeom prst="roundRect">
            <a:avLst>
              <a:gd name="adj" fmla="val 10000"/>
            </a:avLst>
          </a:prstGeom>
          <a:solidFill>
            <a:srgbClr val="E8F3EC"/>
          </a:solidFill>
          <a:ln>
            <a:noFill/>
          </a:ln>
          <a:effectLst/>
        </p:spPr>
        <p:txBody>
          <a:bodyPr wrap="square" lIns="128016" tIns="73152" rIns="128016" bIns="73152" anchor="ctr" rtlCol="0">
            <a:noAutofit/>
          </a:bodyPr>
          <a:lstStyle/>
          <a:p>
            <a:pPr algn="l">
              <a:spcAft>
                <a:spcPts val="200"/>
              </a:spcAft>
            </a:pPr>
            <a:r>
              <a:rPr lang="en-US" sz="1100" b="1" i="0" dirty="0">
                <a:solidFill>
                  <a:srgbClr val="167447"/>
                </a:solidFill>
                <a:latin typeface="Segoe UI"/>
                <a:cs typeface="Segoe UI"/>
              </a:rPr>
              <a:t>$0 for Update Manager</a:t>
            </a:r>
            <a:r>
              <a:rPr lang="en-US" sz="1100" b="1" i="0" baseline="30000" dirty="0">
                <a:solidFill>
                  <a:srgbClr val="167447"/>
                </a:solidFill>
                <a:latin typeface="Segoe UI"/>
                <a:cs typeface="Segoe UI"/>
              </a:rPr>
              <a:t xml:space="preserve">7</a:t>
            </a:r>
          </a:p>
          <a:p>
            <a:pPr algn="l"/>
            <a:r>
              <a:rPr lang="en-US" sz="950" b="0" i="0" dirty="0">
                <a:solidFill>
                  <a:srgbClr val="1E4D33"/>
                </a:solidFill>
                <a:latin typeface="Segoe UI"/>
                <a:cs typeface="Segoe UI"/>
              </a:rPr>
              <a:t>if Defender for Servers Plan 2 is enabled. EC2 license-included Windows has no SA, so SA attestation doesn't apply.</a:t>
            </a:r>
          </a:p>
        </p:txBody>
      </p:sp>
      <p:sp>
        <p:nvSpPr>
          <p:cNvPr id="53" name="Optional 53"/>
          <p:cNvSpPr/>
          <p:nvPr/>
        </p:nvSpPr>
        <p:spPr>
          <a:xfrm>
            <a:off x="8010144" y="5358384"/>
            <a:ext cx="3364992" cy="621792"/>
          </a:xfrm>
          <a:prstGeom prst="rect">
            <a:avLst/>
          </a:prstGeom>
          <a:noFill/>
          <a:ln>
            <a:noFill/>
          </a:ln>
          <a:effectLst/>
        </p:spPr>
        <p:txBody>
          <a:bodyPr wrap="square" lIns="0" tIns="0" rIns="0" bIns="0" anchor="t" rtlCol="0">
            <a:noAutofit/>
          </a:bodyPr>
          <a:lstStyle/>
          <a:p>
            <a:pPr algn="l"/>
            <a:r>
              <a:rPr lang="en-US" sz="950" b="1" i="0" dirty="0">
                <a:solidFill>
                  <a:srgbClr val="545460"/>
                </a:solidFill>
                <a:latin typeface="Segoe UI"/>
                <a:cs typeface="Segoe UI"/>
              </a:rPr>
              <a:t xml:space="preserve">Optional: </a:t>
            </a:r>
            <a:r>
              <a:rPr lang="en-US" sz="950" b="0" i="0" dirty="0">
                <a:solidFill>
                  <a:srgbClr val="545460"/>
                </a:solidFill>
                <a:latin typeface="Segoe UI"/>
                <a:cs typeface="Segoe UI"/>
              </a:rPr>
              <a:t>Defender for SQL adds about $4,005 (267 × $15).</a:t>
            </a:r>
          </a:p>
        </p:txBody>
      </p:sp>
      <p:sp>
        <p:nvSpPr>
          <p:cNvPr id="54" name="Source 54"/>
          <p:cNvSpPr/>
          <p:nvPr/>
        </p:nvSpPr>
        <p:spPr>
          <a:xfrm>
            <a:off x="603504" y="6080760"/>
            <a:ext cx="10972800" cy="347472"/>
          </a:xfrm>
          <a:prstGeom prst="rect">
            <a:avLst/>
          </a:prstGeom>
          <a:noFill/>
          <a:ln>
            <a:noFill/>
          </a:ln>
          <a:effectLst/>
        </p:spPr>
        <p:txBody>
          <a:bodyPr wrap="square" lIns="0" tIns="0" rIns="0" bIns="0" anchor="t" rtlCol="0">
            <a:noAutofit/>
          </a:bodyPr>
          <a:lstStyle/>
          <a:p>
            <a:pPr algn="l">
              <a:spcAft>
                <a:spcPts val="200"/>
              </a:spcAft>
            </a:pPr>
            <a:r>
              <a:rPr lang="en-US" sz="850" b="1" i="0" dirty="0">
                <a:solidFill>
                  <a:srgbClr val="545460"/>
                </a:solidFill>
                <a:latin typeface="Segoe UI"/>
                <a:cs typeface="Segoe UI"/>
              </a:rPr>
              <a:t xml:space="preserve">Sources: </a:t>
            </a:r>
            <a:r>
              <a:rPr lang="en-US" sz="850" b="0" i="0" dirty="0">
                <a:solidFill>
                  <a:srgbClr val="545460"/>
                </a:solidFill>
                <a:latin typeface="Segoe UI"/>
                <a:cs typeface="Segoe UI"/>
              </a:rPr>
              <a:t xml:space="preserve">[1] </a:t>
            </a:r>
            <a:r>
              <a:rPr lang="en-US" sz="850" b="0" i="0" dirty="0">
                <a:solidFill>
                  <a:srgbClr val="0067B8"/>
                </a:solidFill>
                <a:latin typeface="Segoe UI"/>
                <a:cs typeface="Segoe UI"/>
                <a:hlinkClick r:id="rId2"/>
              </a:rPr>
              <a:t xml:space="preserve">Update Manager pricing</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[2] </a:t>
            </a:r>
            <a:r>
              <a:rPr lang="en-US" sz="850" b="0" i="0" dirty="0">
                <a:solidFill>
                  <a:srgbClr val="0067B8"/>
                </a:solidFill>
                <a:latin typeface="Segoe UI"/>
                <a:cs typeface="Segoe UI"/>
                <a:hlinkClick r:id="rId3"/>
              </a:rPr>
              <a:t xml:space="preserve">Automation pricing</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[3] </a:t>
            </a:r>
            <a:r>
              <a:rPr lang="en-US" sz="850" b="0" i="0" dirty="0">
                <a:solidFill>
                  <a:srgbClr val="0067B8"/>
                </a:solidFill>
                <a:latin typeface="Segoe UI"/>
                <a:cs typeface="Segoe UI"/>
                <a:hlinkClick r:id="rId4"/>
              </a:rPr>
              <a:t xml:space="preserve">Event Grid pricing</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[4] </a:t>
            </a:r>
            <a:r>
              <a:rPr lang="en-US" sz="850" b="0" i="0" dirty="0">
                <a:solidFill>
                  <a:srgbClr val="0067B8"/>
                </a:solidFill>
                <a:latin typeface="Segoe UI"/>
                <a:cs typeface="Segoe UI"/>
                <a:hlinkClick r:id="rId5"/>
              </a:rPr>
              <a:t xml:space="preserve">Arc SQL features by license type</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[5] </a:t>
            </a:r>
            <a:r>
              <a:rPr lang="en-US" sz="850" b="0" i="0" dirty="0">
                <a:solidFill>
                  <a:srgbClr val="0067B8"/>
                </a:solidFill>
                <a:latin typeface="Segoe UI"/>
                <a:cs typeface="Segoe UI"/>
                <a:hlinkClick r:id="rId6"/>
              </a:rPr>
              <a:t xml:space="preserve">Defender for Cloud pricing</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[6] </a:t>
            </a:r>
            <a:r>
              <a:rPr lang="en-US" sz="850" b="0" i="0" dirty="0">
                <a:solidFill>
                  <a:srgbClr val="0067B8"/>
                </a:solidFill>
                <a:latin typeface="Segoe UI"/>
                <a:cs typeface="Segoe UI"/>
                <a:hlinkClick r:id="rId7"/>
              </a:rPr>
              <a:t xml:space="preserve">Azure Monitor pricing</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[7] </a:t>
            </a:r>
            <a:r>
              <a:rPr lang="en-US" sz="850" b="0" i="0" dirty="0">
                <a:solidFill>
                  <a:srgbClr val="0067B8"/>
                </a:solidFill>
                <a:latin typeface="Segoe UI"/>
                <a:cs typeface="Segoe UI"/>
                <a:hlinkClick r:id="rId8"/>
              </a:rPr>
              <a:t xml:space="preserve">Update Manager FAQ: no-charge cases</a:t>
            </a:r>
          </a:p>
          <a:p>
            <a:pPr algn="l"/>
            <a:r>
              <a:rPr lang="en-US" sz="850" b="0" i="1" dirty="0">
                <a:solidFill>
                  <a:srgbClr val="545460"/>
                </a:solidFill>
                <a:latin typeface="Segoe UI"/>
                <a:cs typeface="Segoe UI"/>
              </a:rPr>
              <a:t xml:space="preserve">List prices from the </a:t>
            </a:r>
            <a:r>
              <a:rPr lang="en-US" sz="850" b="0" i="1" dirty="0">
                <a:solidFill>
                  <a:srgbClr val="0067B8"/>
                </a:solidFill>
                <a:latin typeface="Segoe UI"/>
                <a:cs typeface="Segoe UI"/>
                <a:hlinkClick r:id="rId9"/>
              </a:rPr>
              <a:t xml:space="preserve">Azure Retail Prices API</a:t>
            </a:r>
            <a:r>
              <a:rPr lang="en-US" sz="850" b="0" i="1" dirty="0">
                <a:solidFill>
                  <a:srgbClr val="545460"/>
                </a:solidFill>
                <a:latin typeface="Segoe UI"/>
                <a:cs typeface="Segoe UI"/>
              </a:rPr>
              <a:t xml:space="preserve"> (USD, West US), October 2026. Excludes SQL Server and Windows licenses and AWS charges. Confirm with the </a:t>
            </a:r>
            <a:r>
              <a:rPr lang="en-US" sz="850" b="0" i="1" dirty="0">
                <a:solidFill>
                  <a:srgbClr val="0067B8"/>
                </a:solidFill>
                <a:latin typeface="Segoe UI"/>
                <a:cs typeface="Segoe UI"/>
                <a:hlinkClick r:id="rId10"/>
              </a:rPr>
              <a:t xml:space="preserve">Azure pricing calculator</a:t>
            </a:r>
            <a:r>
              <a:rPr lang="en-US" sz="850" b="0" i="1" dirty="0">
                <a:solidFill>
                  <a:srgbClr val="545460"/>
                </a:solidFill>
                <a:latin typeface="Segoe UI"/>
                <a:cs typeface="Segoe UI"/>
              </a:rPr>
              <a:t xml:space="preser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TextBox 1"/>
          <p:cNvSpPr txBox="1"/>
          <p:nvPr/>
        </p:nvSpPr>
        <p:spPr>
          <a:xfrm>
            <a:off x="585216" y="384048"/>
            <a:ext cx="11045952" cy="649224"/>
          </a:xfrm>
          <a:prstGeom prst="rect">
            <a:avLst/>
          </a:prstGeom>
          <a:noFill/>
        </p:spPr>
        <p:txBody>
          <a:bodyPr wrap="square" anchor="t" lIns="0" rIns="0" tIns="0" bIns="0">
            <a:spAutoFit/>
          </a:bodyPr>
          <a:lstStyle/>
          <a:p>
            <a:pPr algn="l"/>
            <a:r>
              <a:rPr sz="3200" b="1" i="0">
                <a:solidFill>
                  <a:srgbClr val="0078D4"/>
                </a:solidFill>
                <a:latin typeface="Segoe UI"/>
              </a:rPr>
              <a:t>02  |  Prerequisites for SQL Server on Azure Arc</a:t>
            </a:r>
          </a:p>
        </p:txBody>
      </p:sp>
      <p:sp>
        <p:nvSpPr>
          <p:cNvPr id="3" name="TextBox 2"/>
          <p:cNvSpPr txBox="1"/>
          <p:nvPr/>
        </p:nvSpPr>
        <p:spPr>
          <a:xfrm>
            <a:off x="612648" y="1133856"/>
            <a:ext cx="10981944" cy="457200"/>
          </a:xfrm>
          <a:prstGeom prst="rect">
            <a:avLst/>
          </a:prstGeom>
          <a:noFill/>
        </p:spPr>
        <p:txBody>
          <a:bodyPr wrap="square" anchor="t" lIns="0" rIns="0" tIns="0" bIns="0">
            <a:spAutoFit/>
          </a:bodyPr>
          <a:lstStyle/>
          <a:p>
            <a:pPr algn="l"/>
            <a:r>
              <a:rPr sz="1700" b="0" i="0">
                <a:solidFill>
                  <a:srgbClr val="545460"/>
                </a:solidFill>
                <a:latin typeface="Segoe UI"/>
              </a:rPr>
              <a:t>Check these before onboarding the first EC2 instance. Most failures trace back to one of them.</a:t>
            </a:r>
          </a:p>
        </p:txBody>
      </p:sp>
      <p:sp>
        <p:nvSpPr>
          <p:cNvPr id="4" name="TextBox 3"/>
          <p:cNvSpPr txBox="1"/>
          <p:nvPr/>
        </p:nvSpPr>
        <p:spPr>
          <a:xfrm>
            <a:off x="585216" y="6537960"/>
            <a:ext cx="5330952" cy="182880"/>
          </a:xfrm>
          <a:prstGeom prst="rect">
            <a:avLst/>
          </a:prstGeom>
          <a:noFill/>
        </p:spPr>
        <p:txBody>
          <a:bodyPr wrap="square" anchor="t" lIns="0" rIns="0" tIns="0" bIns="0">
            <a:spAutoFit/>
          </a:bodyPr>
          <a:lstStyle/>
          <a:p>
            <a:pPr algn="l"/>
            <a:r>
              <a:rPr sz="900" b="0" i="0">
                <a:solidFill>
                  <a:srgbClr val="545460"/>
                </a:solidFill>
                <a:latin typeface="Segoe UI"/>
              </a:rPr>
              <a:t>SQL SERVER ON AWS  /  OCTOBER 2026</a:t>
            </a:r>
          </a:p>
        </p:txBody>
      </p:sp>
      <p:sp>
        <p:nvSpPr>
          <p:cNvPr id="5" name="TextBox 4"/>
          <p:cNvSpPr txBox="1"/>
          <p:nvPr/>
        </p:nvSpPr>
        <p:spPr>
          <a:xfrm>
            <a:off x="11164824" y="6492240"/>
            <a:ext cx="475488" cy="256032"/>
          </a:xfrm>
          <a:prstGeom prst="rect">
            <a:avLst/>
          </a:prstGeom>
          <a:noFill/>
        </p:spPr>
        <p:txBody>
          <a:bodyPr wrap="square" anchor="t" lIns="0" rIns="0" tIns="0" bIns="0">
            <a:spAutoFit/>
          </a:bodyPr>
          <a:lstStyle/>
          <a:p>
            <a:pPr algn="r"/>
            <a:r>
              <a:rPr sz="1000" b="0" i="0">
                <a:solidFill>
                  <a:srgbClr val="545460"/>
                </a:solidFill>
                <a:latin typeface="Segoe UI"/>
              </a:rPr>
              <a:t>04</a:t>
            </a:r>
          </a:p>
        </p:txBody>
      </p:sp>
      <p:sp>
        <p:nvSpPr>
          <p:cNvPr id="6" name="Prereq card 6"/>
          <p:cNvSpPr/>
          <p:nvPr/>
        </p:nvSpPr>
        <p:spPr>
          <a:xfrm>
            <a:off x="585216" y="1591056"/>
            <a:ext cx="5404104" cy="2084832"/>
          </a:xfrm>
          <a:prstGeom prst="roundRect">
            <a:avLst>
              <a:gd name="adj" fmla="val 5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7" name="Card number 7"/>
          <p:cNvSpPr/>
          <p:nvPr/>
        </p:nvSpPr>
        <p:spPr>
          <a:xfrm>
            <a:off x="768096" y="1746504"/>
            <a:ext cx="310896" cy="310896"/>
          </a:xfrm>
          <a:prstGeom prst="ellipse">
            <a:avLst/>
          </a:prstGeom>
          <a:solidFill>
            <a:srgbClr val="0078D4"/>
          </a:solidFill>
          <a:ln>
            <a:noFill/>
          </a:ln>
          <a:effectLst/>
        </p:spPr>
        <p:txBody>
          <a:bodyPr wrap="square" lIns="0" tIns="0" rIns="0" bIns="0" anchor="ctr" rtlCol="0">
            <a:noAutofit/>
          </a:bodyPr>
          <a:lstStyle/>
          <a:p>
            <a:pPr algn="ctr">
              <a:buNone/>
            </a:pPr>
            <a:r>
              <a:rPr lang="en-US" sz="1200" b="1" i="0" dirty="0">
                <a:solidFill>
                  <a:srgbClr val="FFFFFF"/>
                </a:solidFill>
                <a:latin typeface="Segoe UI"/>
                <a:cs typeface="Segoe UI"/>
              </a:rPr>
              <a:t xml:space="preserve">1</a:t>
            </a:r>
          </a:p>
        </p:txBody>
      </p:sp>
      <p:sp>
        <p:nvSpPr>
          <p:cNvPr id="8" name="Card title 8"/>
          <p:cNvSpPr/>
          <p:nvPr/>
        </p:nvSpPr>
        <p:spPr>
          <a:xfrm>
            <a:off x="1188720" y="1728216"/>
            <a:ext cx="4617720" cy="347472"/>
          </a:xfrm>
          <a:prstGeom prst="rect">
            <a:avLst/>
          </a:prstGeom>
          <a:noFill/>
          <a:ln>
            <a:noFill/>
          </a:ln>
          <a:effectLst/>
        </p:spPr>
        <p:txBody>
          <a:bodyPr wrap="square" lIns="0" tIns="0" rIns="0" bIns="0" anchor="ctr" rtlCol="0">
            <a:noAutofit/>
          </a:bodyPr>
          <a:lstStyle/>
          <a:p>
            <a:pPr algn="l">
              <a:buNone/>
            </a:pPr>
            <a:r>
              <a:rPr lang="en-US" sz="1400" b="1" i="0" dirty="0">
                <a:solidFill>
                  <a:srgbClr val="0078D4"/>
                </a:solidFill>
                <a:latin typeface="Segoe UI"/>
                <a:cs typeface="Segoe UI"/>
              </a:rPr>
              <a:t xml:space="preserve">Azure subscription and access</a:t>
            </a:r>
          </a:p>
        </p:txBody>
      </p:sp>
      <p:sp>
        <p:nvSpPr>
          <p:cNvPr id="9" name="Card body 9"/>
          <p:cNvSpPr/>
          <p:nvPr/>
        </p:nvSpPr>
        <p:spPr>
          <a:xfrm>
            <a:off x="804672" y="2157984"/>
            <a:ext cx="5001768" cy="1426464"/>
          </a:xfrm>
          <a:prstGeom prst="rect">
            <a:avLst/>
          </a:prstGeom>
          <a:noFill/>
          <a:ln>
            <a:noFill/>
          </a:ln>
          <a:effectLst/>
        </p:spPr>
        <p:txBody>
          <a:bodyPr wrap="square" lIns="0" tIns="0" rIns="0" bIns="0" anchor="t" rtlCol="0">
            <a:noAutofit/>
          </a:bodyPr>
          <a:lstStyle/>
          <a:p>
            <a:pPr marL="155448" indent="-155448" algn="l">
              <a:spcAft>
                <a:spcPts val="200"/>
              </a:spcAft>
              <a:buClr>
                <a:srgbClr val="0078D4"/>
              </a:buClr>
              <a:buFont typeface="Arial"/>
              <a:buChar char="•"/>
            </a:pPr>
            <a:r>
              <a:rPr lang="en-US" sz="1000" b="1" i="0" dirty="0">
                <a:solidFill>
                  <a:srgbClr val="202020"/>
                </a:solidFill>
                <a:latin typeface="Segoe UI"/>
                <a:cs typeface="Segoe UI"/>
              </a:rPr>
              <a:t xml:space="preserve">Resource providers: </a:t>
            </a:r>
            <a:r>
              <a:rPr lang="en-US" sz="950" b="0" i="0" dirty="0">
                <a:solidFill>
                  <a:srgbClr val="1F3A5F"/>
                </a:solidFill>
                <a:latin typeface="Consolas"/>
                <a:cs typeface="Consolas"/>
              </a:rPr>
              <a:t xml:space="preserve">Microsoft.HybridCompute</a:t>
            </a:r>
            <a:r>
              <a:rPr lang="en-US" sz="1000" b="0" i="0" dirty="0">
                <a:solidFill>
                  <a:srgbClr val="202020"/>
                </a:solidFill>
                <a:latin typeface="Segoe UI"/>
                <a:cs typeface="Segoe UI"/>
              </a:rPr>
              <a:t xml:space="preserve"> and </a:t>
            </a:r>
            <a:r>
              <a:rPr lang="en-US" sz="950" b="0" i="0" dirty="0">
                <a:solidFill>
                  <a:srgbClr val="1F3A5F"/>
                </a:solidFill>
                <a:latin typeface="Consolas"/>
                <a:cs typeface="Consolas"/>
              </a:rPr>
              <a:t xml:space="preserve">Microsoft.AzureArcData</a:t>
            </a:r>
            <a:r>
              <a:rPr lang="en-US" sz="1000" b="0" i="0" dirty="0">
                <a:solidFill>
                  <a:srgbClr val="202020"/>
                </a:solidFill>
                <a:latin typeface="Segoe UI"/>
                <a:cs typeface="Segoe UI"/>
              </a:rPr>
              <a:t xml:space="preserve"> registered.</a:t>
            </a:r>
          </a:p>
          <a:p>
            <a:pPr marL="155448" indent="-155448" algn="l">
              <a:spcAft>
                <a:spcPts val="200"/>
              </a:spcAft>
              <a:buClr>
                <a:srgbClr val="0078D4"/>
              </a:buClr>
              <a:buFont typeface="Arial"/>
              <a:buChar char="•"/>
            </a:pPr>
            <a:r>
              <a:rPr lang="en-US" sz="1000" b="1" i="0" dirty="0">
                <a:solidFill>
                  <a:srgbClr val="202020"/>
                </a:solidFill>
                <a:latin typeface="Segoe UI"/>
                <a:cs typeface="Segoe UI"/>
              </a:rPr>
              <a:t xml:space="preserve">Region: </a:t>
            </a:r>
            <a:r>
              <a:rPr lang="en-US" sz="1000" b="0" i="0" dirty="0">
                <a:solidFill>
                  <a:srgbClr val="202020"/>
                </a:solidFill>
                <a:latin typeface="Segoe UI"/>
                <a:cs typeface="Segoe UI"/>
              </a:rPr>
              <a:t xml:space="preserve">a supported region (e.g. West US), the same for the Arc server and its SQL instance.</a:t>
            </a:r>
          </a:p>
          <a:p>
            <a:pPr marL="155448" indent="-155448" algn="l">
              <a:spcAft>
                <a:spcPts val="200"/>
              </a:spcAft>
              <a:buClr>
                <a:srgbClr val="0078D4"/>
              </a:buClr>
              <a:buFont typeface="Arial"/>
              <a:buChar char="•"/>
            </a:pPr>
            <a:r>
              <a:rPr lang="en-US" sz="1000" b="1" i="0" dirty="0">
                <a:solidFill>
                  <a:srgbClr val="202020"/>
                </a:solidFill>
                <a:latin typeface="Segoe UI"/>
                <a:cs typeface="Segoe UI"/>
              </a:rPr>
              <a:t xml:space="preserve">Onboarding identity: </a:t>
            </a:r>
            <a:r>
              <a:rPr lang="en-US" sz="1000" b="0" i="0" dirty="0">
                <a:solidFill>
                  <a:srgbClr val="202020"/>
                </a:solidFill>
                <a:latin typeface="Segoe UI"/>
                <a:cs typeface="Segoe UI"/>
              </a:rPr>
              <a:t xml:space="preserve">Azure Connected Machine Onboarding plus AzureArcData register and extension read/write on the resource group (or Contributor); Read on the subscription.</a:t>
            </a:r>
          </a:p>
          <a:p>
            <a:pPr marL="155448" indent="-155448" algn="l">
              <a:spcAft>
                <a:spcPts val="200"/>
              </a:spcAft>
              <a:buClr>
                <a:srgbClr val="0078D4"/>
              </a:buClr>
              <a:buFont typeface="Arial"/>
              <a:buChar char="•"/>
            </a:pPr>
            <a:r>
              <a:rPr lang="en-US" sz="1000" b="1" i="0" dirty="0">
                <a:solidFill>
                  <a:srgbClr val="202020"/>
                </a:solidFill>
                <a:latin typeface="Segoe UI"/>
                <a:cs typeface="Segoe UI"/>
              </a:rPr>
              <a:t xml:space="preserve">Scale: </a:t>
            </a:r>
            <a:r>
              <a:rPr lang="en-US" sz="1000" b="0" i="0" dirty="0">
                <a:solidFill>
                  <a:srgbClr val="202020"/>
                </a:solidFill>
                <a:latin typeface="Segoe UI"/>
                <a:cs typeface="Segoe UI"/>
              </a:rPr>
              <a:t xml:space="preserve">check subscription and resource-group limits for hundreds of machines.</a:t>
            </a:r>
          </a:p>
        </p:txBody>
      </p:sp>
      <p:sp>
        <p:nvSpPr>
          <p:cNvPr id="10" name="Prereq card 10"/>
          <p:cNvSpPr/>
          <p:nvPr/>
        </p:nvSpPr>
        <p:spPr>
          <a:xfrm>
            <a:off x="6208776" y="1591056"/>
            <a:ext cx="5404104" cy="2084832"/>
          </a:xfrm>
          <a:prstGeom prst="roundRect">
            <a:avLst>
              <a:gd name="adj" fmla="val 5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11" name="Card number 11"/>
          <p:cNvSpPr/>
          <p:nvPr/>
        </p:nvSpPr>
        <p:spPr>
          <a:xfrm>
            <a:off x="6391656" y="1746504"/>
            <a:ext cx="310896" cy="310896"/>
          </a:xfrm>
          <a:prstGeom prst="ellipse">
            <a:avLst/>
          </a:prstGeom>
          <a:solidFill>
            <a:srgbClr val="8055C8"/>
          </a:solidFill>
          <a:ln>
            <a:noFill/>
          </a:ln>
          <a:effectLst/>
        </p:spPr>
        <p:txBody>
          <a:bodyPr wrap="square" lIns="0" tIns="0" rIns="0" bIns="0" anchor="ctr" rtlCol="0">
            <a:noAutofit/>
          </a:bodyPr>
          <a:lstStyle/>
          <a:p>
            <a:pPr algn="ctr">
              <a:buNone/>
            </a:pPr>
            <a:r>
              <a:rPr lang="en-US" sz="1200" b="1" i="0" dirty="0">
                <a:solidFill>
                  <a:srgbClr val="FFFFFF"/>
                </a:solidFill>
                <a:latin typeface="Segoe UI"/>
                <a:cs typeface="Segoe UI"/>
              </a:rPr>
              <a:t xml:space="preserve">2</a:t>
            </a:r>
          </a:p>
        </p:txBody>
      </p:sp>
      <p:sp>
        <p:nvSpPr>
          <p:cNvPr id="12" name="Card title 12"/>
          <p:cNvSpPr/>
          <p:nvPr/>
        </p:nvSpPr>
        <p:spPr>
          <a:xfrm>
            <a:off x="6812280" y="1728216"/>
            <a:ext cx="4617720" cy="347472"/>
          </a:xfrm>
          <a:prstGeom prst="rect">
            <a:avLst/>
          </a:prstGeom>
          <a:noFill/>
          <a:ln>
            <a:noFill/>
          </a:ln>
          <a:effectLst/>
        </p:spPr>
        <p:txBody>
          <a:bodyPr wrap="square" lIns="0" tIns="0" rIns="0" bIns="0" anchor="ctr" rtlCol="0">
            <a:noAutofit/>
          </a:bodyPr>
          <a:lstStyle/>
          <a:p>
            <a:pPr algn="l">
              <a:buNone/>
            </a:pPr>
            <a:r>
              <a:rPr lang="en-US" sz="1400" b="1" i="0" dirty="0">
                <a:solidFill>
                  <a:srgbClr val="8055C8"/>
                </a:solidFill>
                <a:latin typeface="Segoe UI"/>
                <a:cs typeface="Segoe UI"/>
              </a:rPr>
              <a:t xml:space="preserve">AWS account and EC2 instances</a:t>
            </a:r>
          </a:p>
        </p:txBody>
      </p:sp>
      <p:sp>
        <p:nvSpPr>
          <p:cNvPr id="13" name="Card body 13"/>
          <p:cNvSpPr/>
          <p:nvPr/>
        </p:nvSpPr>
        <p:spPr>
          <a:xfrm>
            <a:off x="6428232" y="2157984"/>
            <a:ext cx="5001768" cy="1426464"/>
          </a:xfrm>
          <a:prstGeom prst="rect">
            <a:avLst/>
          </a:prstGeom>
          <a:noFill/>
          <a:ln>
            <a:noFill/>
          </a:ln>
          <a:effectLst/>
        </p:spPr>
        <p:txBody>
          <a:bodyPr wrap="square" lIns="0" tIns="0" rIns="0" bIns="0" anchor="t" rtlCol="0">
            <a:noAutofit/>
          </a:bodyPr>
          <a:lstStyle/>
          <a:p>
            <a:pPr marL="155448" indent="-155448" algn="l">
              <a:spcAft>
                <a:spcPts val="200"/>
              </a:spcAft>
              <a:buClr>
                <a:srgbClr val="8055C8"/>
              </a:buClr>
              <a:buFont typeface="Arial"/>
              <a:buChar char="•"/>
            </a:pPr>
            <a:r>
              <a:rPr lang="en-US" sz="1000" b="1" i="0" dirty="0">
                <a:solidFill>
                  <a:srgbClr val="202020"/>
                </a:solidFill>
                <a:latin typeface="Segoe UI"/>
                <a:cs typeface="Segoe UI"/>
              </a:rPr>
              <a:t xml:space="preserve">Scope: </a:t>
            </a:r>
            <a:r>
              <a:rPr lang="en-US" sz="1000" b="0" i="0" dirty="0">
                <a:solidFill>
                  <a:srgbClr val="202020"/>
                </a:solidFill>
                <a:latin typeface="Segoe UI"/>
                <a:cs typeface="Segoe UI"/>
              </a:rPr>
              <a:t xml:space="preserve">SQL Server on EC2 or VMware Cloud on AWS; not Amazon RDS (no OS access).</a:t>
            </a:r>
          </a:p>
          <a:p>
            <a:pPr marL="155448" indent="-155448" algn="l">
              <a:spcAft>
                <a:spcPts val="200"/>
              </a:spcAft>
              <a:buClr>
                <a:srgbClr val="8055C8"/>
              </a:buClr>
              <a:buFont typeface="Arial"/>
              <a:buChar char="•"/>
            </a:pPr>
            <a:r>
              <a:rPr lang="en-US" sz="1000" b="1" i="0" dirty="0">
                <a:solidFill>
                  <a:srgbClr val="202020"/>
                </a:solidFill>
                <a:latin typeface="Segoe UI"/>
                <a:cs typeface="Segoe UI"/>
              </a:rPr>
              <a:t xml:space="preserve">Multicloud connector: </a:t>
            </a:r>
            <a:r>
              <a:rPr lang="en-US" sz="1000" b="0" i="0" dirty="0">
                <a:solidFill>
                  <a:srgbClr val="202020"/>
                </a:solidFill>
                <a:latin typeface="Segoe UI"/>
                <a:cs typeface="Segoe UI"/>
              </a:rPr>
              <a:t xml:space="preserve">CloudFormation template; setup needs AmazonEC2FullAccess.</a:t>
            </a:r>
          </a:p>
          <a:p>
            <a:pPr marL="155448" indent="-155448" algn="l">
              <a:spcAft>
                <a:spcPts val="200"/>
              </a:spcAft>
              <a:buClr>
                <a:srgbClr val="8055C8"/>
              </a:buClr>
              <a:buFont typeface="Arial"/>
              <a:buChar char="•"/>
            </a:pPr>
            <a:r>
              <a:rPr lang="en-US" sz="1000" b="1" i="0" dirty="0">
                <a:solidFill>
                  <a:srgbClr val="202020"/>
                </a:solidFill>
                <a:latin typeface="Segoe UI"/>
                <a:cs typeface="Segoe UI"/>
              </a:rPr>
              <a:t xml:space="preserve">SSM agent </a:t>
            </a:r>
            <a:r>
              <a:rPr lang="en-US" sz="1000" b="0" i="0" dirty="0">
                <a:solidFill>
                  <a:srgbClr val="202020"/>
                </a:solidFill>
                <a:latin typeface="Segoe UI"/>
                <a:cs typeface="Segoe UI"/>
              </a:rPr>
              <a:t xml:space="preserve">running with the </a:t>
            </a:r>
            <a:r>
              <a:rPr lang="en-US" sz="950" b="0" i="0" dirty="0">
                <a:solidFill>
                  <a:srgbClr val="1F3A5F"/>
                </a:solidFill>
                <a:latin typeface="Consolas"/>
                <a:cs typeface="Consolas"/>
              </a:rPr>
              <a:t xml:space="preserve">ArcForServerSSMRole</a:t>
            </a:r>
            <a:r>
              <a:rPr lang="en-US" sz="1000" b="0" i="0" dirty="0">
                <a:solidFill>
                  <a:srgbClr val="202020"/>
                </a:solidFill>
                <a:latin typeface="Segoe UI"/>
                <a:cs typeface="Segoe UI"/>
              </a:rPr>
              <a:t xml:space="preserve"> IAM role.</a:t>
            </a:r>
          </a:p>
          <a:p>
            <a:pPr marL="155448" indent="-155448" algn="l">
              <a:spcAft>
                <a:spcPts val="200"/>
              </a:spcAft>
              <a:buClr>
                <a:srgbClr val="8055C8"/>
              </a:buClr>
              <a:buFont typeface="Arial"/>
              <a:buChar char="•"/>
            </a:pPr>
            <a:r>
              <a:rPr lang="en-US" sz="1000" b="1" i="0" dirty="0">
                <a:solidFill>
                  <a:srgbClr val="202020"/>
                </a:solidFill>
                <a:latin typeface="Segoe UI"/>
                <a:cs typeface="Segoe UI"/>
              </a:rPr>
              <a:t xml:space="preserve">Clean instances: </a:t>
            </a:r>
            <a:r>
              <a:rPr lang="en-US" sz="1000" b="0" i="0" dirty="0">
                <a:solidFill>
                  <a:srgbClr val="202020"/>
                </a:solidFill>
                <a:latin typeface="Segoe UI"/>
                <a:cs typeface="Segoe UI"/>
              </a:rPr>
              <a:t xml:space="preserve">no existing Arc agent; not part of a sysprep image.</a:t>
            </a:r>
          </a:p>
          <a:p>
            <a:pPr marL="155448" indent="-155448" algn="l">
              <a:spcAft>
                <a:spcPts val="200"/>
              </a:spcAft>
              <a:buClr>
                <a:srgbClr val="8055C8"/>
              </a:buClr>
              <a:buFont typeface="Arial"/>
              <a:buChar char="•"/>
            </a:pPr>
            <a:r>
              <a:rPr lang="en-US" sz="1000" b="1" i="0" dirty="0">
                <a:solidFill>
                  <a:srgbClr val="202020"/>
                </a:solidFill>
                <a:latin typeface="Segoe UI"/>
                <a:cs typeface="Segoe UI"/>
              </a:rPr>
              <a:t xml:space="preserve">License type: </a:t>
            </a:r>
            <a:r>
              <a:rPr lang="en-US" sz="1000" b="0" i="0" dirty="0">
                <a:solidFill>
                  <a:srgbClr val="202020"/>
                </a:solidFill>
                <a:latin typeface="Segoe UI"/>
                <a:cs typeface="Segoe UI"/>
              </a:rPr>
              <a:t xml:space="preserve">License only if SQL is license-included; Paid for BYOL with SA; never PAYG.</a:t>
            </a:r>
          </a:p>
        </p:txBody>
      </p:sp>
      <p:sp>
        <p:nvSpPr>
          <p:cNvPr id="14" name="Prereq card 14"/>
          <p:cNvSpPr/>
          <p:nvPr/>
        </p:nvSpPr>
        <p:spPr>
          <a:xfrm>
            <a:off x="585216" y="3895344"/>
            <a:ext cx="5404104" cy="2084832"/>
          </a:xfrm>
          <a:prstGeom prst="roundRect">
            <a:avLst>
              <a:gd name="adj" fmla="val 5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15" name="Card number 15"/>
          <p:cNvSpPr/>
          <p:nvPr/>
        </p:nvSpPr>
        <p:spPr>
          <a:xfrm>
            <a:off x="768096" y="4050792"/>
            <a:ext cx="310896" cy="310896"/>
          </a:xfrm>
          <a:prstGeom prst="ellipse">
            <a:avLst/>
          </a:prstGeom>
          <a:solidFill>
            <a:srgbClr val="008F99"/>
          </a:solidFill>
          <a:ln>
            <a:noFill/>
          </a:ln>
          <a:effectLst/>
        </p:spPr>
        <p:txBody>
          <a:bodyPr wrap="square" lIns="0" tIns="0" rIns="0" bIns="0" anchor="ctr" rtlCol="0">
            <a:noAutofit/>
          </a:bodyPr>
          <a:lstStyle/>
          <a:p>
            <a:pPr algn="ctr">
              <a:buNone/>
            </a:pPr>
            <a:r>
              <a:rPr lang="en-US" sz="1200" b="1" i="0" dirty="0">
                <a:solidFill>
                  <a:srgbClr val="FFFFFF"/>
                </a:solidFill>
                <a:latin typeface="Segoe UI"/>
                <a:cs typeface="Segoe UI"/>
              </a:rPr>
              <a:t xml:space="preserve">3</a:t>
            </a:r>
          </a:p>
        </p:txBody>
      </p:sp>
      <p:sp>
        <p:nvSpPr>
          <p:cNvPr id="16" name="Card title 16"/>
          <p:cNvSpPr/>
          <p:nvPr/>
        </p:nvSpPr>
        <p:spPr>
          <a:xfrm>
            <a:off x="1188720" y="4032504"/>
            <a:ext cx="4617720" cy="347472"/>
          </a:xfrm>
          <a:prstGeom prst="rect">
            <a:avLst/>
          </a:prstGeom>
          <a:noFill/>
          <a:ln>
            <a:noFill/>
          </a:ln>
          <a:effectLst/>
        </p:spPr>
        <p:txBody>
          <a:bodyPr wrap="square" lIns="0" tIns="0" rIns="0" bIns="0" anchor="ctr" rtlCol="0">
            <a:noAutofit/>
          </a:bodyPr>
          <a:lstStyle/>
          <a:p>
            <a:pPr algn="l">
              <a:buNone/>
            </a:pPr>
            <a:r>
              <a:rPr lang="en-US" sz="1400" b="1" i="0" dirty="0">
                <a:solidFill>
                  <a:srgbClr val="008F99"/>
                </a:solidFill>
                <a:latin typeface="Segoe UI"/>
                <a:cs typeface="Segoe UI"/>
              </a:rPr>
              <a:t xml:space="preserve">Windows and SQL Server</a:t>
            </a:r>
          </a:p>
        </p:txBody>
      </p:sp>
      <p:sp>
        <p:nvSpPr>
          <p:cNvPr id="17" name="Card body 17"/>
          <p:cNvSpPr/>
          <p:nvPr/>
        </p:nvSpPr>
        <p:spPr>
          <a:xfrm>
            <a:off x="804672" y="4462272"/>
            <a:ext cx="5001768" cy="1426464"/>
          </a:xfrm>
          <a:prstGeom prst="rect">
            <a:avLst/>
          </a:prstGeom>
          <a:noFill/>
          <a:ln>
            <a:noFill/>
          </a:ln>
          <a:effectLst/>
        </p:spPr>
        <p:txBody>
          <a:bodyPr wrap="square" lIns="0" tIns="0" rIns="0" bIns="0" anchor="t" rtlCol="0">
            <a:noAutofit/>
          </a:bodyPr>
          <a:lstStyle/>
          <a:p>
            <a:pPr marL="155448" indent="-155448" algn="l">
              <a:spcAft>
                <a:spcPts val="200"/>
              </a:spcAft>
              <a:buClr>
                <a:srgbClr val="008F99"/>
              </a:buClr>
              <a:buFont typeface="Arial"/>
              <a:buChar char="•"/>
            </a:pPr>
            <a:r>
              <a:rPr lang="en-US" sz="1000" b="1" i="0" dirty="0">
                <a:solidFill>
                  <a:srgbClr val="202020"/>
                </a:solidFill>
                <a:latin typeface="Segoe UI"/>
                <a:cs typeface="Segoe UI"/>
              </a:rPr>
              <a:t xml:space="preserve">OS: </a:t>
            </a:r>
            <a:r>
              <a:rPr lang="en-US" sz="1000" b="0" i="0" dirty="0">
                <a:solidFill>
                  <a:srgbClr val="202020"/>
                </a:solidFill>
                <a:latin typeface="Segoe UI"/>
                <a:cs typeface="Segoe UI"/>
              </a:rPr>
              <a:t xml:space="preserve">Windows Server 2016+ (TLS 1.2), .NET Framework 4.7.2+; local admin to install; agent in full mode.</a:t>
            </a:r>
          </a:p>
          <a:p>
            <a:pPr marL="155448" indent="-155448" algn="l">
              <a:spcAft>
                <a:spcPts val="200"/>
              </a:spcAft>
              <a:buClr>
                <a:srgbClr val="008F99"/>
              </a:buClr>
              <a:buFont typeface="Arial"/>
              <a:buChar char="•"/>
            </a:pPr>
            <a:r>
              <a:rPr lang="en-US" sz="1000" b="1" i="0" dirty="0">
                <a:solidFill>
                  <a:srgbClr val="202020"/>
                </a:solidFill>
                <a:latin typeface="Segoe UI"/>
                <a:cs typeface="Segoe UI"/>
              </a:rPr>
              <a:t xml:space="preserve">SQL Server: </a:t>
            </a:r>
            <a:r>
              <a:rPr lang="en-US" sz="1000" b="0" i="0" dirty="0">
                <a:solidFill>
                  <a:srgbClr val="202020"/>
                </a:solidFill>
                <a:latin typeface="Segoe UI"/>
                <a:cs typeface="Segoe UI"/>
              </a:rPr>
              <a:t xml:space="preserve">2014 or later, 64-bit; not BI edition; no # in instance names.</a:t>
            </a:r>
          </a:p>
          <a:p>
            <a:pPr marL="155448" indent="-155448" algn="l">
              <a:spcAft>
                <a:spcPts val="200"/>
              </a:spcAft>
              <a:buClr>
                <a:srgbClr val="008F99"/>
              </a:buClr>
              <a:buFont typeface="Arial"/>
              <a:buChar char="•"/>
            </a:pPr>
            <a:r>
              <a:rPr lang="en-US" sz="1000" b="1" i="0" dirty="0">
                <a:solidFill>
                  <a:srgbClr val="202020"/>
                </a:solidFill>
                <a:latin typeface="Segoe UI"/>
                <a:cs typeface="Segoe UI"/>
              </a:rPr>
              <a:t xml:space="preserve">Logins: </a:t>
            </a:r>
            <a:r>
              <a:rPr lang="en-US" sz="1000" b="0" i="0" dirty="0">
                <a:solidFill>
                  <a:srgbClr val="202020"/>
                </a:solidFill>
                <a:latin typeface="Segoe UI"/>
                <a:cs typeface="Segoe UI"/>
              </a:rPr>
              <a:t xml:space="preserve">service account in sysadmin; </a:t>
            </a:r>
            <a:r>
              <a:rPr lang="en-US" sz="950" b="0" i="0" dirty="0">
                <a:solidFill>
                  <a:srgbClr val="1F3A5F"/>
                </a:solidFill>
                <a:latin typeface="Consolas"/>
                <a:cs typeface="Consolas"/>
              </a:rPr>
              <a:t xml:space="preserve">NT AUTHORITY\SYSTEM</a:t>
            </a:r>
            <a:r>
              <a:rPr lang="en-US" sz="1000" b="0" i="0" dirty="0">
                <a:solidFill>
                  <a:srgbClr val="202020"/>
                </a:solidFill>
                <a:latin typeface="Segoe UI"/>
                <a:cs typeface="Segoe UI"/>
              </a:rPr>
              <a:t xml:space="preserve"> enabled with CONNECT SQL.</a:t>
            </a:r>
          </a:p>
          <a:p>
            <a:pPr marL="155448" indent="-155448" algn="l">
              <a:spcAft>
                <a:spcPts val="200"/>
              </a:spcAft>
              <a:buClr>
                <a:srgbClr val="008F99"/>
              </a:buClr>
              <a:buFont typeface="Arial"/>
              <a:buChar char="•"/>
            </a:pPr>
            <a:r>
              <a:rPr lang="en-US" sz="1000" b="1" i="0" dirty="0">
                <a:solidFill>
                  <a:srgbClr val="202020"/>
                </a:solidFill>
                <a:latin typeface="Segoe UI"/>
                <a:cs typeface="Segoe UI"/>
              </a:rPr>
              <a:t xml:space="preserve">Databases and AGs: </a:t>
            </a:r>
            <a:r>
              <a:rPr lang="en-US" sz="1000" b="0" i="0" dirty="0">
                <a:solidFill>
                  <a:srgbClr val="202020"/>
                </a:solidFill>
                <a:latin typeface="Segoe UI"/>
                <a:cs typeface="Segoe UI"/>
              </a:rPr>
              <a:t xml:space="preserve">databases online and read-write. No AG replica on a failover cluster instance; check </a:t>
            </a:r>
            <a:r>
              <a:rPr lang="en-US" sz="950" b="0" i="0" dirty="0">
                <a:solidFill>
                  <a:srgbClr val="1F3A5F"/>
                </a:solidFill>
                <a:latin typeface="Consolas"/>
                <a:cs typeface="Consolas"/>
              </a:rPr>
              <a:t xml:space="preserve">SERVERPROPERTY('IsClustered')</a:t>
            </a:r>
            <a:r>
              <a:rPr lang="en-US" sz="1000" b="0" i="0" dirty="0">
                <a:solidFill>
                  <a:srgbClr val="202020"/>
                </a:solidFill>
                <a:latin typeface="Segoe UI"/>
                <a:cs typeface="Segoe UI"/>
              </a:rPr>
              <a:t xml:space="preserve">.</a:t>
            </a:r>
          </a:p>
        </p:txBody>
      </p:sp>
      <p:sp>
        <p:nvSpPr>
          <p:cNvPr id="18" name="Prereq card 18"/>
          <p:cNvSpPr/>
          <p:nvPr/>
        </p:nvSpPr>
        <p:spPr>
          <a:xfrm>
            <a:off x="6208776" y="3895344"/>
            <a:ext cx="5404104" cy="2084832"/>
          </a:xfrm>
          <a:prstGeom prst="roundRect">
            <a:avLst>
              <a:gd name="adj" fmla="val 5000"/>
            </a:avLst>
          </a:prstGeom>
          <a:solidFill>
            <a:srgbClr val="FFFFFF"/>
          </a:solidFill>
          <a:ln w="10160">
            <a:solidFill>
              <a:srgbClr val="D5D5DD"/>
            </a:solidFill>
          </a:ln>
          <a:effectLst/>
        </p:spPr>
        <p:txBody>
          <a:bodyPr wrap="square" lIns="0" tIns="0" rIns="0" bIns="0" anchor="t" rtlCol="0">
            <a:noAutofit/>
          </a:bodyPr>
          <a:lstStyle/>
          <a:p>
            <a:endParaRPr lang="en-US" dirty="0"/>
          </a:p>
        </p:txBody>
      </p:sp>
      <p:sp>
        <p:nvSpPr>
          <p:cNvPr id="19" name="Card number 19"/>
          <p:cNvSpPr/>
          <p:nvPr/>
        </p:nvSpPr>
        <p:spPr>
          <a:xfrm>
            <a:off x="6391656" y="4050792"/>
            <a:ext cx="310896" cy="310896"/>
          </a:xfrm>
          <a:prstGeom prst="ellipse">
            <a:avLst/>
          </a:prstGeom>
          <a:solidFill>
            <a:srgbClr val="167447"/>
          </a:solidFill>
          <a:ln>
            <a:noFill/>
          </a:ln>
          <a:effectLst/>
        </p:spPr>
        <p:txBody>
          <a:bodyPr wrap="square" lIns="0" tIns="0" rIns="0" bIns="0" anchor="ctr" rtlCol="0">
            <a:noAutofit/>
          </a:bodyPr>
          <a:lstStyle/>
          <a:p>
            <a:pPr algn="ctr">
              <a:buNone/>
            </a:pPr>
            <a:r>
              <a:rPr lang="en-US" sz="1200" b="1" i="0" dirty="0">
                <a:solidFill>
                  <a:srgbClr val="FFFFFF"/>
                </a:solidFill>
                <a:latin typeface="Segoe UI"/>
                <a:cs typeface="Segoe UI"/>
              </a:rPr>
              <a:t xml:space="preserve">4</a:t>
            </a:r>
          </a:p>
        </p:txBody>
      </p:sp>
      <p:sp>
        <p:nvSpPr>
          <p:cNvPr id="20" name="Card title 20"/>
          <p:cNvSpPr/>
          <p:nvPr/>
        </p:nvSpPr>
        <p:spPr>
          <a:xfrm>
            <a:off x="6812280" y="4032504"/>
            <a:ext cx="4617720" cy="347472"/>
          </a:xfrm>
          <a:prstGeom prst="rect">
            <a:avLst/>
          </a:prstGeom>
          <a:noFill/>
          <a:ln>
            <a:noFill/>
          </a:ln>
          <a:effectLst/>
        </p:spPr>
        <p:txBody>
          <a:bodyPr wrap="square" lIns="0" tIns="0" rIns="0" bIns="0" anchor="ctr" rtlCol="0">
            <a:noAutofit/>
          </a:bodyPr>
          <a:lstStyle/>
          <a:p>
            <a:pPr algn="l">
              <a:buNone/>
            </a:pPr>
            <a:r>
              <a:rPr lang="en-US" sz="1400" b="1" i="0" dirty="0">
                <a:solidFill>
                  <a:srgbClr val="167447"/>
                </a:solidFill>
                <a:latin typeface="Segoe UI"/>
                <a:cs typeface="Segoe UI"/>
              </a:rPr>
              <a:t xml:space="preserve">Network: outbound HTTPS 443 only</a:t>
            </a:r>
          </a:p>
        </p:txBody>
      </p:sp>
      <p:sp>
        <p:nvSpPr>
          <p:cNvPr id="21" name="Card body 21"/>
          <p:cNvSpPr/>
          <p:nvPr/>
        </p:nvSpPr>
        <p:spPr>
          <a:xfrm>
            <a:off x="6428232" y="4462272"/>
            <a:ext cx="5001768" cy="1426464"/>
          </a:xfrm>
          <a:prstGeom prst="rect">
            <a:avLst/>
          </a:prstGeom>
          <a:noFill/>
          <a:ln>
            <a:noFill/>
          </a:ln>
          <a:effectLst/>
        </p:spPr>
        <p:txBody>
          <a:bodyPr wrap="square" lIns="0" tIns="0" rIns="0" bIns="0" anchor="t" rtlCol="0">
            <a:noAutofit/>
          </a:bodyPr>
          <a:lstStyle/>
          <a:p>
            <a:pPr marL="155448" indent="-155448" algn="l">
              <a:spcAft>
                <a:spcPts val="200"/>
              </a:spcAft>
              <a:buClr>
                <a:srgbClr val="167447"/>
              </a:buClr>
              <a:buFont typeface="Arial"/>
              <a:buChar char="•"/>
            </a:pPr>
            <a:r>
              <a:rPr lang="en-US" sz="1000" b="1" i="0" dirty="0">
                <a:solidFill>
                  <a:srgbClr val="202020"/>
                </a:solidFill>
                <a:latin typeface="Segoe UI"/>
                <a:cs typeface="Segoe UI"/>
              </a:rPr>
              <a:t xml:space="preserve">Arc agent: </a:t>
            </a:r>
            <a:r>
              <a:rPr lang="en-US" sz="950" b="0" i="0" dirty="0">
                <a:solidFill>
                  <a:srgbClr val="1F3A5F"/>
                </a:solidFill>
                <a:latin typeface="Consolas"/>
                <a:cs typeface="Consolas"/>
              </a:rPr>
              <a:t xml:space="preserve">login.microsoftonline.com  *.login.microsoft.com  pas.windows.net  management.azure.com  *.his.arc.azure.com  *.guestconfiguration.azure.com  *.guestnotificationservice.azure.com  *.servicebus.windows.net</a:t>
            </a:r>
          </a:p>
          <a:p>
            <a:pPr marL="155448" indent="-155448" algn="l">
              <a:spcAft>
                <a:spcPts val="200"/>
              </a:spcAft>
              <a:buClr>
                <a:srgbClr val="167447"/>
              </a:buClr>
              <a:buFont typeface="Arial"/>
              <a:buChar char="•"/>
            </a:pPr>
            <a:r>
              <a:rPr lang="en-US" sz="1000" b="1" i="0" dirty="0">
                <a:solidFill>
                  <a:srgbClr val="202020"/>
                </a:solidFill>
                <a:latin typeface="Segoe UI"/>
                <a:cs typeface="Segoe UI"/>
              </a:rPr>
              <a:t xml:space="preserve">SQL extension: </a:t>
            </a:r>
            <a:r>
              <a:rPr lang="en-US" sz="950" b="0" i="0" dirty="0">
                <a:solidFill>
                  <a:srgbClr val="1F3A5F"/>
                </a:solidFill>
                <a:latin typeface="Consolas"/>
                <a:cs typeface="Consolas"/>
              </a:rPr>
              <a:t xml:space="preserve">*.&lt;region&gt;.arcdataservices.com  aka.ms  *.web.core.windows.net</a:t>
            </a:r>
            <a:r>
              <a:rPr lang="en-US" sz="1000" b="0" i="0" dirty="0">
                <a:solidFill>
                  <a:srgbClr val="202020"/>
                </a:solidFill>
                <a:latin typeface="Segoe UI"/>
                <a:cs typeface="Segoe UI"/>
              </a:rPr>
              <a:t xml:space="preserve"> (no Private Link for arcdataservices).</a:t>
            </a:r>
          </a:p>
          <a:p>
            <a:pPr marL="155448" indent="-155448" algn="l">
              <a:spcAft>
                <a:spcPts val="200"/>
              </a:spcAft>
              <a:buClr>
                <a:srgbClr val="167447"/>
              </a:buClr>
              <a:buFont typeface="Arial"/>
              <a:buChar char="•"/>
            </a:pPr>
            <a:r>
              <a:rPr lang="en-US" sz="1000" b="1" i="0" dirty="0">
                <a:solidFill>
                  <a:srgbClr val="202020"/>
                </a:solidFill>
                <a:latin typeface="Segoe UI"/>
                <a:cs typeface="Segoe UI"/>
              </a:rPr>
              <a:t xml:space="preserve">Install: </a:t>
            </a:r>
            <a:r>
              <a:rPr lang="en-US" sz="950" b="0" i="0" dirty="0">
                <a:solidFill>
                  <a:srgbClr val="1F3A5F"/>
                </a:solidFill>
                <a:latin typeface="Consolas"/>
                <a:cs typeface="Consolas"/>
              </a:rPr>
              <a:t xml:space="preserve">download.microsoft.com</a:t>
            </a:r>
            <a:r>
              <a:rPr lang="en-US" sz="1000" b="0" i="0" dirty="0">
                <a:solidFill>
                  <a:srgbClr val="202020"/>
                </a:solidFill>
                <a:latin typeface="Segoe UI"/>
                <a:cs typeface="Segoe UI"/>
              </a:rPr>
              <a:t xml:space="preserve">. Proxy, Arc gateway or private link scope supported; no inbound ports.</a:t>
            </a:r>
          </a:p>
        </p:txBody>
      </p:sp>
      <p:sp>
        <p:nvSpPr>
          <p:cNvPr id="22" name="Sources 22"/>
          <p:cNvSpPr/>
          <p:nvPr/>
        </p:nvSpPr>
        <p:spPr>
          <a:xfrm>
            <a:off x="603504" y="6071616"/>
            <a:ext cx="10972800" cy="201168"/>
          </a:xfrm>
          <a:prstGeom prst="rect">
            <a:avLst/>
          </a:prstGeom>
          <a:noFill/>
          <a:ln>
            <a:noFill/>
          </a:ln>
          <a:effectLst/>
        </p:spPr>
        <p:txBody>
          <a:bodyPr wrap="square" lIns="0" tIns="0" rIns="0" bIns="0" anchor="t" rtlCol="0">
            <a:noAutofit/>
          </a:bodyPr>
          <a:lstStyle/>
          <a:p>
            <a:pPr algn="l">
              <a:buNone/>
            </a:pPr>
            <a:r>
              <a:rPr lang="en-US" sz="850" b="1" i="0" dirty="0">
                <a:solidFill>
                  <a:srgbClr val="545460"/>
                </a:solidFill>
                <a:latin typeface="Segoe UI"/>
                <a:cs typeface="Segoe UI"/>
              </a:rPr>
              <a:t xml:space="preserve">Sources: </a:t>
            </a:r>
            <a:r>
              <a:rPr lang="en-US" sz="850" b="0" i="0" dirty="0">
                <a:solidFill>
                  <a:srgbClr val="545460"/>
                </a:solidFill>
                <a:latin typeface="Segoe UI"/>
                <a:cs typeface="Segoe UI"/>
              </a:rPr>
              <a:t xml:space="preserve">[1] </a:t>
            </a:r>
            <a:r>
              <a:rPr lang="en-US" sz="850" b="0" i="0" dirty="0">
                <a:solidFill>
                  <a:srgbClr val="0067B8"/>
                </a:solidFill>
                <a:latin typeface="Segoe UI"/>
                <a:cs typeface="Segoe UI"/>
                <a:hlinkClick r:id="rId2"/>
              </a:rPr>
              <a:t xml:space="preserve">SQL Server enabled by Arc prerequisites</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[2] </a:t>
            </a:r>
            <a:r>
              <a:rPr lang="en-US" sz="850" b="0" i="0" dirty="0">
                <a:solidFill>
                  <a:srgbClr val="0067B8"/>
                </a:solidFill>
                <a:latin typeface="Segoe UI"/>
                <a:cs typeface="Segoe UI"/>
                <a:hlinkClick r:id="rId3"/>
              </a:rPr>
              <a:t xml:space="preserve">Connected Machine agent prerequisites</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[3] </a:t>
            </a:r>
            <a:r>
              <a:rPr lang="en-US" sz="850" b="0" i="0" dirty="0">
                <a:solidFill>
                  <a:srgbClr val="0067B8"/>
                </a:solidFill>
                <a:latin typeface="Segoe UI"/>
                <a:cs typeface="Segoe UI"/>
                <a:hlinkClick r:id="rId4"/>
              </a:rPr>
              <a:t xml:space="preserve">Agent network requirements</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[4] </a:t>
            </a:r>
            <a:r>
              <a:rPr lang="en-US" sz="850" b="0" i="0" dirty="0">
                <a:solidFill>
                  <a:srgbClr val="0067B8"/>
                </a:solidFill>
                <a:latin typeface="Segoe UI"/>
                <a:cs typeface="Segoe UI"/>
                <a:hlinkClick r:id="rId5"/>
              </a:rPr>
              <a:t xml:space="preserve">Onboard EC2 with the multicloud connector</a:t>
            </a:r>
            <a:r>
              <a:rPr lang="en-US" sz="850" b="0" i="0" dirty="0">
                <a:solidFill>
                  <a:srgbClr val="545460"/>
                </a:solidFill>
                <a:latin typeface="Segoe UI"/>
                <a:cs typeface="Segoe UI"/>
              </a:rPr>
              <a:t xml:space="preserve">   </a:t>
            </a:r>
            <a:r>
              <a:rPr lang="en-US" sz="850" b="0" i="0" dirty="0">
                <a:solidFill>
                  <a:srgbClr val="545460"/>
                </a:solidFill>
                <a:latin typeface="Segoe UI"/>
                <a:cs typeface="Segoe UI"/>
              </a:rPr>
              <a:t xml:space="preserve">[5] </a:t>
            </a:r>
            <a:r>
              <a:rPr lang="en-US" sz="850" b="0" i="0" dirty="0">
                <a:solidFill>
                  <a:srgbClr val="0067B8"/>
                </a:solidFill>
                <a:latin typeface="Segoe UI"/>
                <a:cs typeface="Segoe UI"/>
                <a:hlinkClick r:id="rId6"/>
              </a:rPr>
              <a:t xml:space="preserve">Arc SQL license types</a:t>
            </a:r>
          </a:p>
        </p:txBody>
      </p:sp>
    </p:spTree>
  </p:cSld>
  <p:clrMapOvr>
    <a:masterClrMapping/>
  </p:clrMapOvr>
</p:sld>
</file>

<file path=ppt/theme/theme1.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2.xml><?xml version="1.0" encoding="utf-8"?>
<a:theme xmlns:a="http://schemas.openxmlformats.org/drawingml/2006/main" name="Microsoft Ignite 16:9 Template Light">
  <a:themeElements>
    <a:clrScheme name="Custom 58">
      <a:dk1>
        <a:srgbClr val="000000"/>
      </a:dk1>
      <a:lt1>
        <a:srgbClr val="F4F3F5"/>
      </a:lt1>
      <a:dk2>
        <a:srgbClr val="2A446F"/>
      </a:dk2>
      <a:lt2>
        <a:srgbClr val="F4F3F5"/>
      </a:lt2>
      <a:accent1>
        <a:srgbClr val="0078D4"/>
      </a:accent1>
      <a:accent2>
        <a:srgbClr val="C03BC4"/>
      </a:accent2>
      <a:accent3>
        <a:srgbClr val="2A446F"/>
      </a:accent3>
      <a:accent4>
        <a:srgbClr val="B1B3B3"/>
      </a:accent4>
      <a:accent5>
        <a:srgbClr val="8661C5"/>
      </a:accent5>
      <a:accent6>
        <a:srgbClr val="8C8279"/>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Ignite_2025_16-9 Event-template.potx" id="{1862E5A4-93FD-4D41-8601-95AE562FD9DF}" vid="{41B775BF-E29A-4701-9FC9-C12DAAC44CF0}"/>
    </a:ext>
  </a:extLst>
</a:theme>
</file>

<file path=ppt/theme/theme3.xml><?xml version="1.0" encoding="utf-8"?>
<a:theme xmlns:a="http://schemas.openxmlformats.org/drawingml/2006/main" name="1_Office Theme">
  <a:themeElements>
    <a:clrScheme name="Custom 47">
      <a:dk1>
        <a:srgbClr val="000000"/>
      </a:dk1>
      <a:lt1>
        <a:srgbClr val="FEFFFE"/>
      </a:lt1>
      <a:dk2>
        <a:srgbClr val="7E7E7E"/>
      </a:dk2>
      <a:lt2>
        <a:srgbClr val="969696"/>
      </a:lt2>
      <a:accent1>
        <a:srgbClr val="5230AC"/>
      </a:accent1>
      <a:accent2>
        <a:srgbClr val="8251EE"/>
      </a:accent2>
      <a:accent3>
        <a:srgbClr val="AD5DF0"/>
      </a:accent3>
      <a:accent4>
        <a:srgbClr val="E36BF1"/>
      </a:accent4>
      <a:accent5>
        <a:srgbClr val="D49DFF"/>
      </a:accent5>
      <a:accent6>
        <a:srgbClr val="FBB0CB"/>
      </a:accent6>
      <a:hlink>
        <a:srgbClr val="AF5DEF"/>
      </a:hlink>
      <a:folHlink>
        <a:srgbClr val="5A36B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9" id="{01099D4C-AF97-BA49-9311-A9B4978D8F91}" vid="{0B546764-EF41-0445-AA22-77866C094EA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4851</Words>
  <Application>Microsoft Office PowerPoint</Application>
  <PresentationFormat>Widescreen</PresentationFormat>
  <Paragraphs>289</Paragraphs>
  <Slides>9</Slides>
  <Notes>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9</vt:i4>
      </vt:variant>
    </vt:vector>
  </HeadingPairs>
  <TitlesOfParts>
    <vt:vector size="22" baseType="lpstr">
      <vt:lpstr>Aptos</vt:lpstr>
      <vt:lpstr>Arial</vt:lpstr>
      <vt:lpstr>Calibri</vt:lpstr>
      <vt:lpstr>Consolas</vt:lpstr>
      <vt:lpstr>Segoe Sans Display Semibold</vt:lpstr>
      <vt:lpstr>Segoe Sans Text</vt:lpstr>
      <vt:lpstr>Segoe Sans Text Semibold</vt:lpstr>
      <vt:lpstr>Segoe UI</vt:lpstr>
      <vt:lpstr>Segoe UI Semibold</vt:lpstr>
      <vt:lpstr>Wingdings</vt:lpstr>
      <vt:lpstr>Azure 2023 Template</vt:lpstr>
      <vt:lpstr>Microsoft Ignite 16:9 Template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Agent Framework | Governed AI for Data Protection</dc:title>
  <dc:creator/>
  <cp:lastModifiedBy>Anil Dwarakanath</cp:lastModifiedBy>
  <cp:revision>2</cp:revision>
  <dcterms:created xsi:type="dcterms:W3CDTF">2026-03-05T23:38:16Z</dcterms:created>
  <dcterms:modified xsi:type="dcterms:W3CDTF">2026-10-05T02:21:41Z</dcterms:modified>
</cp:coreProperties>
</file>